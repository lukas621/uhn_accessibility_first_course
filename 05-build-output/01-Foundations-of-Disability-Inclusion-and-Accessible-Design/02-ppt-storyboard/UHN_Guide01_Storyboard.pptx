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r>
              <a:t>Welcome to the Accessibility First series — Guide 1: Foundations of Disability, Inclusion, and Accessible Design. Over the next 15 to 20 minutes, you'll build the foundation for this 18-guide series. You'll explore what disability means, examine the models that shape how we think about it, and learn a practical framework you can use starting today. At UHN, accessibility isn't a checklist or a compliance exercise. It's a commitment to making sure every person who walks through our doors — as a patient, a visitor, or a colleague — can participate fully and with dignity. This guide is for everyone at UHN, regardless of your role. Whether you work at the bedside, at the front desk, in a lab, or in an office, accessibility is part of your practice. Let's get started.</a:t>
            </a:r>
          </a:p>
          <a:p/>
          <a:p>
            <a:r>
              <a:t>Audio: voiceover_1.1.mp3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r>
              <a:t>By the end of this guide, you'll be able to do four things. First, define disability using the human rights model and explain why it matters in healthcare. Second, identify common barriers people with disabilities face at UHN. Third, apply the Accessibility Decision Path — a five-step framework — to real workplace situations. And fourth, describe how the Accessibility in Practice model connects to your daily work. These aren't abstract concepts. Each objective ties directly to something you'll practise in a scenario later in this guide.</a:t>
            </a:r>
          </a:p>
          <a:p/>
          <a:p>
            <a:r>
              <a:t>Audio: voiceover_1.2.mp3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r>
              <a:t>Here is a number worth knowing. According to Statistics Canada, more than 27 percent of Canadians aged 15 and older have at least one disability. In Ontario, that number is even higher. That means more than one in four people who come to UHN for care may experience barriers related to disability. And many of those disabilities are non-visible — you may not know someone has a disability unless they tell you.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r>
              <a:t>Healthcare systems were often designed without disability in mind. Narrow doorways make it impossible for some wheelchair users to enter exam rooms. Small print on intake forms excludes people with low vision. Booking systems that require phone calls shut out people who are Deaf or hard of hearing. These are not edge cases — they are structural barriers that affect thousands of patients at UHN every year. When these barriers exist, patients avoid or delay the care they need.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r>
              <a:t>Communication barriers are among the most common — and the most dangerous — in healthcare. When a clinician assumes a patient understands verbal instructions, but the patient has a cognitive or language-related disability, critical information gets lost. Misdiagnosis can follow. Wrong assumptions about what a person can or cannot understand lead to wrong care decisions. Adapting your communication — using plain language, visual aids, or simply asking how someone prefers to receive information — can change the outcome of a visit entirely.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r>
              <a:t>When barriers go unaddressed, patients do not just have a bad experience — they stop coming. They delay care, miss follow-ups, or abandon treatment altogether. These barriers compound for people who face intersecting forms of marginalization. Indigenous peoples in Ontario, for example, navigate not only disability-related barriers but also systemic racism, geographic isolation, and culturally unsafe healthcare environments. Removing barriers is not just about compliance. It is about making sure no one is excluded from the care they need and deserve.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r>
              <a:t>How we think about disability shapes how we respond to it. There are three main models. The medical model focuses on what's "wrong" with a person. It treats disability as a condition to be fixed. This model has its place in clinical care, but when it's the only lens, it puts all the responsibility on the individual. The social model shifts the focus to the environment. It says disability happens when barriers in our systems, spaces, and attitudes prevent someone from participating. A person who uses a wheelchair isn't disabled by the wheelchair — they're disabled by stairs. The rights-based model goes further. It says people with disabilities have a legal and moral right to full participation. This is the model behind the UN Convention on the Rights of Persons with Disabilities and Ontario's AODA. At UHN, we use rights-based and social model thinking — focusing on removing barriers rather than expecting individuals to adapt.</a:t>
            </a:r>
          </a:p>
          <a:p/>
          <a:p>
            <a:r>
              <a:t>Audio: voiceover_1.4.mp3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r>
              <a:t>Accessibility works best when it's part of everyday practice, not a separate task. The Accessibility in Practice model gives you four areas to focus on. Awareness — recognize that accessibility needs may not be immediately visible. Be mindful of your assumptions. Communication — listen first, then ask. Adapt how you communicate to meet the person's needs. Environment — look at the physical, sensory, and social environment around you. Is it accessible? Is it safe? Response — when you identify a barrier, act. Adjust, adapt, or seek support. These four areas work together. You might notice a barrier (awareness), ask the person how to help (communication), adjust the space (environment), and follow up (response). This model will appear in every guide in this series. It's a framework you can use in any situation — at a patient's bedside, at the front desk, in a team meeting, or when designing a new process.</a:t>
            </a:r>
          </a:p>
          <a:p/>
          <a:p>
            <a:r>
              <a:t>Audio: voiceover_1.5.mp3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r>
              <a:t>When an accessibility question comes up — and it will — you need a practical approach. The Accessibility Decision Path gives you five steps. Step one: Pause and Assess. Before you act, take a moment. Is there an accessibility need here? Don't assume — observe. Step two: Listen and Ask. Engage respectfully. Ask how you can help. Listen to what the person tells you, not what you think they need. Step three: Apply. Use the principles you're learning in this series. Think about the Accessibility in Practice model. Step four: Adapt. Adjust your communication, the environment, or the process. Accessibility often means flexibility, not perfection. Step five: Seek Support. If you're unsure, reach out. Talk to your manager, contact IDEAA, or connect with accessibility resources at UHN. This path isn't a one-time checklist. It's a way of thinking. You'll see it in every guide in this series, applied to different situations and different types of disability.</a:t>
            </a:r>
          </a:p>
          <a:p/>
          <a:p>
            <a:r>
              <a:t>Audio: voiceover_1.6.mp3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Audio: voiceover_1.7.mp3</a:t>
            </a:r>
          </a:p>
          <a:p/>
          <a:p>
            <a:r>
              <a:t>SETUP TEXT:</a:t>
            </a:r>
          </a:p>
          <a:p>
            <a:r>
              <a:t>** You're working at the front desk when Mrs. Okafor, a 68-year-old patient, arrives looking frustrated. She explains that she tried to use the new online booking system but couldn't navigate it. The system meets accessibility standards, but she has limited digital literacy and finds it confusing. She's been trying for three days and finally came in person.</a:t>
            </a:r>
          </a:p>
          <a:p/>
          <a:p>
            <a:r>
              <a:t>CHOICE A (Best):</a:t>
            </a:r>
          </a:p>
          <a:p>
            <a:r>
              <a:t>You apologize for the difficulty, book her appointment right away, and let her know she can always call or come in person. You note the issue for your team lead.</a:t>
            </a:r>
          </a:p>
          <a:p>
            <a:r>
              <a:t>CONSEQUENCE: Mrs. Okafor feels heard. She gets her appointment. The barrier is flagged for system improvement.</a:t>
            </a:r>
          </a:p>
          <a:p/>
          <a:p>
            <a:r>
              <a:t>CHOICE B (Acceptable):</a:t>
            </a:r>
          </a:p>
          <a:p>
            <a:r>
              <a:t>You book her appointment and suggest she ask a family member to help next time.</a:t>
            </a:r>
          </a:p>
          <a:p>
            <a:r>
              <a:t>CONSEQUENCE: She gets her appointment but feels the problem is hers to solve. The systemic issue goes unreported.</a:t>
            </a:r>
          </a:p>
          <a:p/>
          <a:p>
            <a:r>
              <a:t>CHOICE C (Poor):</a:t>
            </a:r>
          </a:p>
          <a:p>
            <a:r>
              <a:t>You tell her the system is accessible and offer to walk her through it on your computer.</a:t>
            </a:r>
          </a:p>
          <a:p>
            <a:r>
              <a:t>CONSEQUENCE: She feels dismissed. "Accessible" and "usable" are not the same. The barrier remains.</a:t>
            </a:r>
          </a:p>
          <a:p/>
          <a:p>
            <a:r>
              <a:t>DEBRIEF:</a:t>
            </a:r>
          </a:p>
          <a:p>
            <a:r>
              <a:t>Accessibility includes usability. Meeting technical standards is not enough. Offer multiple options and report barriers upstream.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Audio: voiceover_1.8.mp3</a:t>
            </a:r>
          </a:p>
          <a:p/>
          <a:p>
            <a:r>
              <a:t>SETUP TEXT:</a:t>
            </a:r>
          </a:p>
          <a:p>
            <a:r>
              <a:t>** You notice a patient with low vision squinting at a directional sign in the outpatient clinic. The sign was recently installed and meets Ontario Building Code standards, but the font is small and it's mounted high on the wall. The patient asks you for directions to the lab.</a:t>
            </a:r>
          </a:p>
          <a:p/>
          <a:p>
            <a:r>
              <a:t>CHOICE A (Best):</a:t>
            </a:r>
          </a:p>
          <a:p>
            <a:r>
              <a:t>You walk the patient to the lab, then report the signage issue to facilities with a suggestion to add larger, lower signs with high-contrast text.</a:t>
            </a:r>
          </a:p>
          <a:p>
            <a:r>
              <a:t>CONSEQUENCE: The patient gets where they need to go. You've addressed the immediate need and the systemic barrier.</a:t>
            </a:r>
          </a:p>
          <a:p/>
          <a:p>
            <a:r>
              <a:t>CHOICE B (Acceptable):</a:t>
            </a:r>
          </a:p>
          <a:p>
            <a:r>
              <a:t>You give clear verbal directions and offer to walk them partway.</a:t>
            </a:r>
          </a:p>
          <a:p>
            <a:r>
              <a:t>CONSEQUENCE: The patient finds the lab, but the signage problem remains for the next person.</a:t>
            </a:r>
          </a:p>
          <a:p/>
          <a:p>
            <a:r>
              <a:t>CHOICE C (Poor):</a:t>
            </a:r>
          </a:p>
          <a:p>
            <a:r>
              <a:t>You point to the sign and read it aloud.</a:t>
            </a:r>
          </a:p>
          <a:p>
            <a:r>
              <a:t>CONSEQUENCE: The patient feels singled out. The barrier isn't addressed.</a:t>
            </a:r>
          </a:p>
          <a:p/>
          <a:p>
            <a:r>
              <a:t>DEBRIEF:</a:t>
            </a:r>
          </a:p>
          <a:p>
            <a:r>
              <a:t>Meeting technical standards doesn't guarantee practical accessibility. Consider accessibility from the user's perspective. Report barriers — don't just work around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Audio: voiceover_1.9.mp3</a:t>
            </a:r>
          </a:p>
          <a:p/>
          <a:p>
            <a:r>
              <a:t>SETUP TEXT:</a:t>
            </a:r>
          </a:p>
          <a:p>
            <a:r>
              <a:t>** Your team uses an accessibility checklist when supporting patients. A colleague mentions that a patient who speaks Cantonese and has a cognitive disability seemed confused during intake, even though the checklist was completed. Your colleague says, "We followed the checklist — I'm not sure what else we can do."</a:t>
            </a:r>
          </a:p>
          <a:p/>
          <a:p>
            <a:r>
              <a:t>CHOICE A (Best):</a:t>
            </a:r>
          </a:p>
          <a:p>
            <a:r>
              <a:t>You acknowledge the checklist is a starting point but suggest the team explore what barriers the patient actually experienced — language support, cognitive load, cultural context — and adapt the process.</a:t>
            </a:r>
          </a:p>
          <a:p>
            <a:r>
              <a:t>CONSEQUENCE: The team begins to see accessibility as more than a checklist. They plan to involve interpretation services and simplify intake materials.</a:t>
            </a:r>
          </a:p>
          <a:p/>
          <a:p>
            <a:r>
              <a:t>CHOICE B (Acceptable):</a:t>
            </a:r>
          </a:p>
          <a:p>
            <a:r>
              <a:t>You suggest requesting an interpreter for next time.</a:t>
            </a:r>
          </a:p>
          <a:p>
            <a:r>
              <a:t>CONSEQUENCE: One barrier is addressed, but the cognitive and cultural dimensions are still missed.</a:t>
            </a:r>
          </a:p>
          <a:p/>
          <a:p>
            <a:r>
              <a:t>CHOICE C (Poor):</a:t>
            </a:r>
          </a:p>
          <a:p>
            <a:r>
              <a:t>You agree the checklist was completed and move on.</a:t>
            </a:r>
          </a:p>
          <a:p>
            <a:r>
              <a:t>CONSEQUENCE: The patient's experience doesn't improve. The team misses a learning opportunity.</a:t>
            </a:r>
          </a:p>
          <a:p/>
          <a:p>
            <a:r>
              <a:t>DEBRIEF:</a:t>
            </a:r>
          </a:p>
          <a:p>
            <a:r>
              <a:t>Accessibility requires awareness, curiosity, and flexibility beyond any checklist. Take time to listen, ask respectful questions, and adapt to individual needs.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Audio: voiceover_1.10.mp3</a:t>
            </a:r>
          </a:p>
          <a:p/>
          <a:p>
            <a:r>
              <a:t>QUESTION 1: Which model of disability focuses on removing barriers in the environment rather than fixing the individual?</a:t>
            </a:r>
          </a:p>
          <a:p>
            <a:r>
              <a:t>  a) Medical model</a:t>
            </a:r>
          </a:p>
          <a:p>
            <a:r>
              <a:t>  b) Social model [CORRECT]</a:t>
            </a:r>
          </a:p>
          <a:p>
            <a:r>
              <a:t>  c) Charity model</a:t>
            </a:r>
          </a:p>
          <a:p>
            <a:r>
              <a:t>  d) Rights-based model</a:t>
            </a:r>
          </a:p>
          <a:p/>
          <a:p>
            <a:r>
              <a:t>QUESTION 2: Under the AODA, which of the following is an obligation for Ontario public sector organizations like UHN?</a:t>
            </a:r>
          </a:p>
          <a:p>
            <a:r>
              <a:t>  a) Provide disability awareness training to all staff [CORRECT]</a:t>
            </a:r>
          </a:p>
          <a:p>
            <a:r>
              <a:t>  b) Hire a minimum percentage of employees with disabilities</a:t>
            </a:r>
          </a:p>
          <a:p>
            <a:r>
              <a:t>  c) Eliminate all physical barriers within 5 years</a:t>
            </a:r>
          </a:p>
          <a:p>
            <a:r>
              <a:t>  d) Assign a dedicated accessibility officer</a:t>
            </a:r>
          </a:p>
          <a:p/>
          <a:p>
            <a:r>
              <a:t>CORRECT FEEDBACK: That's right. The social model focuses on barriers in systems and environments, not individual deficits.</a:t>
            </a:r>
          </a:p>
          <a:p>
            <a:r>
              <a:t>INCORRECT FEEDBACK: Not quite. The social model emphasizes environmental barriers. Review Screen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Audio: voiceover_1.10.mp3</a:t>
            </a:r>
          </a:p>
          <a:p/>
          <a:p>
            <a:r>
              <a:t>QUESTION 1: Which model of disability focuses on removing barriers in the environment rather than fixing the individual?</a:t>
            </a:r>
          </a:p>
          <a:p>
            <a:r>
              <a:t>  a) Medical model</a:t>
            </a:r>
          </a:p>
          <a:p>
            <a:r>
              <a:t>  b) Social model [CORRECT]</a:t>
            </a:r>
          </a:p>
          <a:p>
            <a:r>
              <a:t>  c) Charity model</a:t>
            </a:r>
          </a:p>
          <a:p>
            <a:r>
              <a:t>  d) Rights-based model</a:t>
            </a:r>
          </a:p>
          <a:p/>
          <a:p>
            <a:r>
              <a:t>QUESTION 2: Under the AODA, which of the following is an obligation for Ontario public sector organizations like UHN?</a:t>
            </a:r>
          </a:p>
          <a:p>
            <a:r>
              <a:t>  a) Provide disability awareness training to all staff [CORRECT]</a:t>
            </a:r>
          </a:p>
          <a:p>
            <a:r>
              <a:t>  b) Hire a minimum percentage of employees with disabilities</a:t>
            </a:r>
          </a:p>
          <a:p>
            <a:r>
              <a:t>  c) Eliminate all physical barriers within 5 years</a:t>
            </a:r>
          </a:p>
          <a:p>
            <a:r>
              <a:t>  d) Assign a dedicated accessibility officer</a:t>
            </a:r>
          </a:p>
          <a:p/>
          <a:p>
            <a:r>
              <a:t>CORRECT FEEDBACK: That's right. The social model focuses on barriers in systems and environments, not individual deficits.</a:t>
            </a:r>
          </a:p>
          <a:p>
            <a:r>
              <a:t>INCORRECT FEEDBACK: Not quite. The social model emphasizes environmental barriers. Review Screen 1.4.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Audio: voiceover_1.11.mp3</a:t>
            </a:r>
          </a:p>
          <a:p/>
          <a:p>
            <a:r>
              <a:t>QUESTION 1: A patient arrives at your unit using a power wheelchair. You notice the examination room door is too narrow for the chair. What is the BEST first step?</a:t>
            </a:r>
          </a:p>
          <a:p>
            <a:r>
              <a:t>  a) Ask the patient to transfer to a standard chair</a:t>
            </a:r>
          </a:p>
          <a:p>
            <a:r>
              <a:t>  b) Find an accessible room and apologize for the inconvenience [CORRECT]</a:t>
            </a:r>
          </a:p>
          <a:p>
            <a:r>
              <a:t>  c) Call maintenance to widen the door</a:t>
            </a:r>
          </a:p>
          <a:p>
            <a:r>
              <a:t>  d) Document the issue and continue with the scheduled room</a:t>
            </a:r>
          </a:p>
          <a:p/>
          <a:p>
            <a:r>
              <a:t>CORRECT FEEDBACK: Right. Address the immediate need first, then report the barrier for systemic fix.</a:t>
            </a:r>
          </a:p>
          <a:p>
            <a:r>
              <a:t>INCORRECT FEEDBACK: Consider the Accessibility Decision Path — first address the person's immediate need.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r>
              <a:t>Before we move to reflection, here are five practices you can start using right away... [full script in narration file]</a:t>
            </a:r>
          </a:p>
          <a:p/>
          <a:p>
            <a:r>
              <a:t>Audio: voiceover_1.12.mp3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r>
              <a:t>Take a moment to pause and reflect... [full script in narration file]</a:t>
            </a:r>
          </a:p>
          <a:p/>
          <a:p>
            <a:r>
              <a:t>Audio: voiceover_1.13.mp3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r>
              <a:t>This is your My Action Planning activity... [full script in narration file]</a:t>
            </a:r>
          </a:p>
          <a:p/>
          <a:p>
            <a:r>
              <a:t>Audio: voiceover_1.14.mp3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r>
              <a:t>Let's recap what you've learned... [full script in narration file]</a:t>
            </a:r>
          </a:p>
          <a:p/>
          <a:p>
            <a:r>
              <a:t>Audio: voiceover_1.15.mp3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Audio: voiceover_1.16.mp3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Audio: voiceover_1.17.mp3</a:t>
            </a:r>
          </a:p>
          <a:p/>
          <a:p>
            <a:r>
              <a:t>CHOICE A (Poor):</a:t>
            </a:r>
          </a:p>
          <a:p>
            <a:r>
              <a:t>Continue with the standard intake process. Keep working through the form so the line keeps moving.</a:t>
            </a:r>
          </a:p>
          <a:p>
            <a:r>
              <a:t>CONSEQUENCE: The patient becomes more frustrated. The barrier is never identified. The visit starts with a feeling of being rushed and unseen.</a:t>
            </a:r>
          </a:p>
          <a:p/>
          <a:p>
            <a:r>
              <a:t>CHOICE B (Best):</a:t>
            </a:r>
          </a:p>
          <a:p>
            <a:r>
              <a:t>Pause and ask how to support the patient. "Is there anything I can do to make this form easier today?"</a:t>
            </a:r>
          </a:p>
          <a:p>
            <a:r>
              <a:t>CONSEQUENCE: The patient names the barrier. You act on what they actually need. This is Step 1 of the Decision Path — Pause and Assess.</a:t>
            </a:r>
          </a:p>
          <a:p/>
          <a:p>
            <a:r>
              <a:t>CHOICE C (Acceptable):</a:t>
            </a:r>
          </a:p>
          <a:p>
            <a:r>
              <a:t>Ask another staff member to take over. Hand off to a colleague while you keep the queue moving.</a:t>
            </a:r>
          </a:p>
          <a:p>
            <a:r>
              <a:t>CONSEQUENCE: The patient gets help, but you miss the learning opportunity. The barrier is addressed but not reported upstream.</a:t>
            </a:r>
          </a:p>
          <a:p/>
          <a:p>
            <a:r>
              <a:t>DEBRIEF:</a:t>
            </a:r>
          </a:p>
          <a:p>
            <a:r>
              <a:t>Pausing and asking, before assuming, is the single behaviour that distinguishes accessible care from "trying our best." The patient names the barrier and you act on what they actually need.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Audio: voiceover_1.18.mp3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r>
              <a:t>Congratulations — you've completed Guide 01... [full script in narration file]</a:t>
            </a:r>
          </a:p>
          <a:p/>
          <a:p>
            <a:r>
              <a:t>Audio: voiceover_1.19.mp3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2858"/>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48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609904" y="457200"/>
            <a:ext cx="1734295" cy="457200"/>
          </a:xfrm>
          <a:prstGeom prst="rect">
            <a:avLst/>
          </a:prstGeom>
        </p:spPr>
      </p:pic>
      <p:sp>
        <p:nvSpPr>
          <p:cNvPr id="4" name="TextBox 3"/>
          <p:cNvSpPr txBox="1"/>
          <p:nvPr/>
        </p:nvSpPr>
        <p:spPr>
          <a:xfrm>
            <a:off x="609904" y="1188720"/>
            <a:ext cx="5029200" cy="365760"/>
          </a:xfrm>
          <a:prstGeom prst="rect">
            <a:avLst/>
          </a:prstGeom>
          <a:noFill/>
        </p:spPr>
        <p:txBody>
          <a:bodyPr wrap="square">
            <a:spAutoFit/>
          </a:bodyPr>
          <a:lstStyle/>
          <a:p>
            <a:r>
              <a:rPr sz="1400" b="0" i="0">
                <a:solidFill>
                  <a:srgbClr val="C48ABD"/>
                </a:solidFill>
                <a:latin typeface="Arial"/>
              </a:rPr>
              <a:t>Guide 01 of 18  ·  Foundations</a:t>
            </a:r>
          </a:p>
        </p:txBody>
      </p:sp>
      <p:sp>
        <p:nvSpPr>
          <p:cNvPr id="5" name="TextBox 4"/>
          <p:cNvSpPr txBox="1"/>
          <p:nvPr/>
        </p:nvSpPr>
        <p:spPr>
          <a:xfrm>
            <a:off x="609904" y="1737360"/>
            <a:ext cx="5029200" cy="1645920"/>
          </a:xfrm>
          <a:prstGeom prst="rect">
            <a:avLst/>
          </a:prstGeom>
          <a:noFill/>
        </p:spPr>
        <p:txBody>
          <a:bodyPr wrap="square">
            <a:spAutoFit/>
          </a:bodyPr>
          <a:lstStyle/>
          <a:p>
            <a:r>
              <a:rPr sz="4200" b="1" i="0">
                <a:solidFill>
                  <a:srgbClr val="FFFFFF"/>
                </a:solidFill>
                <a:latin typeface="Arial Black"/>
              </a:rPr>
              <a:t>Foundations of Disability, Inclusion, and Accessible Design</a:t>
            </a:r>
          </a:p>
        </p:txBody>
      </p:sp>
      <p:sp>
        <p:nvSpPr>
          <p:cNvPr id="6" name="TextBox 5"/>
          <p:cNvSpPr txBox="1"/>
          <p:nvPr/>
        </p:nvSpPr>
        <p:spPr>
          <a:xfrm>
            <a:off x="609904" y="3474720"/>
            <a:ext cx="5029200" cy="548640"/>
          </a:xfrm>
          <a:prstGeom prst="rect">
            <a:avLst/>
          </a:prstGeom>
          <a:noFill/>
        </p:spPr>
        <p:txBody>
          <a:bodyPr wrap="square">
            <a:spAutoFit/>
          </a:bodyPr>
          <a:lstStyle/>
          <a:p>
            <a:r>
              <a:rPr sz="1600" b="0" i="0">
                <a:solidFill>
                  <a:srgbClr val="CCCCDD"/>
                </a:solidFill>
                <a:latin typeface="Arial"/>
              </a:rPr>
              <a:t>Accessibility First Course Series</a:t>
            </a:r>
          </a:p>
        </p:txBody>
      </p:sp>
      <p:sp>
        <p:nvSpPr>
          <p:cNvPr id="7" name="TextBox 6"/>
          <p:cNvSpPr txBox="1"/>
          <p:nvPr/>
        </p:nvSpPr>
        <p:spPr>
          <a:xfrm>
            <a:off x="609904" y="4297680"/>
            <a:ext cx="4572000" cy="274320"/>
          </a:xfrm>
          <a:prstGeom prst="rect">
            <a:avLst/>
          </a:prstGeom>
          <a:noFill/>
        </p:spPr>
        <p:txBody>
          <a:bodyPr wrap="square">
            <a:spAutoFit/>
          </a:bodyPr>
          <a:lstStyle/>
          <a:p>
            <a:r>
              <a:rPr sz="1000" b="0" i="0">
                <a:solidFill>
                  <a:srgbClr val="5A5A5A"/>
                </a:solidFill>
                <a:latin typeface="Arial"/>
              </a:rPr>
              <a:t>Duration: 15–20 min</a:t>
            </a:r>
          </a:p>
        </p:txBody>
      </p:sp>
      <p:sp>
        <p:nvSpPr>
          <p:cNvPr id="8" name="TextBox 7"/>
          <p:cNvSpPr txBox="1"/>
          <p:nvPr/>
        </p:nvSpPr>
        <p:spPr>
          <a:xfrm>
            <a:off x="609904" y="4572000"/>
            <a:ext cx="4572000" cy="274320"/>
          </a:xfrm>
          <a:prstGeom prst="rect">
            <a:avLst/>
          </a:prstGeom>
          <a:noFill/>
        </p:spPr>
        <p:txBody>
          <a:bodyPr wrap="square">
            <a:spAutoFit/>
          </a:bodyPr>
          <a:lstStyle/>
          <a:p>
            <a:r>
              <a:rPr sz="1000" b="0" i="0">
                <a:solidFill>
                  <a:srgbClr val="5A5A5A"/>
                </a:solidFill>
                <a:latin typeface="Arial"/>
              </a:rPr>
              <a:t>Format: eLearning (Storyline 360)</a:t>
            </a:r>
          </a:p>
        </p:txBody>
      </p:sp>
      <p:sp>
        <p:nvSpPr>
          <p:cNvPr id="9" name="TextBox 8"/>
          <p:cNvSpPr txBox="1"/>
          <p:nvPr/>
        </p:nvSpPr>
        <p:spPr>
          <a:xfrm>
            <a:off x="609904" y="4846320"/>
            <a:ext cx="4572000" cy="274320"/>
          </a:xfrm>
          <a:prstGeom prst="rect">
            <a:avLst/>
          </a:prstGeom>
          <a:noFill/>
        </p:spPr>
        <p:txBody>
          <a:bodyPr wrap="square">
            <a:spAutoFit/>
          </a:bodyPr>
          <a:lstStyle/>
          <a:p>
            <a:r>
              <a:rPr sz="1000" b="0" i="0">
                <a:solidFill>
                  <a:srgbClr val="5A5A5A"/>
                </a:solidFill>
                <a:latin typeface="Arial"/>
              </a:rPr>
              <a:t>Audience: All UHN staff</a:t>
            </a:r>
          </a:p>
        </p:txBody>
      </p:sp>
      <p:sp>
        <p:nvSpPr>
          <p:cNvPr id="10" name="Rounded Rectangle 9"/>
          <p:cNvSpPr/>
          <p:nvPr/>
        </p:nvSpPr>
        <p:spPr>
          <a:xfrm>
            <a:off x="6400800" y="731520"/>
            <a:ext cx="5181904" cy="4114800"/>
          </a:xfrm>
          <a:prstGeom prst="roundRect">
            <a:avLst/>
          </a:prstGeom>
          <a:solidFill>
            <a:srgbClr val="2A3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0" y="2468880"/>
            <a:ext cx="2743200" cy="457200"/>
          </a:xfrm>
          <a:prstGeom prst="rect">
            <a:avLst/>
          </a:prstGeom>
          <a:noFill/>
        </p:spPr>
        <p:txBody>
          <a:bodyPr wrap="square">
            <a:spAutoFit/>
          </a:bodyPr>
          <a:lstStyle/>
          <a:p>
            <a:r>
              <a:rPr sz="1200" b="0" i="0">
                <a:solidFill>
                  <a:srgbClr val="5A5A5A"/>
                </a:solidFill>
                <a:latin typeface="Arial"/>
              </a:rPr>
              <a:t>[Hero Photo Placeholder]</a:t>
            </a:r>
          </a:p>
        </p:txBody>
      </p:sp>
      <p:sp>
        <p:nvSpPr>
          <p:cNvPr id="12" name="Rounded Rectangle 11"/>
          <p:cNvSpPr/>
          <p:nvPr/>
        </p:nvSpPr>
        <p:spPr>
          <a:xfrm>
            <a:off x="7772400" y="5303520"/>
            <a:ext cx="2438704" cy="502920"/>
          </a:xfrm>
          <a:prstGeom prst="round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5303520"/>
            <a:ext cx="2438704" cy="502920"/>
          </a:xfrm>
          <a:prstGeom prst="rect">
            <a:avLst/>
          </a:prstGeom>
          <a:noFill/>
        </p:spPr>
        <p:txBody>
          <a:bodyPr wrap="square" anchor="ctr">
            <a:spAutoFit/>
          </a:bodyPr>
          <a:lstStyle/>
          <a:p>
            <a:pPr algn="ctr"/>
            <a:r>
              <a:rPr sz="1400" b="1" i="0">
                <a:solidFill>
                  <a:srgbClr val="FFFFFF"/>
                </a:solidFill>
                <a:latin typeface="Arial Black"/>
              </a:rPr>
              <a:t>BEGIN</a:t>
            </a:r>
          </a:p>
        </p:txBody>
      </p:sp>
      <p:sp>
        <p:nvSpPr>
          <p:cNvPr id="14" name="Rectangle 13"/>
          <p:cNvSpPr/>
          <p:nvPr/>
        </p:nvSpPr>
        <p:spPr>
          <a:xfrm>
            <a:off x="0" y="6355080"/>
            <a:ext cx="12191695" cy="45720"/>
          </a:xfrm>
          <a:prstGeom prst="rect">
            <a:avLst/>
          </a:prstGeom>
          <a:solidFill>
            <a:srgbClr val="C48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Welcome and Course Purpose</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W  E  L  C  O  M  E     A  N  D     C  O  U  R  S  E     P  U  R  P  O  S  E</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Welcome and Course Purpose</a:t>
            </a:r>
          </a:p>
        </p:txBody>
      </p:sp>
      <p:sp>
        <p:nvSpPr>
          <p:cNvPr id="9" name="TextBox 8"/>
          <p:cNvSpPr txBox="1"/>
          <p:nvPr/>
        </p:nvSpPr>
        <p:spPr>
          <a:xfrm>
            <a:off x="792784" y="1920240"/>
            <a:ext cx="5486400" cy="365760"/>
          </a:xfrm>
          <a:prstGeom prst="rect">
            <a:avLst/>
          </a:prstGeom>
          <a:noFill/>
        </p:spPr>
        <p:txBody>
          <a:bodyPr wrap="square">
            <a:spAutoFit/>
          </a:bodyPr>
          <a:lstStyle/>
          <a:p>
            <a:r>
              <a:rPr sz="1200" b="0" i="0">
                <a:solidFill>
                  <a:srgbClr val="C0233B"/>
                </a:solidFill>
                <a:latin typeface="Arial"/>
              </a:rPr>
              <a:t>•  </a:t>
            </a:r>
            <a:r>
              <a:rPr sz="1200" b="0" i="0">
                <a:solidFill>
                  <a:srgbClr val="111111"/>
                </a:solidFill>
                <a:latin typeface="Arial"/>
              </a:rPr>
              <a:t>Course title: "Foundations of Disability, Inclusion, and Accessible Design"</a:t>
            </a:r>
          </a:p>
        </p:txBody>
      </p:sp>
      <p:sp>
        <p:nvSpPr>
          <p:cNvPr id="10" name="TextBox 9"/>
          <p:cNvSpPr txBox="1"/>
          <p:nvPr/>
        </p:nvSpPr>
        <p:spPr>
          <a:xfrm>
            <a:off x="792784" y="2286000"/>
            <a:ext cx="5486400" cy="365760"/>
          </a:xfrm>
          <a:prstGeom prst="rect">
            <a:avLst/>
          </a:prstGeom>
          <a:noFill/>
        </p:spPr>
        <p:txBody>
          <a:bodyPr wrap="square">
            <a:spAutoFit/>
          </a:bodyPr>
          <a:lstStyle/>
          <a:p>
            <a:r>
              <a:rPr sz="1200" b="0" i="0">
                <a:solidFill>
                  <a:srgbClr val="C0233B"/>
                </a:solidFill>
                <a:latin typeface="Arial"/>
              </a:rPr>
              <a:t>•  </a:t>
            </a:r>
            <a:r>
              <a:rPr sz="1200" b="0" i="0">
                <a:solidFill>
                  <a:srgbClr val="111111"/>
                </a:solidFill>
                <a:latin typeface="Arial"/>
              </a:rPr>
              <a:t>Series badge: Guide 01 of 18</a:t>
            </a:r>
          </a:p>
        </p:txBody>
      </p:sp>
      <p:sp>
        <p:nvSpPr>
          <p:cNvPr id="11" name="TextBox 10"/>
          <p:cNvSpPr txBox="1"/>
          <p:nvPr/>
        </p:nvSpPr>
        <p:spPr>
          <a:xfrm>
            <a:off x="792784" y="2651760"/>
            <a:ext cx="5486400" cy="365760"/>
          </a:xfrm>
          <a:prstGeom prst="rect">
            <a:avLst/>
          </a:prstGeom>
          <a:noFill/>
        </p:spPr>
        <p:txBody>
          <a:bodyPr wrap="square">
            <a:spAutoFit/>
          </a:bodyPr>
          <a:lstStyle/>
          <a:p>
            <a:r>
              <a:rPr sz="1200" b="0" i="0">
                <a:solidFill>
                  <a:srgbClr val="C0233B"/>
                </a:solidFill>
                <a:latin typeface="Arial"/>
              </a:rPr>
              <a:t>•  </a:t>
            </a:r>
            <a:r>
              <a:rPr sz="1200" b="0" i="0">
                <a:solidFill>
                  <a:srgbClr val="111111"/>
                </a:solidFill>
                <a:latin typeface="Arial"/>
              </a:rPr>
              <a:t>UHN logo + Accessibility First branding</a:t>
            </a:r>
          </a:p>
        </p:txBody>
      </p:sp>
      <p:sp>
        <p:nvSpPr>
          <p:cNvPr id="12" name="TextBox 11"/>
          <p:cNvSpPr txBox="1"/>
          <p:nvPr/>
        </p:nvSpPr>
        <p:spPr>
          <a:xfrm>
            <a:off x="792784" y="3017520"/>
            <a:ext cx="5486400" cy="365760"/>
          </a:xfrm>
          <a:prstGeom prst="rect">
            <a:avLst/>
          </a:prstGeom>
          <a:noFill/>
        </p:spPr>
        <p:txBody>
          <a:bodyPr wrap="square">
            <a:spAutoFit/>
          </a:bodyPr>
          <a:lstStyle/>
          <a:p>
            <a:r>
              <a:rPr sz="1200" b="0" i="0">
                <a:solidFill>
                  <a:srgbClr val="C0233B"/>
                </a:solidFill>
                <a:latin typeface="Arial"/>
              </a:rPr>
              <a:t>•  </a:t>
            </a:r>
            <a:r>
              <a:rPr sz="1200" b="0" i="0">
                <a:solidFill>
                  <a:srgbClr val="111111"/>
                </a:solidFill>
                <a:latin typeface="Arial"/>
              </a:rPr>
              <a:t>"Begin" button</a:t>
            </a:r>
          </a:p>
        </p:txBody>
      </p:sp>
      <p:sp>
        <p:nvSpPr>
          <p:cNvPr id="13" name="Rounded Rectangle 12"/>
          <p:cNvSpPr/>
          <p:nvPr/>
        </p:nvSpPr>
        <p:spPr>
          <a:xfrm>
            <a:off x="7315200" y="2560320"/>
            <a:ext cx="4114800" cy="2743200"/>
          </a:xfrm>
          <a:prstGeom prst="roundRect">
            <a:avLst/>
          </a:prstGeom>
          <a:solidFill>
            <a:srgbClr val="F4F4F4"/>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3657600"/>
            <a:ext cx="3200400" cy="457200"/>
          </a:xfrm>
          <a:prstGeom prst="rect">
            <a:avLst/>
          </a:prstGeom>
          <a:noFill/>
        </p:spPr>
        <p:txBody>
          <a:bodyPr wrap="square">
            <a:spAutoFit/>
          </a:bodyPr>
          <a:lstStyle/>
          <a:p>
            <a:pPr algn="ctr"/>
            <a:r>
              <a:rPr sz="1000" b="0" i="1">
                <a:solidFill>
                  <a:srgbClr val="5A5A5A"/>
                </a:solidFill>
                <a:latin typeface="Arial"/>
              </a:rPr>
              <a:t>[Diverse group of UHN healthcare workers at accessible hospital entrance]</a:t>
            </a:r>
          </a:p>
        </p:txBody>
      </p:sp>
      <p:sp>
        <p:nvSpPr>
          <p:cNvPr id="15" name="Rectangle 14"/>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17" name="Rectangle 16"/>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009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38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66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95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24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52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1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09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38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Learning Objectives</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W  H  A  T     Y  O  U     W  I  L  L     L  E  A  R  N</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Learning Objectives</a:t>
            </a:r>
          </a:p>
        </p:txBody>
      </p:sp>
      <p:sp>
        <p:nvSpPr>
          <p:cNvPr id="9" name="Rectangle 8"/>
          <p:cNvSpPr/>
          <p:nvPr/>
        </p:nvSpPr>
        <p:spPr>
          <a:xfrm>
            <a:off x="609904" y="2560320"/>
            <a:ext cx="5029200" cy="1188720"/>
          </a:xfrm>
          <a:prstGeom prst="rect">
            <a:avLst/>
          </a:prstGeom>
          <a:solidFill>
            <a:srgbClr val="FFFFFF"/>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9904" y="2560320"/>
            <a:ext cx="5029200" cy="36576"/>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7064" y="2670048"/>
            <a:ext cx="457200" cy="457200"/>
          </a:xfrm>
          <a:prstGeom prst="rect">
            <a:avLst/>
          </a:prstGeom>
          <a:noFill/>
        </p:spPr>
        <p:txBody>
          <a:bodyPr wrap="square">
            <a:spAutoFit/>
          </a:bodyPr>
          <a:lstStyle/>
          <a:p>
            <a:r>
              <a:rPr sz="2800" b="1" i="0">
                <a:solidFill>
                  <a:srgbClr val="192858"/>
                </a:solidFill>
                <a:latin typeface="Arial Black"/>
              </a:rPr>
              <a:t>1</a:t>
            </a:r>
          </a:p>
        </p:txBody>
      </p:sp>
      <p:sp>
        <p:nvSpPr>
          <p:cNvPr id="12" name="TextBox 11"/>
          <p:cNvSpPr txBox="1"/>
          <p:nvPr/>
        </p:nvSpPr>
        <p:spPr>
          <a:xfrm>
            <a:off x="1249984" y="2670048"/>
            <a:ext cx="4251960" cy="320040"/>
          </a:xfrm>
          <a:prstGeom prst="rect">
            <a:avLst/>
          </a:prstGeom>
          <a:noFill/>
        </p:spPr>
        <p:txBody>
          <a:bodyPr wrap="square">
            <a:spAutoFit/>
          </a:bodyPr>
          <a:lstStyle/>
          <a:p>
            <a:r>
              <a:rPr sz="1200" b="1" i="0">
                <a:solidFill>
                  <a:srgbClr val="192858"/>
                </a:solidFill>
                <a:latin typeface="Arial Black"/>
              </a:rPr>
              <a:t>Define disability through multiple lenses</a:t>
            </a:r>
          </a:p>
        </p:txBody>
      </p:sp>
      <p:sp>
        <p:nvSpPr>
          <p:cNvPr id="13" name="TextBox 12"/>
          <p:cNvSpPr txBox="1"/>
          <p:nvPr/>
        </p:nvSpPr>
        <p:spPr>
          <a:xfrm>
            <a:off x="1249984" y="3017520"/>
            <a:ext cx="4251960" cy="640080"/>
          </a:xfrm>
          <a:prstGeom prst="rect">
            <a:avLst/>
          </a:prstGeom>
          <a:noFill/>
        </p:spPr>
        <p:txBody>
          <a:bodyPr wrap="square">
            <a:spAutoFit/>
          </a:bodyPr>
          <a:lstStyle/>
          <a:p>
            <a:r>
              <a:rPr sz="1000" b="0" i="0">
                <a:solidFill>
                  <a:srgbClr val="5A5A5A"/>
                </a:solidFill>
                <a:latin typeface="Arial"/>
              </a:rPr>
              <a:t>distinguish between the medical, social, and human-rights models of disability</a:t>
            </a:r>
          </a:p>
        </p:txBody>
      </p:sp>
      <p:sp>
        <p:nvSpPr>
          <p:cNvPr id="14" name="Rectangle 13"/>
          <p:cNvSpPr/>
          <p:nvPr/>
        </p:nvSpPr>
        <p:spPr>
          <a:xfrm>
            <a:off x="6096304" y="2560320"/>
            <a:ext cx="5029200" cy="1188720"/>
          </a:xfrm>
          <a:prstGeom prst="rect">
            <a:avLst/>
          </a:prstGeom>
          <a:solidFill>
            <a:srgbClr val="FFFFFF"/>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96304" y="2560320"/>
            <a:ext cx="5029200" cy="36576"/>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33464" y="2670048"/>
            <a:ext cx="457200" cy="457200"/>
          </a:xfrm>
          <a:prstGeom prst="rect">
            <a:avLst/>
          </a:prstGeom>
          <a:noFill/>
        </p:spPr>
        <p:txBody>
          <a:bodyPr wrap="square">
            <a:spAutoFit/>
          </a:bodyPr>
          <a:lstStyle/>
          <a:p>
            <a:r>
              <a:rPr sz="2800" b="1" i="0">
                <a:solidFill>
                  <a:srgbClr val="192858"/>
                </a:solidFill>
                <a:latin typeface="Arial Black"/>
              </a:rPr>
              <a:t>2</a:t>
            </a:r>
          </a:p>
        </p:txBody>
      </p:sp>
      <p:sp>
        <p:nvSpPr>
          <p:cNvPr id="17" name="TextBox 16"/>
          <p:cNvSpPr txBox="1"/>
          <p:nvPr/>
        </p:nvSpPr>
        <p:spPr>
          <a:xfrm>
            <a:off x="6736384" y="2670048"/>
            <a:ext cx="4251960" cy="320040"/>
          </a:xfrm>
          <a:prstGeom prst="rect">
            <a:avLst/>
          </a:prstGeom>
          <a:noFill/>
        </p:spPr>
        <p:txBody>
          <a:bodyPr wrap="square">
            <a:spAutoFit/>
          </a:bodyPr>
          <a:lstStyle/>
          <a:p>
            <a:r>
              <a:rPr sz="1200" b="1" i="0">
                <a:solidFill>
                  <a:srgbClr val="192858"/>
                </a:solidFill>
                <a:latin typeface="Arial Black"/>
              </a:rPr>
              <a:t>Identify visible and invisible barriers</a:t>
            </a:r>
          </a:p>
        </p:txBody>
      </p:sp>
      <p:sp>
        <p:nvSpPr>
          <p:cNvPr id="18" name="TextBox 17"/>
          <p:cNvSpPr txBox="1"/>
          <p:nvPr/>
        </p:nvSpPr>
        <p:spPr>
          <a:xfrm>
            <a:off x="6736384" y="3017520"/>
            <a:ext cx="4251960" cy="640080"/>
          </a:xfrm>
          <a:prstGeom prst="rect">
            <a:avLst/>
          </a:prstGeom>
          <a:noFill/>
        </p:spPr>
        <p:txBody>
          <a:bodyPr wrap="square">
            <a:spAutoFit/>
          </a:bodyPr>
          <a:lstStyle/>
          <a:p>
            <a:r>
              <a:rPr sz="1000" b="0" i="0">
                <a:solidFill>
                  <a:srgbClr val="5A5A5A"/>
                </a:solidFill>
                <a:latin typeface="Arial"/>
              </a:rPr>
              <a:t>recognize the physical, sensory, attitudinal, communication, and systemic barriers a person may encounter at UHN</a:t>
            </a:r>
          </a:p>
        </p:txBody>
      </p:sp>
      <p:sp>
        <p:nvSpPr>
          <p:cNvPr id="19" name="Rectangle 18"/>
          <p:cNvSpPr/>
          <p:nvPr/>
        </p:nvSpPr>
        <p:spPr>
          <a:xfrm>
            <a:off x="609904" y="4069080"/>
            <a:ext cx="5029200" cy="1188720"/>
          </a:xfrm>
          <a:prstGeom prst="rect">
            <a:avLst/>
          </a:prstGeom>
          <a:solidFill>
            <a:srgbClr val="FFFFFF"/>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9904" y="4069080"/>
            <a:ext cx="5029200" cy="36576"/>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7064" y="4178808"/>
            <a:ext cx="457200" cy="457200"/>
          </a:xfrm>
          <a:prstGeom prst="rect">
            <a:avLst/>
          </a:prstGeom>
          <a:noFill/>
        </p:spPr>
        <p:txBody>
          <a:bodyPr wrap="square">
            <a:spAutoFit/>
          </a:bodyPr>
          <a:lstStyle/>
          <a:p>
            <a:r>
              <a:rPr sz="2800" b="1" i="0">
                <a:solidFill>
                  <a:srgbClr val="192858"/>
                </a:solidFill>
                <a:latin typeface="Arial Black"/>
              </a:rPr>
              <a:t>3</a:t>
            </a:r>
          </a:p>
        </p:txBody>
      </p:sp>
      <p:sp>
        <p:nvSpPr>
          <p:cNvPr id="22" name="TextBox 21"/>
          <p:cNvSpPr txBox="1"/>
          <p:nvPr/>
        </p:nvSpPr>
        <p:spPr>
          <a:xfrm>
            <a:off x="1249984" y="4178808"/>
            <a:ext cx="4251960" cy="320040"/>
          </a:xfrm>
          <a:prstGeom prst="rect">
            <a:avLst/>
          </a:prstGeom>
          <a:noFill/>
        </p:spPr>
        <p:txBody>
          <a:bodyPr wrap="square">
            <a:spAutoFit/>
          </a:bodyPr>
          <a:lstStyle/>
          <a:p>
            <a:r>
              <a:rPr sz="1200" b="1" i="0">
                <a:solidFill>
                  <a:srgbClr val="192858"/>
                </a:solidFill>
                <a:latin typeface="Arial Black"/>
              </a:rPr>
              <a:t>Apply the Accessibility in Practice model</a:t>
            </a:r>
          </a:p>
        </p:txBody>
      </p:sp>
      <p:sp>
        <p:nvSpPr>
          <p:cNvPr id="23" name="TextBox 22"/>
          <p:cNvSpPr txBox="1"/>
          <p:nvPr/>
        </p:nvSpPr>
        <p:spPr>
          <a:xfrm>
            <a:off x="1249984" y="4526280"/>
            <a:ext cx="4251960" cy="640080"/>
          </a:xfrm>
          <a:prstGeom prst="rect">
            <a:avLst/>
          </a:prstGeom>
          <a:noFill/>
        </p:spPr>
        <p:txBody>
          <a:bodyPr wrap="square">
            <a:spAutoFit/>
          </a:bodyPr>
          <a:lstStyle/>
          <a:p>
            <a:r>
              <a:rPr sz="1000" b="0" i="0">
                <a:solidFill>
                  <a:srgbClr val="5A5A5A"/>
                </a:solidFill>
                <a:latin typeface="Arial"/>
              </a:rPr>
              <a:t>use the four areas (Awareness, Communication, Environment, Response) to guide everyday decisions</a:t>
            </a:r>
          </a:p>
        </p:txBody>
      </p:sp>
      <p:sp>
        <p:nvSpPr>
          <p:cNvPr id="24" name="Rectangle 23"/>
          <p:cNvSpPr/>
          <p:nvPr/>
        </p:nvSpPr>
        <p:spPr>
          <a:xfrm>
            <a:off x="6096304" y="4069080"/>
            <a:ext cx="5029200" cy="1188720"/>
          </a:xfrm>
          <a:prstGeom prst="rect">
            <a:avLst/>
          </a:prstGeom>
          <a:solidFill>
            <a:srgbClr val="FFFFFF"/>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96304" y="4069080"/>
            <a:ext cx="5029200" cy="36576"/>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33464" y="4178808"/>
            <a:ext cx="457200" cy="457200"/>
          </a:xfrm>
          <a:prstGeom prst="rect">
            <a:avLst/>
          </a:prstGeom>
          <a:noFill/>
        </p:spPr>
        <p:txBody>
          <a:bodyPr wrap="square">
            <a:spAutoFit/>
          </a:bodyPr>
          <a:lstStyle/>
          <a:p>
            <a:r>
              <a:rPr sz="2800" b="1" i="0">
                <a:solidFill>
                  <a:srgbClr val="192858"/>
                </a:solidFill>
                <a:latin typeface="Arial Black"/>
              </a:rPr>
              <a:t>4</a:t>
            </a:r>
          </a:p>
        </p:txBody>
      </p:sp>
      <p:sp>
        <p:nvSpPr>
          <p:cNvPr id="27" name="TextBox 26"/>
          <p:cNvSpPr txBox="1"/>
          <p:nvPr/>
        </p:nvSpPr>
        <p:spPr>
          <a:xfrm>
            <a:off x="6736384" y="4178808"/>
            <a:ext cx="4251960" cy="320040"/>
          </a:xfrm>
          <a:prstGeom prst="rect">
            <a:avLst/>
          </a:prstGeom>
          <a:noFill/>
        </p:spPr>
        <p:txBody>
          <a:bodyPr wrap="square">
            <a:spAutoFit/>
          </a:bodyPr>
          <a:lstStyle/>
          <a:p>
            <a:r>
              <a:rPr sz="1200" b="1" i="0">
                <a:solidFill>
                  <a:srgbClr val="192858"/>
                </a:solidFill>
                <a:latin typeface="Arial Black"/>
              </a:rPr>
              <a:t>Use the 5-step Decision Path</a:t>
            </a:r>
          </a:p>
        </p:txBody>
      </p:sp>
      <p:sp>
        <p:nvSpPr>
          <p:cNvPr id="28" name="TextBox 27"/>
          <p:cNvSpPr txBox="1"/>
          <p:nvPr/>
        </p:nvSpPr>
        <p:spPr>
          <a:xfrm>
            <a:off x="6736384" y="4526280"/>
            <a:ext cx="4251960" cy="640080"/>
          </a:xfrm>
          <a:prstGeom prst="rect">
            <a:avLst/>
          </a:prstGeom>
          <a:noFill/>
        </p:spPr>
        <p:txBody>
          <a:bodyPr wrap="square">
            <a:spAutoFit/>
          </a:bodyPr>
          <a:lstStyle/>
          <a:p>
            <a:r>
              <a:rPr sz="1000" b="0" i="0">
                <a:solidFill>
                  <a:srgbClr val="5A5A5A"/>
                </a:solidFill>
                <a:latin typeface="Arial"/>
              </a:rPr>
              <a:t>Pause and Assess, Listen, Apply, Adapt, and Seek Support when an accessibility need is identified</a:t>
            </a:r>
          </a:p>
        </p:txBody>
      </p:sp>
      <p:sp>
        <p:nvSpPr>
          <p:cNvPr id="29" name="Rectangle 28"/>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31" name="Rectangle 30"/>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097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238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466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695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24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52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81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609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838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Why This Matters: The Stat</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W  H  Y     T  H  I  S     M  A  T  T  E  R  S  :     T  H  E     S  T  A  T</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Why This Matters: The Stat</a:t>
            </a:r>
          </a:p>
        </p:txBody>
      </p:sp>
      <p:sp>
        <p:nvSpPr>
          <p:cNvPr id="9" name="TextBox 8"/>
          <p:cNvSpPr txBox="1"/>
          <p:nvPr/>
        </p:nvSpPr>
        <p:spPr>
          <a:xfrm>
            <a:off x="792784" y="1920240"/>
            <a:ext cx="5486400" cy="365760"/>
          </a:xfrm>
          <a:prstGeom prst="rect">
            <a:avLst/>
          </a:prstGeom>
          <a:noFill/>
        </p:spPr>
        <p:txBody>
          <a:bodyPr wrap="square">
            <a:spAutoFit/>
          </a:bodyPr>
          <a:lstStyle/>
          <a:p>
            <a:r>
              <a:rPr sz="1200" b="0" i="0">
                <a:solidFill>
                  <a:srgbClr val="C0233B"/>
                </a:solidFill>
                <a:latin typeface="Arial"/>
              </a:rPr>
              <a:t>•  </a:t>
            </a:r>
            <a:r>
              <a:rPr sz="1200" b="0" i="0">
                <a:solidFill>
                  <a:srgbClr val="111111"/>
                </a:solidFill>
                <a:latin typeface="Arial"/>
              </a:rPr>
              <a:t>Pull quote: "27% of Canadians aged 15+ have one or more disabilities" — Statistics Canada, 2022</a:t>
            </a:r>
          </a:p>
        </p:txBody>
      </p:sp>
      <p:sp>
        <p:nvSpPr>
          <p:cNvPr id="10" name="TextBox 9"/>
          <p:cNvSpPr txBox="1"/>
          <p:nvPr/>
        </p:nvSpPr>
        <p:spPr>
          <a:xfrm>
            <a:off x="792784" y="2286000"/>
            <a:ext cx="5486400" cy="365760"/>
          </a:xfrm>
          <a:prstGeom prst="rect">
            <a:avLst/>
          </a:prstGeom>
          <a:noFill/>
        </p:spPr>
        <p:txBody>
          <a:bodyPr wrap="square">
            <a:spAutoFit/>
          </a:bodyPr>
          <a:lstStyle/>
          <a:p>
            <a:r>
              <a:rPr sz="1200" b="0" i="0">
                <a:solidFill>
                  <a:srgbClr val="C0233B"/>
                </a:solidFill>
                <a:latin typeface="Arial"/>
              </a:rPr>
              <a:t>•  </a:t>
            </a:r>
            <a:r>
              <a:rPr sz="1200" b="0" i="0">
                <a:solidFill>
                  <a:srgbClr val="111111"/>
                </a:solidFill>
                <a:latin typeface="Arial"/>
              </a:rPr>
              <a:t>"That's more than one in four."</a:t>
            </a:r>
          </a:p>
        </p:txBody>
      </p:sp>
      <p:sp>
        <p:nvSpPr>
          <p:cNvPr id="11" name="TextBox 10"/>
          <p:cNvSpPr txBox="1"/>
          <p:nvPr/>
        </p:nvSpPr>
        <p:spPr>
          <a:xfrm>
            <a:off x="792784" y="2651760"/>
            <a:ext cx="5486400" cy="365760"/>
          </a:xfrm>
          <a:prstGeom prst="rect">
            <a:avLst/>
          </a:prstGeom>
          <a:noFill/>
        </p:spPr>
        <p:txBody>
          <a:bodyPr wrap="square">
            <a:spAutoFit/>
          </a:bodyPr>
          <a:lstStyle/>
          <a:p>
            <a:r>
              <a:rPr sz="1200" b="0" i="0">
                <a:solidFill>
                  <a:srgbClr val="C0233B"/>
                </a:solidFill>
                <a:latin typeface="Arial"/>
              </a:rPr>
              <a:t>•  </a:t>
            </a:r>
            <a:r>
              <a:rPr sz="1200" b="0" i="0">
                <a:solidFill>
                  <a:srgbClr val="111111"/>
                </a:solidFill>
                <a:latin typeface="Arial"/>
              </a:rPr>
              <a:t>"Many disabilities are non-visible — you may not know unless someone tells you."</a:t>
            </a:r>
          </a:p>
        </p:txBody>
      </p:sp>
      <p:sp>
        <p:nvSpPr>
          <p:cNvPr id="12" name="Rounded Rectangle 11"/>
          <p:cNvSpPr/>
          <p:nvPr/>
        </p:nvSpPr>
        <p:spPr>
          <a:xfrm>
            <a:off x="7315200" y="2560320"/>
            <a:ext cx="4114800" cy="2743200"/>
          </a:xfrm>
          <a:prstGeom prst="roundRect">
            <a:avLst/>
          </a:prstGeom>
          <a:solidFill>
            <a:srgbClr val="F4F4F4"/>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3657600"/>
            <a:ext cx="3200400" cy="457200"/>
          </a:xfrm>
          <a:prstGeom prst="rect">
            <a:avLst/>
          </a:prstGeom>
          <a:noFill/>
        </p:spPr>
        <p:txBody>
          <a:bodyPr wrap="square">
            <a:spAutoFit/>
          </a:bodyPr>
          <a:lstStyle/>
          <a:p>
            <a:pPr algn="ctr"/>
            <a:r>
              <a:rPr sz="1000" b="0" i="1">
                <a:solidFill>
                  <a:srgbClr val="5A5A5A"/>
                </a:solidFill>
                <a:latin typeface="Arial"/>
              </a:rPr>
              <a:t>[Large 27% statistic with supporting text: more than one in four Canadians have a disability]</a:t>
            </a:r>
          </a:p>
        </p:txBody>
      </p:sp>
      <p:sp>
        <p:nvSpPr>
          <p:cNvPr id="14" name="Rectangle 13"/>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16" name="Rectangle 15"/>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38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66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95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24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2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81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09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38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Impact: Missed Care</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W  H  Y     T  H  I  S     M  A  T  T  E  R  S</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Impact: Missed Care</a:t>
            </a:r>
          </a:p>
        </p:txBody>
      </p:sp>
      <p:sp>
        <p:nvSpPr>
          <p:cNvPr id="9" name="Rounded Rectangle 8"/>
          <p:cNvSpPr/>
          <p:nvPr/>
        </p:nvSpPr>
        <p:spPr>
          <a:xfrm>
            <a:off x="609904" y="2560320"/>
            <a:ext cx="4572000" cy="3429000"/>
          </a:xfrm>
          <a:prstGeom prst="roundRect">
            <a:avLst/>
          </a:prstGeom>
          <a:solidFill>
            <a:srgbClr val="F4F4F4"/>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07184" y="4023360"/>
            <a:ext cx="2743200" cy="457200"/>
          </a:xfrm>
          <a:prstGeom prst="rect">
            <a:avLst/>
          </a:prstGeom>
          <a:noFill/>
        </p:spPr>
        <p:txBody>
          <a:bodyPr wrap="square">
            <a:spAutoFit/>
          </a:bodyPr>
          <a:lstStyle/>
          <a:p>
            <a:pPr algn="ctr"/>
            <a:r>
              <a:rPr sz="1000" b="0" i="1">
                <a:solidFill>
                  <a:srgbClr val="5A5A5A"/>
                </a:solidFill>
                <a:latin typeface="Arial"/>
              </a:rPr>
              <a:t>[Patient looking frustrated at inaccessible hospital entrance with narrow doorway]</a:t>
            </a:r>
          </a:p>
        </p:txBody>
      </p:sp>
      <p:sp>
        <p:nvSpPr>
          <p:cNvPr id="11" name="Rectangle 10"/>
          <p:cNvSpPr/>
          <p:nvPr/>
        </p:nvSpPr>
        <p:spPr>
          <a:xfrm>
            <a:off x="5943600" y="2560320"/>
            <a:ext cx="54864" cy="3429000"/>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651760"/>
            <a:ext cx="5029200" cy="457200"/>
          </a:xfrm>
          <a:prstGeom prst="rect">
            <a:avLst/>
          </a:prstGeom>
          <a:noFill/>
        </p:spPr>
        <p:txBody>
          <a:bodyPr wrap="square">
            <a:spAutoFit/>
          </a:bodyPr>
          <a:lstStyle/>
          <a:p>
            <a:r>
              <a:rPr sz="2400" b="1" i="0">
                <a:solidFill>
                  <a:srgbClr val="C0233B"/>
                </a:solidFill>
                <a:latin typeface="Arial Black"/>
              </a:rPr>
              <a:t>Missed Care</a:t>
            </a:r>
          </a:p>
        </p:txBody>
      </p:sp>
      <p:sp>
        <p:nvSpPr>
          <p:cNvPr id="13" name="TextBox 12"/>
          <p:cNvSpPr txBox="1"/>
          <p:nvPr/>
        </p:nvSpPr>
        <p:spPr>
          <a:xfrm>
            <a:off x="6217920" y="3291840"/>
            <a:ext cx="5029200" cy="457200"/>
          </a:xfrm>
          <a:prstGeom prst="rect">
            <a:avLst/>
          </a:prstGeom>
          <a:noFill/>
        </p:spPr>
        <p:txBody>
          <a:bodyPr wrap="square">
            <a:spAutoFit/>
          </a:bodyPr>
          <a:lstStyle/>
          <a:p>
            <a:r>
              <a:rPr sz="1100" b="0" i="0">
                <a:solidFill>
                  <a:srgbClr val="111111"/>
                </a:solidFill>
                <a:latin typeface="Arial"/>
              </a:rPr>
              <a:t>•  "Patients avoid or delay appointments because the system was not designed for them."</a:t>
            </a:r>
          </a:p>
        </p:txBody>
      </p:sp>
      <p:sp>
        <p:nvSpPr>
          <p:cNvPr id="14" name="TextBox 13"/>
          <p:cNvSpPr txBox="1"/>
          <p:nvPr/>
        </p:nvSpPr>
        <p:spPr>
          <a:xfrm>
            <a:off x="6217920" y="3749040"/>
            <a:ext cx="5029200" cy="457200"/>
          </a:xfrm>
          <a:prstGeom prst="rect">
            <a:avLst/>
          </a:prstGeom>
          <a:noFill/>
        </p:spPr>
        <p:txBody>
          <a:bodyPr wrap="square">
            <a:spAutoFit/>
          </a:bodyPr>
          <a:lstStyle/>
          <a:p>
            <a:r>
              <a:rPr sz="1100" b="0" i="0">
                <a:solidFill>
                  <a:srgbClr val="111111"/>
                </a:solidFill>
                <a:latin typeface="Arial"/>
              </a:rPr>
              <a:t>•  "Narrow doorways, small print on intake forms, phone-only booking — these are structural barriers."</a:t>
            </a:r>
          </a:p>
        </p:txBody>
      </p:sp>
      <p:sp>
        <p:nvSpPr>
          <p:cNvPr id="15" name="Rectangle 14"/>
          <p:cNvSpPr/>
          <p:nvPr/>
        </p:nvSpPr>
        <p:spPr>
          <a:xfrm>
            <a:off x="6217920" y="4846320"/>
            <a:ext cx="54864" cy="731520"/>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2784" y="4846320"/>
            <a:ext cx="4700016" cy="731520"/>
          </a:xfrm>
          <a:prstGeom prst="rect">
            <a:avLst/>
          </a:prstGeom>
          <a:solidFill>
            <a:srgbClr val="FD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937760"/>
            <a:ext cx="4480560" cy="548640"/>
          </a:xfrm>
          <a:prstGeom prst="rect">
            <a:avLst/>
          </a:prstGeom>
          <a:noFill/>
        </p:spPr>
        <p:txBody>
          <a:bodyPr wrap="square">
            <a:spAutoFit/>
          </a:bodyPr>
          <a:lstStyle/>
          <a:p>
            <a:r>
              <a:rPr sz="900" b="1" i="0">
                <a:solidFill>
                  <a:srgbClr val="C0233B"/>
                </a:solidFill>
                <a:latin typeface="Arial Black"/>
              </a:rPr>
              <a:t>Key Takeaway</a:t>
            </a:r>
          </a:p>
          <a:p>
            <a:pPr>
              <a:spcBef>
                <a:spcPts val="400"/>
              </a:spcBef>
            </a:pPr>
            <a:r>
              <a:rPr sz="1000" b="0" i="0">
                <a:solidFill>
                  <a:srgbClr val="111111"/>
                </a:solidFill>
                <a:latin typeface="Arial"/>
              </a:rPr>
              <a:t>Healthcare systems were often designed without disability in mind.</a:t>
            </a:r>
          </a:p>
        </p:txBody>
      </p:sp>
      <p:sp>
        <p:nvSpPr>
          <p:cNvPr id="18" name="Rectangle 17"/>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0" name="Rectangle 19"/>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383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66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95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924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2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81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09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838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Impact: Communication Gap</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W  H  Y     T  H  I  S     M  A  T  T  E  R  S</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Impact: Communication Gap</a:t>
            </a:r>
          </a:p>
        </p:txBody>
      </p:sp>
      <p:sp>
        <p:nvSpPr>
          <p:cNvPr id="9" name="Rounded Rectangle 8"/>
          <p:cNvSpPr/>
          <p:nvPr/>
        </p:nvSpPr>
        <p:spPr>
          <a:xfrm>
            <a:off x="609904" y="2560320"/>
            <a:ext cx="4572000" cy="3429000"/>
          </a:xfrm>
          <a:prstGeom prst="roundRect">
            <a:avLst/>
          </a:prstGeom>
          <a:solidFill>
            <a:srgbClr val="F4F4F4"/>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07184" y="4023360"/>
            <a:ext cx="2743200" cy="457200"/>
          </a:xfrm>
          <a:prstGeom prst="rect">
            <a:avLst/>
          </a:prstGeom>
          <a:noFill/>
        </p:spPr>
        <p:txBody>
          <a:bodyPr wrap="square">
            <a:spAutoFit/>
          </a:bodyPr>
          <a:lstStyle/>
          <a:p>
            <a:pPr algn="ctr"/>
            <a:r>
              <a:rPr sz="1000" b="0" i="1">
                <a:solidFill>
                  <a:srgbClr val="5A5A5A"/>
                </a:solidFill>
                <a:latin typeface="Arial"/>
              </a:rPr>
              <a:t>[Healthcare worker and patient struggling to communicate across a desk]</a:t>
            </a:r>
          </a:p>
        </p:txBody>
      </p:sp>
      <p:sp>
        <p:nvSpPr>
          <p:cNvPr id="11" name="Rectangle 10"/>
          <p:cNvSpPr/>
          <p:nvPr/>
        </p:nvSpPr>
        <p:spPr>
          <a:xfrm>
            <a:off x="5943600" y="2560320"/>
            <a:ext cx="54864" cy="3429000"/>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651760"/>
            <a:ext cx="5029200" cy="457200"/>
          </a:xfrm>
          <a:prstGeom prst="rect">
            <a:avLst/>
          </a:prstGeom>
          <a:noFill/>
        </p:spPr>
        <p:txBody>
          <a:bodyPr wrap="square">
            <a:spAutoFit/>
          </a:bodyPr>
          <a:lstStyle/>
          <a:p>
            <a:r>
              <a:rPr sz="2400" b="1" i="0">
                <a:solidFill>
                  <a:srgbClr val="245BAA"/>
                </a:solidFill>
                <a:latin typeface="Arial Black"/>
              </a:rPr>
              <a:t>Communication Gap</a:t>
            </a:r>
          </a:p>
        </p:txBody>
      </p:sp>
      <p:sp>
        <p:nvSpPr>
          <p:cNvPr id="13" name="TextBox 12"/>
          <p:cNvSpPr txBox="1"/>
          <p:nvPr/>
        </p:nvSpPr>
        <p:spPr>
          <a:xfrm>
            <a:off x="6217920" y="3291840"/>
            <a:ext cx="5029200" cy="457200"/>
          </a:xfrm>
          <a:prstGeom prst="rect">
            <a:avLst/>
          </a:prstGeom>
          <a:noFill/>
        </p:spPr>
        <p:txBody>
          <a:bodyPr wrap="square">
            <a:spAutoFit/>
          </a:bodyPr>
          <a:lstStyle/>
          <a:p>
            <a:r>
              <a:rPr sz="1100" b="0" i="0">
                <a:solidFill>
                  <a:srgbClr val="111111"/>
                </a:solidFill>
                <a:latin typeface="Arial"/>
              </a:rPr>
              <a:t>•  "When communication methods are not adapted, misdiagnosis can follow."</a:t>
            </a:r>
          </a:p>
        </p:txBody>
      </p:sp>
      <p:sp>
        <p:nvSpPr>
          <p:cNvPr id="14" name="TextBox 13"/>
          <p:cNvSpPr txBox="1"/>
          <p:nvPr/>
        </p:nvSpPr>
        <p:spPr>
          <a:xfrm>
            <a:off x="6217920" y="3749040"/>
            <a:ext cx="5029200" cy="457200"/>
          </a:xfrm>
          <a:prstGeom prst="rect">
            <a:avLst/>
          </a:prstGeom>
          <a:noFill/>
        </p:spPr>
        <p:txBody>
          <a:bodyPr wrap="square">
            <a:spAutoFit/>
          </a:bodyPr>
          <a:lstStyle/>
          <a:p>
            <a:r>
              <a:rPr sz="1100" b="0" i="0">
                <a:solidFill>
                  <a:srgbClr val="111111"/>
                </a:solidFill>
                <a:latin typeface="Arial"/>
              </a:rPr>
              <a:t>•  "Wrong assumptions about what a patient can or cannot understand lead to wrong care decisions."</a:t>
            </a:r>
          </a:p>
        </p:txBody>
      </p:sp>
      <p:sp>
        <p:nvSpPr>
          <p:cNvPr id="15" name="Rectangle 14"/>
          <p:cNvSpPr/>
          <p:nvPr/>
        </p:nvSpPr>
        <p:spPr>
          <a:xfrm>
            <a:off x="6217920" y="4846320"/>
            <a:ext cx="54864" cy="731520"/>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2784" y="4846320"/>
            <a:ext cx="4700016" cy="731520"/>
          </a:xfrm>
          <a:prstGeom prst="rect">
            <a:avLst/>
          </a:prstGeom>
          <a:solidFill>
            <a:srgbClr val="EA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937760"/>
            <a:ext cx="4480560" cy="548640"/>
          </a:xfrm>
          <a:prstGeom prst="rect">
            <a:avLst/>
          </a:prstGeom>
          <a:noFill/>
        </p:spPr>
        <p:txBody>
          <a:bodyPr wrap="square">
            <a:spAutoFit/>
          </a:bodyPr>
          <a:lstStyle/>
          <a:p>
            <a:r>
              <a:rPr sz="900" b="1" i="0">
                <a:solidFill>
                  <a:srgbClr val="245BAA"/>
                </a:solidFill>
                <a:latin typeface="Arial Black"/>
              </a:rPr>
              <a:t>Key Takeaway</a:t>
            </a:r>
          </a:p>
          <a:p>
            <a:pPr>
              <a:spcBef>
                <a:spcPts val="400"/>
              </a:spcBef>
            </a:pPr>
            <a:r>
              <a:rPr sz="1000" b="0" i="0">
                <a:solidFill>
                  <a:srgbClr val="111111"/>
                </a:solidFill>
                <a:latin typeface="Arial"/>
              </a:rPr>
              <a:t>Communication barriers are among the most common — and the most dangerous — in healthcare.</a:t>
            </a:r>
          </a:p>
        </p:txBody>
      </p:sp>
      <p:sp>
        <p:nvSpPr>
          <p:cNvPr id="18" name="Rectangle 17"/>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0" name="Rectangle 19"/>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66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95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924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2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81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09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838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Impact: Avoidance</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W  H  Y     T  H  I  S     M  A  T  T  E  R  S</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Impact: Avoidance</a:t>
            </a:r>
          </a:p>
        </p:txBody>
      </p:sp>
      <p:sp>
        <p:nvSpPr>
          <p:cNvPr id="9" name="Rounded Rectangle 8"/>
          <p:cNvSpPr/>
          <p:nvPr/>
        </p:nvSpPr>
        <p:spPr>
          <a:xfrm>
            <a:off x="609904" y="2560320"/>
            <a:ext cx="4572000" cy="3429000"/>
          </a:xfrm>
          <a:prstGeom prst="roundRect">
            <a:avLst/>
          </a:prstGeom>
          <a:solidFill>
            <a:srgbClr val="F4F4F4"/>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07184" y="4023360"/>
            <a:ext cx="2743200" cy="457200"/>
          </a:xfrm>
          <a:prstGeom prst="rect">
            <a:avLst/>
          </a:prstGeom>
          <a:noFill/>
        </p:spPr>
        <p:txBody>
          <a:bodyPr wrap="square">
            <a:spAutoFit/>
          </a:bodyPr>
          <a:lstStyle/>
          <a:p>
            <a:pPr algn="ctr"/>
            <a:r>
              <a:rPr sz="1000" b="0" i="1">
                <a:solidFill>
                  <a:srgbClr val="5A5A5A"/>
                </a:solidFill>
                <a:latin typeface="Arial"/>
              </a:rPr>
              <a:t>[Empty hospital waiting room with accessibility barriers visible]</a:t>
            </a:r>
          </a:p>
        </p:txBody>
      </p:sp>
      <p:sp>
        <p:nvSpPr>
          <p:cNvPr id="11" name="Rectangle 10"/>
          <p:cNvSpPr/>
          <p:nvPr/>
        </p:nvSpPr>
        <p:spPr>
          <a:xfrm>
            <a:off x="5943600" y="2560320"/>
            <a:ext cx="54864" cy="3429000"/>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651760"/>
            <a:ext cx="5029200" cy="457200"/>
          </a:xfrm>
          <a:prstGeom prst="rect">
            <a:avLst/>
          </a:prstGeom>
          <a:noFill/>
        </p:spPr>
        <p:txBody>
          <a:bodyPr wrap="square">
            <a:spAutoFit/>
          </a:bodyPr>
          <a:lstStyle/>
          <a:p>
            <a:r>
              <a:rPr sz="2400" b="1" i="0">
                <a:solidFill>
                  <a:srgbClr val="192858"/>
                </a:solidFill>
                <a:latin typeface="Arial Black"/>
              </a:rPr>
              <a:t>Avoidance</a:t>
            </a:r>
          </a:p>
        </p:txBody>
      </p:sp>
      <p:sp>
        <p:nvSpPr>
          <p:cNvPr id="13" name="TextBox 12"/>
          <p:cNvSpPr txBox="1"/>
          <p:nvPr/>
        </p:nvSpPr>
        <p:spPr>
          <a:xfrm>
            <a:off x="6217920" y="3291840"/>
            <a:ext cx="5029200" cy="457200"/>
          </a:xfrm>
          <a:prstGeom prst="rect">
            <a:avLst/>
          </a:prstGeom>
          <a:noFill/>
        </p:spPr>
        <p:txBody>
          <a:bodyPr wrap="square">
            <a:spAutoFit/>
          </a:bodyPr>
          <a:lstStyle/>
          <a:p>
            <a:r>
              <a:rPr sz="1100" b="0" i="0">
                <a:solidFill>
                  <a:srgbClr val="111111"/>
                </a:solidFill>
                <a:latin typeface="Arial"/>
              </a:rPr>
              <a:t>•  "Patients delay or abandon care when barriers compound."</a:t>
            </a:r>
          </a:p>
        </p:txBody>
      </p:sp>
      <p:sp>
        <p:nvSpPr>
          <p:cNvPr id="14" name="TextBox 13"/>
          <p:cNvSpPr txBox="1"/>
          <p:nvPr/>
        </p:nvSpPr>
        <p:spPr>
          <a:xfrm>
            <a:off x="6217920" y="3749040"/>
            <a:ext cx="5029200" cy="457200"/>
          </a:xfrm>
          <a:prstGeom prst="rect">
            <a:avLst/>
          </a:prstGeom>
          <a:noFill/>
        </p:spPr>
        <p:txBody>
          <a:bodyPr wrap="square">
            <a:spAutoFit/>
          </a:bodyPr>
          <a:lstStyle/>
          <a:p>
            <a:r>
              <a:rPr sz="1100" b="0" i="0">
                <a:solidFill>
                  <a:srgbClr val="111111"/>
                </a:solidFill>
                <a:latin typeface="Arial"/>
              </a:rPr>
              <a:t>•  "Indigenous peoples face compounded barriers — systemic racism, geographic isolation, culturally unsafe environments."</a:t>
            </a:r>
          </a:p>
        </p:txBody>
      </p:sp>
      <p:sp>
        <p:nvSpPr>
          <p:cNvPr id="15" name="Rectangle 14"/>
          <p:cNvSpPr/>
          <p:nvPr/>
        </p:nvSpPr>
        <p:spPr>
          <a:xfrm>
            <a:off x="6217920" y="4846320"/>
            <a:ext cx="54864" cy="914400"/>
          </a:xfrm>
          <a:prstGeom prst="rect">
            <a:avLst/>
          </a:prstGeom>
          <a:solidFill>
            <a:srgbClr val="8B6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2784" y="4846320"/>
            <a:ext cx="4700016" cy="91440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937760"/>
            <a:ext cx="4480560" cy="274320"/>
          </a:xfrm>
          <a:prstGeom prst="rect">
            <a:avLst/>
          </a:prstGeom>
          <a:noFill/>
        </p:spPr>
        <p:txBody>
          <a:bodyPr wrap="square">
            <a:spAutoFit/>
          </a:bodyPr>
          <a:lstStyle/>
          <a:p>
            <a:r>
              <a:rPr sz="900" b="1" i="0">
                <a:solidFill>
                  <a:srgbClr val="8B6F47"/>
                </a:solidFill>
                <a:latin typeface="Arial Black"/>
              </a:rPr>
              <a:t>Indigenous Context</a:t>
            </a:r>
          </a:p>
          <a:p>
            <a:pPr>
              <a:spcBef>
                <a:spcPts val="400"/>
              </a:spcBef>
            </a:pPr>
            <a:r>
              <a:rPr sz="1000" b="0" i="0">
                <a:solidFill>
                  <a:srgbClr val="111111"/>
                </a:solidFill>
                <a:latin typeface="Arial"/>
              </a:rPr>
              <a:t>Indigenous peoples face compounded barriers — systemic racism, geographic isolation, and culturally unsafe healthcare environments.</a:t>
            </a:r>
          </a:p>
        </p:txBody>
      </p:sp>
      <p:sp>
        <p:nvSpPr>
          <p:cNvPr id="18" name="Rectangle 17"/>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0" name="Rectangle 19"/>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669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95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924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2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81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09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838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Models of Disability</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M  O  D  E  L  S     O  F     D  I  S  A  B  I  L  I  T  Y</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Models of Disability</a:t>
            </a:r>
          </a:p>
        </p:txBody>
      </p:sp>
      <p:sp>
        <p:nvSpPr>
          <p:cNvPr id="9" name="Rectangle 8"/>
          <p:cNvSpPr/>
          <p:nvPr/>
        </p:nvSpPr>
        <p:spPr>
          <a:xfrm>
            <a:off x="609904" y="2011680"/>
            <a:ext cx="1645920" cy="2286000"/>
          </a:xfrm>
          <a:prstGeom prst="rect">
            <a:avLst/>
          </a:prstGeom>
          <a:solidFill>
            <a:srgbClr val="FFFFFF"/>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9904" y="2011680"/>
            <a:ext cx="1645920" cy="502920"/>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7064" y="2084832"/>
            <a:ext cx="1371600" cy="365760"/>
          </a:xfrm>
          <a:prstGeom prst="rect">
            <a:avLst/>
          </a:prstGeom>
          <a:noFill/>
        </p:spPr>
        <p:txBody>
          <a:bodyPr wrap="square">
            <a:spAutoFit/>
          </a:bodyPr>
          <a:lstStyle/>
          <a:p>
            <a:r>
              <a:rPr sz="1300" b="1" i="0">
                <a:solidFill>
                  <a:srgbClr val="FFFFFF"/>
                </a:solidFill>
                <a:latin typeface="Arial Black"/>
              </a:rPr>
              <a:t>Medical Model</a:t>
            </a:r>
          </a:p>
        </p:txBody>
      </p:sp>
      <p:sp>
        <p:nvSpPr>
          <p:cNvPr id="12" name="TextBox 11"/>
          <p:cNvSpPr txBox="1"/>
          <p:nvPr/>
        </p:nvSpPr>
        <p:spPr>
          <a:xfrm>
            <a:off x="747064" y="2606040"/>
            <a:ext cx="1371600" cy="1554480"/>
          </a:xfrm>
          <a:prstGeom prst="rect">
            <a:avLst/>
          </a:prstGeom>
          <a:noFill/>
        </p:spPr>
        <p:txBody>
          <a:bodyPr wrap="square">
            <a:spAutoFit/>
          </a:bodyPr>
          <a:lstStyle/>
          <a:p>
            <a:r>
              <a:rPr sz="1000" b="0" i="0">
                <a:solidFill>
                  <a:srgbClr val="111111"/>
                </a:solidFill>
                <a:latin typeface="Arial"/>
              </a:rPr>
              <a:t>Focuses on individual deficit; "What's wrong with this person?"</a:t>
            </a:r>
          </a:p>
        </p:txBody>
      </p:sp>
      <p:sp>
        <p:nvSpPr>
          <p:cNvPr id="13" name="Rectangle 12"/>
          <p:cNvSpPr/>
          <p:nvPr/>
        </p:nvSpPr>
        <p:spPr>
          <a:xfrm>
            <a:off x="2530144" y="2011680"/>
            <a:ext cx="1645920" cy="2286000"/>
          </a:xfrm>
          <a:prstGeom prst="rect">
            <a:avLst/>
          </a:prstGeom>
          <a:solidFill>
            <a:srgbClr val="FFFFFF"/>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30144" y="2011680"/>
            <a:ext cx="1645920" cy="502920"/>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67304" y="2084832"/>
            <a:ext cx="1371600" cy="365760"/>
          </a:xfrm>
          <a:prstGeom prst="rect">
            <a:avLst/>
          </a:prstGeom>
          <a:noFill/>
        </p:spPr>
        <p:txBody>
          <a:bodyPr wrap="square">
            <a:spAutoFit/>
          </a:bodyPr>
          <a:lstStyle/>
          <a:p>
            <a:r>
              <a:rPr sz="1300" b="1" i="0">
                <a:solidFill>
                  <a:srgbClr val="FFFFFF"/>
                </a:solidFill>
                <a:latin typeface="Arial Black"/>
              </a:rPr>
              <a:t>Social Model</a:t>
            </a:r>
          </a:p>
        </p:txBody>
      </p:sp>
      <p:sp>
        <p:nvSpPr>
          <p:cNvPr id="16" name="TextBox 15"/>
          <p:cNvSpPr txBox="1"/>
          <p:nvPr/>
        </p:nvSpPr>
        <p:spPr>
          <a:xfrm>
            <a:off x="2667304" y="2606040"/>
            <a:ext cx="1371600" cy="1554480"/>
          </a:xfrm>
          <a:prstGeom prst="rect">
            <a:avLst/>
          </a:prstGeom>
          <a:noFill/>
        </p:spPr>
        <p:txBody>
          <a:bodyPr wrap="square">
            <a:spAutoFit/>
          </a:bodyPr>
          <a:lstStyle/>
          <a:p>
            <a:r>
              <a:rPr sz="1000" b="0" i="0">
                <a:solidFill>
                  <a:srgbClr val="111111"/>
                </a:solidFill>
                <a:latin typeface="Arial"/>
              </a:rPr>
              <a:t>Focuses on environmental barriers; "What barriers exist in our systems?"</a:t>
            </a:r>
          </a:p>
        </p:txBody>
      </p:sp>
      <p:sp>
        <p:nvSpPr>
          <p:cNvPr id="17" name="Rectangle 16"/>
          <p:cNvSpPr/>
          <p:nvPr/>
        </p:nvSpPr>
        <p:spPr>
          <a:xfrm>
            <a:off x="4450384" y="2011680"/>
            <a:ext cx="1645920" cy="2286000"/>
          </a:xfrm>
          <a:prstGeom prst="rect">
            <a:avLst/>
          </a:prstGeom>
          <a:solidFill>
            <a:srgbClr val="FFFFFF"/>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50384" y="2011680"/>
            <a:ext cx="1645920" cy="502920"/>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87544" y="2084832"/>
            <a:ext cx="1371600" cy="365760"/>
          </a:xfrm>
          <a:prstGeom prst="rect">
            <a:avLst/>
          </a:prstGeom>
          <a:noFill/>
        </p:spPr>
        <p:txBody>
          <a:bodyPr wrap="square">
            <a:spAutoFit/>
          </a:bodyPr>
          <a:lstStyle/>
          <a:p>
            <a:r>
              <a:rPr sz="1300" b="1" i="0">
                <a:solidFill>
                  <a:srgbClr val="FFFFFF"/>
                </a:solidFill>
                <a:latin typeface="Arial Black"/>
              </a:rPr>
              <a:t>Rights Model</a:t>
            </a:r>
          </a:p>
        </p:txBody>
      </p:sp>
      <p:sp>
        <p:nvSpPr>
          <p:cNvPr id="20" name="TextBox 19"/>
          <p:cNvSpPr txBox="1"/>
          <p:nvPr/>
        </p:nvSpPr>
        <p:spPr>
          <a:xfrm>
            <a:off x="4587544" y="2606040"/>
            <a:ext cx="1371600" cy="1554480"/>
          </a:xfrm>
          <a:prstGeom prst="rect">
            <a:avLst/>
          </a:prstGeom>
          <a:noFill/>
        </p:spPr>
        <p:txBody>
          <a:bodyPr wrap="square">
            <a:spAutoFit/>
          </a:bodyPr>
          <a:lstStyle/>
          <a:p>
            <a:r>
              <a:rPr sz="1000" b="0" i="0">
                <a:solidFill>
                  <a:srgbClr val="111111"/>
                </a:solidFill>
                <a:latin typeface="Arial"/>
              </a:rPr>
              <a:t>Focuses on human rights and equal participation (UN CRPD)</a:t>
            </a:r>
          </a:p>
        </p:txBody>
      </p:sp>
      <p:sp>
        <p:nvSpPr>
          <p:cNvPr id="21" name="Rounded Rectangle 20"/>
          <p:cNvSpPr/>
          <p:nvPr/>
        </p:nvSpPr>
        <p:spPr>
          <a:xfrm>
            <a:off x="7315200" y="2560320"/>
            <a:ext cx="4114800" cy="2743200"/>
          </a:xfrm>
          <a:prstGeom prst="roundRect">
            <a:avLst/>
          </a:prstGeom>
          <a:solidFill>
            <a:srgbClr val="F4F4F4"/>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0" y="3657600"/>
            <a:ext cx="3200400" cy="457200"/>
          </a:xfrm>
          <a:prstGeom prst="rect">
            <a:avLst/>
          </a:prstGeom>
          <a:noFill/>
        </p:spPr>
        <p:txBody>
          <a:bodyPr wrap="square">
            <a:spAutoFit/>
          </a:bodyPr>
          <a:lstStyle/>
          <a:p>
            <a:pPr algn="ctr"/>
            <a:r>
              <a:rPr sz="1000" b="0" i="1">
                <a:solidFill>
                  <a:srgbClr val="5A5A5A"/>
                </a:solidFill>
                <a:latin typeface="Arial"/>
              </a:rPr>
              <a:t>[Three-panel comparison of medical, social, and rights-based models of disability]</a:t>
            </a:r>
          </a:p>
        </p:txBody>
      </p:sp>
      <p:sp>
        <p:nvSpPr>
          <p:cNvPr id="23" name="Rectangle 22"/>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5" name="Rectangle 24"/>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695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24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52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81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09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838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Accessibility in Practice Model</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A  C  C  E  S  S  I  B  I  L  I  T  Y     I  N     P  R  A  C  T  I  C  E     M  O  D  E  L</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Accessibility in Practice Model</a:t>
            </a:r>
          </a:p>
        </p:txBody>
      </p:sp>
      <p:sp>
        <p:nvSpPr>
          <p:cNvPr id="9" name="Rectangle 8"/>
          <p:cNvSpPr/>
          <p:nvPr/>
        </p:nvSpPr>
        <p:spPr>
          <a:xfrm>
            <a:off x="609904" y="2011680"/>
            <a:ext cx="2606040" cy="1463040"/>
          </a:xfrm>
          <a:prstGeom prst="rect">
            <a:avLst/>
          </a:prstGeom>
          <a:solidFill>
            <a:srgbClr val="FFFFFF"/>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9904" y="2011680"/>
            <a:ext cx="2606040" cy="36576"/>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 y="2148840"/>
            <a:ext cx="2240280" cy="320040"/>
          </a:xfrm>
          <a:prstGeom prst="rect">
            <a:avLst/>
          </a:prstGeom>
          <a:noFill/>
        </p:spPr>
        <p:txBody>
          <a:bodyPr wrap="square">
            <a:spAutoFit/>
          </a:bodyPr>
          <a:lstStyle/>
          <a:p>
            <a:r>
              <a:rPr sz="1400" b="1" i="0">
                <a:solidFill>
                  <a:srgbClr val="192858"/>
                </a:solidFill>
                <a:latin typeface="Arial Black"/>
              </a:rPr>
              <a:t>Awareness</a:t>
            </a:r>
          </a:p>
        </p:txBody>
      </p:sp>
      <p:sp>
        <p:nvSpPr>
          <p:cNvPr id="12" name="TextBox 11"/>
          <p:cNvSpPr txBox="1"/>
          <p:nvPr/>
        </p:nvSpPr>
        <p:spPr>
          <a:xfrm>
            <a:off x="792784" y="2514600"/>
            <a:ext cx="2240280" cy="822960"/>
          </a:xfrm>
          <a:prstGeom prst="rect">
            <a:avLst/>
          </a:prstGeom>
          <a:noFill/>
        </p:spPr>
        <p:txBody>
          <a:bodyPr wrap="square">
            <a:spAutoFit/>
          </a:bodyPr>
          <a:lstStyle/>
          <a:p>
            <a:r>
              <a:rPr sz="1000" b="0" i="0">
                <a:solidFill>
                  <a:srgbClr val="111111"/>
                </a:solidFill>
                <a:latin typeface="Arial"/>
              </a:rPr>
              <a:t>Recognize needs may not be visible. Be mindful of bias and systemic barriers.</a:t>
            </a:r>
          </a:p>
        </p:txBody>
      </p:sp>
      <p:sp>
        <p:nvSpPr>
          <p:cNvPr id="13" name="Rectangle 12"/>
          <p:cNvSpPr/>
          <p:nvPr/>
        </p:nvSpPr>
        <p:spPr>
          <a:xfrm>
            <a:off x="3490264" y="2011680"/>
            <a:ext cx="2606040" cy="1463040"/>
          </a:xfrm>
          <a:prstGeom prst="rect">
            <a:avLst/>
          </a:prstGeom>
          <a:solidFill>
            <a:srgbClr val="FFFFFF"/>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0264" y="2011680"/>
            <a:ext cx="2606040" cy="36576"/>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3144" y="2148840"/>
            <a:ext cx="2240280" cy="320040"/>
          </a:xfrm>
          <a:prstGeom prst="rect">
            <a:avLst/>
          </a:prstGeom>
          <a:noFill/>
        </p:spPr>
        <p:txBody>
          <a:bodyPr wrap="square">
            <a:spAutoFit/>
          </a:bodyPr>
          <a:lstStyle/>
          <a:p>
            <a:r>
              <a:rPr sz="1400" b="1" i="0">
                <a:solidFill>
                  <a:srgbClr val="192858"/>
                </a:solidFill>
                <a:latin typeface="Arial Black"/>
              </a:rPr>
              <a:t>Communication</a:t>
            </a:r>
          </a:p>
        </p:txBody>
      </p:sp>
      <p:sp>
        <p:nvSpPr>
          <p:cNvPr id="16" name="TextBox 15"/>
          <p:cNvSpPr txBox="1"/>
          <p:nvPr/>
        </p:nvSpPr>
        <p:spPr>
          <a:xfrm>
            <a:off x="3673144" y="2514600"/>
            <a:ext cx="2240280" cy="822960"/>
          </a:xfrm>
          <a:prstGeom prst="rect">
            <a:avLst/>
          </a:prstGeom>
          <a:noFill/>
        </p:spPr>
        <p:txBody>
          <a:bodyPr wrap="square">
            <a:spAutoFit/>
          </a:bodyPr>
          <a:lstStyle/>
          <a:p>
            <a:r>
              <a:rPr sz="1000" b="0" i="0">
                <a:solidFill>
                  <a:srgbClr val="111111"/>
                </a:solidFill>
                <a:latin typeface="Arial"/>
              </a:rPr>
              <a:t>Listen, ask, adapt to individual needs and cultural context.</a:t>
            </a:r>
          </a:p>
        </p:txBody>
      </p:sp>
      <p:sp>
        <p:nvSpPr>
          <p:cNvPr id="17" name="Rectangle 16"/>
          <p:cNvSpPr/>
          <p:nvPr/>
        </p:nvSpPr>
        <p:spPr>
          <a:xfrm>
            <a:off x="609904" y="3703320"/>
            <a:ext cx="2606040" cy="1463040"/>
          </a:xfrm>
          <a:prstGeom prst="rect">
            <a:avLst/>
          </a:prstGeom>
          <a:solidFill>
            <a:srgbClr val="FFFFFF"/>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904" y="3703320"/>
            <a:ext cx="2606040" cy="36576"/>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2784" y="3840480"/>
            <a:ext cx="2240280" cy="320040"/>
          </a:xfrm>
          <a:prstGeom prst="rect">
            <a:avLst/>
          </a:prstGeom>
          <a:noFill/>
        </p:spPr>
        <p:txBody>
          <a:bodyPr wrap="square">
            <a:spAutoFit/>
          </a:bodyPr>
          <a:lstStyle/>
          <a:p>
            <a:r>
              <a:rPr sz="1400" b="1" i="0">
                <a:solidFill>
                  <a:srgbClr val="192858"/>
                </a:solidFill>
                <a:latin typeface="Arial Black"/>
              </a:rPr>
              <a:t>Environment</a:t>
            </a:r>
          </a:p>
        </p:txBody>
      </p:sp>
      <p:sp>
        <p:nvSpPr>
          <p:cNvPr id="20" name="TextBox 19"/>
          <p:cNvSpPr txBox="1"/>
          <p:nvPr/>
        </p:nvSpPr>
        <p:spPr>
          <a:xfrm>
            <a:off x="792784" y="4206240"/>
            <a:ext cx="2240280" cy="822960"/>
          </a:xfrm>
          <a:prstGeom prst="rect">
            <a:avLst/>
          </a:prstGeom>
          <a:noFill/>
        </p:spPr>
        <p:txBody>
          <a:bodyPr wrap="square">
            <a:spAutoFit/>
          </a:bodyPr>
          <a:lstStyle/>
          <a:p>
            <a:r>
              <a:rPr sz="1000" b="0" i="0">
                <a:solidFill>
                  <a:srgbClr val="111111"/>
                </a:solidFill>
                <a:latin typeface="Arial"/>
              </a:rPr>
              <a:t>Ensure physical, sensory, and social spaces are accessible and safe.</a:t>
            </a:r>
          </a:p>
        </p:txBody>
      </p:sp>
      <p:sp>
        <p:nvSpPr>
          <p:cNvPr id="21" name="Rectangle 20"/>
          <p:cNvSpPr/>
          <p:nvPr/>
        </p:nvSpPr>
        <p:spPr>
          <a:xfrm>
            <a:off x="3490264" y="3703320"/>
            <a:ext cx="2606040" cy="1463040"/>
          </a:xfrm>
          <a:prstGeom prst="rect">
            <a:avLst/>
          </a:prstGeom>
          <a:solidFill>
            <a:srgbClr val="FFFFFF"/>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90264" y="3703320"/>
            <a:ext cx="2606040" cy="36576"/>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73144" y="3840480"/>
            <a:ext cx="2240280" cy="320040"/>
          </a:xfrm>
          <a:prstGeom prst="rect">
            <a:avLst/>
          </a:prstGeom>
          <a:noFill/>
        </p:spPr>
        <p:txBody>
          <a:bodyPr wrap="square">
            <a:spAutoFit/>
          </a:bodyPr>
          <a:lstStyle/>
          <a:p>
            <a:r>
              <a:rPr sz="1400" b="1" i="0">
                <a:solidFill>
                  <a:srgbClr val="192858"/>
                </a:solidFill>
                <a:latin typeface="Arial Black"/>
              </a:rPr>
              <a:t>Response</a:t>
            </a:r>
          </a:p>
        </p:txBody>
      </p:sp>
      <p:sp>
        <p:nvSpPr>
          <p:cNvPr id="24" name="TextBox 23"/>
          <p:cNvSpPr txBox="1"/>
          <p:nvPr/>
        </p:nvSpPr>
        <p:spPr>
          <a:xfrm>
            <a:off x="3673144" y="4206240"/>
            <a:ext cx="2240280" cy="822960"/>
          </a:xfrm>
          <a:prstGeom prst="rect">
            <a:avLst/>
          </a:prstGeom>
          <a:noFill/>
        </p:spPr>
        <p:txBody>
          <a:bodyPr wrap="square">
            <a:spAutoFit/>
          </a:bodyPr>
          <a:lstStyle/>
          <a:p>
            <a:r>
              <a:rPr sz="1000" b="0" i="0">
                <a:solidFill>
                  <a:srgbClr val="111111"/>
                </a:solidFill>
                <a:latin typeface="Arial"/>
              </a:rPr>
              <a:t>Take timely, respectful action to remove barriers.</a:t>
            </a:r>
          </a:p>
        </p:txBody>
      </p:sp>
      <p:sp>
        <p:nvSpPr>
          <p:cNvPr id="25" name="Rounded Rectangle 24"/>
          <p:cNvSpPr/>
          <p:nvPr/>
        </p:nvSpPr>
        <p:spPr>
          <a:xfrm>
            <a:off x="7315200" y="2560320"/>
            <a:ext cx="4114800" cy="2743200"/>
          </a:xfrm>
          <a:prstGeom prst="roundRect">
            <a:avLst/>
          </a:prstGeom>
          <a:solidFill>
            <a:srgbClr val="F4F4F4"/>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3657600"/>
            <a:ext cx="3200400" cy="457200"/>
          </a:xfrm>
          <a:prstGeom prst="rect">
            <a:avLst/>
          </a:prstGeom>
          <a:noFill/>
        </p:spPr>
        <p:txBody>
          <a:bodyPr wrap="square">
            <a:spAutoFit/>
          </a:bodyPr>
          <a:lstStyle/>
          <a:p>
            <a:pPr algn="ctr"/>
            <a:r>
              <a:rPr sz="1000" b="0" i="1">
                <a:solidFill>
                  <a:srgbClr val="5A5A5A"/>
                </a:solidFill>
                <a:latin typeface="Arial"/>
              </a:rPr>
              <a:t>[Four-quadrant Accessibility in Practice model: Awareness, Communication, Environment, Response]</a:t>
            </a:r>
          </a:p>
        </p:txBody>
      </p:sp>
      <p:sp>
        <p:nvSpPr>
          <p:cNvPr id="27" name="Rectangle 26"/>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9" name="Rectangle 28"/>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6955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24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52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81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609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838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Accessibility Decision Path</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A  C  C  E  S  S  I  B  I  L  I  T  Y     D  E  C  I  S  I  O  N     P  A  T  H</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Accessibility Decision Path</a:t>
            </a:r>
          </a:p>
        </p:txBody>
      </p:sp>
      <p:sp>
        <p:nvSpPr>
          <p:cNvPr id="9" name="Rectangle 8"/>
          <p:cNvSpPr/>
          <p:nvPr/>
        </p:nvSpPr>
        <p:spPr>
          <a:xfrm>
            <a:off x="1067104" y="2423160"/>
            <a:ext cx="4572000" cy="2743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38504" y="2103120"/>
            <a:ext cx="502920" cy="5029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FFFFF"/>
                </a:solidFill>
                <a:latin typeface="Arial Black"/>
              </a:rPr>
              <a:t>1</a:t>
            </a:r>
          </a:p>
        </p:txBody>
      </p:sp>
      <p:sp>
        <p:nvSpPr>
          <p:cNvPr id="11" name="TextBox 10"/>
          <p:cNvSpPr txBox="1"/>
          <p:nvPr/>
        </p:nvSpPr>
        <p:spPr>
          <a:xfrm>
            <a:off x="609904" y="2743200"/>
            <a:ext cx="960120" cy="320040"/>
          </a:xfrm>
          <a:prstGeom prst="rect">
            <a:avLst/>
          </a:prstGeom>
          <a:noFill/>
        </p:spPr>
        <p:txBody>
          <a:bodyPr wrap="square">
            <a:spAutoFit/>
          </a:bodyPr>
          <a:lstStyle/>
          <a:p>
            <a:pPr algn="ctr"/>
            <a:r>
              <a:rPr sz="1000" b="1" i="0">
                <a:solidFill>
                  <a:srgbClr val="192858"/>
                </a:solidFill>
                <a:latin typeface="Arial Black"/>
              </a:rPr>
              <a:t>Pause and Assess</a:t>
            </a:r>
          </a:p>
        </p:txBody>
      </p:sp>
      <p:sp>
        <p:nvSpPr>
          <p:cNvPr id="12" name="TextBox 11"/>
          <p:cNvSpPr txBox="1"/>
          <p:nvPr/>
        </p:nvSpPr>
        <p:spPr>
          <a:xfrm>
            <a:off x="609904" y="3108960"/>
            <a:ext cx="960120" cy="731520"/>
          </a:xfrm>
          <a:prstGeom prst="rect">
            <a:avLst/>
          </a:prstGeom>
          <a:noFill/>
        </p:spPr>
        <p:txBody>
          <a:bodyPr wrap="square">
            <a:spAutoFit/>
          </a:bodyPr>
          <a:lstStyle/>
          <a:p>
            <a:pPr algn="ctr"/>
            <a:r>
              <a:rPr sz="900" b="0" i="0">
                <a:solidFill>
                  <a:srgbClr val="5A5A5A"/>
                </a:solidFill>
                <a:latin typeface="Arial"/>
              </a:rPr>
              <a:t>Recognize when accessibility needs may be present.</a:t>
            </a:r>
          </a:p>
        </p:txBody>
      </p:sp>
      <p:sp>
        <p:nvSpPr>
          <p:cNvPr id="13" name="Oval 12"/>
          <p:cNvSpPr/>
          <p:nvPr/>
        </p:nvSpPr>
        <p:spPr>
          <a:xfrm>
            <a:off x="1935784" y="2103120"/>
            <a:ext cx="502920" cy="5029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FFFFF"/>
                </a:solidFill>
                <a:latin typeface="Arial Black"/>
              </a:rPr>
              <a:t>2</a:t>
            </a:r>
          </a:p>
        </p:txBody>
      </p:sp>
      <p:sp>
        <p:nvSpPr>
          <p:cNvPr id="14" name="TextBox 13"/>
          <p:cNvSpPr txBox="1"/>
          <p:nvPr/>
        </p:nvSpPr>
        <p:spPr>
          <a:xfrm>
            <a:off x="1707184" y="2743200"/>
            <a:ext cx="960120" cy="320040"/>
          </a:xfrm>
          <a:prstGeom prst="rect">
            <a:avLst/>
          </a:prstGeom>
          <a:noFill/>
        </p:spPr>
        <p:txBody>
          <a:bodyPr wrap="square">
            <a:spAutoFit/>
          </a:bodyPr>
          <a:lstStyle/>
          <a:p>
            <a:pPr algn="ctr"/>
            <a:r>
              <a:rPr sz="1000" b="1" i="0">
                <a:solidFill>
                  <a:srgbClr val="192858"/>
                </a:solidFill>
                <a:latin typeface="Arial Black"/>
              </a:rPr>
              <a:t>Listen and Ask</a:t>
            </a:r>
          </a:p>
        </p:txBody>
      </p:sp>
      <p:sp>
        <p:nvSpPr>
          <p:cNvPr id="15" name="TextBox 14"/>
          <p:cNvSpPr txBox="1"/>
          <p:nvPr/>
        </p:nvSpPr>
        <p:spPr>
          <a:xfrm>
            <a:off x="1707184" y="3108960"/>
            <a:ext cx="960120" cy="731520"/>
          </a:xfrm>
          <a:prstGeom prst="rect">
            <a:avLst/>
          </a:prstGeom>
          <a:noFill/>
        </p:spPr>
        <p:txBody>
          <a:bodyPr wrap="square">
            <a:spAutoFit/>
          </a:bodyPr>
          <a:lstStyle/>
          <a:p>
            <a:pPr algn="ctr"/>
            <a:r>
              <a:rPr sz="900" b="0" i="0">
                <a:solidFill>
                  <a:srgbClr val="5A5A5A"/>
                </a:solidFill>
                <a:latin typeface="Arial"/>
              </a:rPr>
              <a:t>Engage respectfully to understand needs.</a:t>
            </a:r>
          </a:p>
        </p:txBody>
      </p:sp>
      <p:sp>
        <p:nvSpPr>
          <p:cNvPr id="16" name="Oval 15"/>
          <p:cNvSpPr/>
          <p:nvPr/>
        </p:nvSpPr>
        <p:spPr>
          <a:xfrm>
            <a:off x="3033064" y="2103120"/>
            <a:ext cx="502920" cy="5029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FFFFF"/>
                </a:solidFill>
                <a:latin typeface="Arial Black"/>
              </a:rPr>
              <a:t>3</a:t>
            </a:r>
          </a:p>
        </p:txBody>
      </p:sp>
      <p:sp>
        <p:nvSpPr>
          <p:cNvPr id="17" name="TextBox 16"/>
          <p:cNvSpPr txBox="1"/>
          <p:nvPr/>
        </p:nvSpPr>
        <p:spPr>
          <a:xfrm>
            <a:off x="2804464" y="2743200"/>
            <a:ext cx="960120" cy="320040"/>
          </a:xfrm>
          <a:prstGeom prst="rect">
            <a:avLst/>
          </a:prstGeom>
          <a:noFill/>
        </p:spPr>
        <p:txBody>
          <a:bodyPr wrap="square">
            <a:spAutoFit/>
          </a:bodyPr>
          <a:lstStyle/>
          <a:p>
            <a:pPr algn="ctr"/>
            <a:r>
              <a:rPr sz="1000" b="1" i="0">
                <a:solidFill>
                  <a:srgbClr val="192858"/>
                </a:solidFill>
                <a:latin typeface="Arial Black"/>
              </a:rPr>
              <a:t>Apply</a:t>
            </a:r>
          </a:p>
        </p:txBody>
      </p:sp>
      <p:sp>
        <p:nvSpPr>
          <p:cNvPr id="18" name="TextBox 17"/>
          <p:cNvSpPr txBox="1"/>
          <p:nvPr/>
        </p:nvSpPr>
        <p:spPr>
          <a:xfrm>
            <a:off x="2804464" y="3108960"/>
            <a:ext cx="960120" cy="731520"/>
          </a:xfrm>
          <a:prstGeom prst="rect">
            <a:avLst/>
          </a:prstGeom>
          <a:noFill/>
        </p:spPr>
        <p:txBody>
          <a:bodyPr wrap="square">
            <a:spAutoFit/>
          </a:bodyPr>
          <a:lstStyle/>
          <a:p>
            <a:pPr algn="ctr"/>
            <a:r>
              <a:rPr sz="900" b="0" i="0">
                <a:solidFill>
                  <a:srgbClr val="5A5A5A"/>
                </a:solidFill>
                <a:latin typeface="Arial"/>
              </a:rPr>
              <a:t>Apply accessibility principles and the AiP model.</a:t>
            </a:r>
          </a:p>
        </p:txBody>
      </p:sp>
      <p:sp>
        <p:nvSpPr>
          <p:cNvPr id="19" name="Oval 18"/>
          <p:cNvSpPr/>
          <p:nvPr/>
        </p:nvSpPr>
        <p:spPr>
          <a:xfrm>
            <a:off x="4130344" y="2103120"/>
            <a:ext cx="502920" cy="5029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FFFFF"/>
                </a:solidFill>
                <a:latin typeface="Arial Black"/>
              </a:rPr>
              <a:t>4</a:t>
            </a:r>
          </a:p>
        </p:txBody>
      </p:sp>
      <p:sp>
        <p:nvSpPr>
          <p:cNvPr id="20" name="TextBox 19"/>
          <p:cNvSpPr txBox="1"/>
          <p:nvPr/>
        </p:nvSpPr>
        <p:spPr>
          <a:xfrm>
            <a:off x="3901744" y="2743200"/>
            <a:ext cx="960120" cy="320040"/>
          </a:xfrm>
          <a:prstGeom prst="rect">
            <a:avLst/>
          </a:prstGeom>
          <a:noFill/>
        </p:spPr>
        <p:txBody>
          <a:bodyPr wrap="square">
            <a:spAutoFit/>
          </a:bodyPr>
          <a:lstStyle/>
          <a:p>
            <a:pPr algn="ctr"/>
            <a:r>
              <a:rPr sz="1000" b="1" i="0">
                <a:solidFill>
                  <a:srgbClr val="192858"/>
                </a:solidFill>
                <a:latin typeface="Arial Black"/>
              </a:rPr>
              <a:t>Adapt</a:t>
            </a:r>
          </a:p>
        </p:txBody>
      </p:sp>
      <p:sp>
        <p:nvSpPr>
          <p:cNvPr id="21" name="TextBox 20"/>
          <p:cNvSpPr txBox="1"/>
          <p:nvPr/>
        </p:nvSpPr>
        <p:spPr>
          <a:xfrm>
            <a:off x="3901744" y="3108960"/>
            <a:ext cx="960120" cy="731520"/>
          </a:xfrm>
          <a:prstGeom prst="rect">
            <a:avLst/>
          </a:prstGeom>
          <a:noFill/>
        </p:spPr>
        <p:txBody>
          <a:bodyPr wrap="square">
            <a:spAutoFit/>
          </a:bodyPr>
          <a:lstStyle/>
          <a:p>
            <a:pPr algn="ctr"/>
            <a:r>
              <a:rPr sz="900" b="0" i="0">
                <a:solidFill>
                  <a:srgbClr val="5A5A5A"/>
                </a:solidFill>
                <a:latin typeface="Arial"/>
              </a:rPr>
              <a:t>Adjust communication, environment, or processes.</a:t>
            </a:r>
          </a:p>
        </p:txBody>
      </p:sp>
      <p:sp>
        <p:nvSpPr>
          <p:cNvPr id="22" name="Oval 21"/>
          <p:cNvSpPr/>
          <p:nvPr/>
        </p:nvSpPr>
        <p:spPr>
          <a:xfrm>
            <a:off x="5227624" y="2103120"/>
            <a:ext cx="502920" cy="502920"/>
          </a:xfrm>
          <a:prstGeom prst="ellipse">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FFFFF"/>
                </a:solidFill>
                <a:latin typeface="Arial Black"/>
              </a:rPr>
              <a:t>5</a:t>
            </a:r>
          </a:p>
        </p:txBody>
      </p:sp>
      <p:sp>
        <p:nvSpPr>
          <p:cNvPr id="23" name="TextBox 22"/>
          <p:cNvSpPr txBox="1"/>
          <p:nvPr/>
        </p:nvSpPr>
        <p:spPr>
          <a:xfrm>
            <a:off x="4999024" y="2743200"/>
            <a:ext cx="960120" cy="320040"/>
          </a:xfrm>
          <a:prstGeom prst="rect">
            <a:avLst/>
          </a:prstGeom>
          <a:noFill/>
        </p:spPr>
        <p:txBody>
          <a:bodyPr wrap="square">
            <a:spAutoFit/>
          </a:bodyPr>
          <a:lstStyle/>
          <a:p>
            <a:pPr algn="ctr"/>
            <a:r>
              <a:rPr sz="1000" b="1" i="0">
                <a:solidFill>
                  <a:srgbClr val="192858"/>
                </a:solidFill>
                <a:latin typeface="Arial Black"/>
              </a:rPr>
              <a:t>Seek Support</a:t>
            </a:r>
          </a:p>
        </p:txBody>
      </p:sp>
      <p:sp>
        <p:nvSpPr>
          <p:cNvPr id="24" name="TextBox 23"/>
          <p:cNvSpPr txBox="1"/>
          <p:nvPr/>
        </p:nvSpPr>
        <p:spPr>
          <a:xfrm>
            <a:off x="4999024" y="3108960"/>
            <a:ext cx="960120" cy="731520"/>
          </a:xfrm>
          <a:prstGeom prst="rect">
            <a:avLst/>
          </a:prstGeom>
          <a:noFill/>
        </p:spPr>
        <p:txBody>
          <a:bodyPr wrap="square">
            <a:spAutoFit/>
          </a:bodyPr>
          <a:lstStyle/>
          <a:p>
            <a:pPr algn="ctr"/>
            <a:r>
              <a:rPr sz="900" b="0" i="0">
                <a:solidFill>
                  <a:srgbClr val="5A5A5A"/>
                </a:solidFill>
                <a:latin typeface="Arial"/>
              </a:rPr>
              <a:t>Consult manager, IDEAA, or accessibility resources.</a:t>
            </a:r>
          </a:p>
        </p:txBody>
      </p:sp>
      <p:sp>
        <p:nvSpPr>
          <p:cNvPr id="25" name="Rounded Rectangle 24"/>
          <p:cNvSpPr/>
          <p:nvPr/>
        </p:nvSpPr>
        <p:spPr>
          <a:xfrm>
            <a:off x="7315200" y="2560320"/>
            <a:ext cx="4114800" cy="2743200"/>
          </a:xfrm>
          <a:prstGeom prst="roundRect">
            <a:avLst/>
          </a:prstGeom>
          <a:solidFill>
            <a:srgbClr val="F4F4F4"/>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3657600"/>
            <a:ext cx="3200400" cy="457200"/>
          </a:xfrm>
          <a:prstGeom prst="rect">
            <a:avLst/>
          </a:prstGeom>
          <a:noFill/>
        </p:spPr>
        <p:txBody>
          <a:bodyPr wrap="square">
            <a:spAutoFit/>
          </a:bodyPr>
          <a:lstStyle/>
          <a:p>
            <a:pPr algn="ctr"/>
            <a:r>
              <a:rPr sz="1000" b="0" i="1">
                <a:solidFill>
                  <a:srgbClr val="5A5A5A"/>
                </a:solidFill>
                <a:latin typeface="Arial"/>
              </a:rPr>
              <a:t>[Accessibility Decision Path: Pause and Assess, Listen and Ask, Apply, Adapt, Seek Support]</a:t>
            </a:r>
          </a:p>
        </p:txBody>
      </p:sp>
      <p:sp>
        <p:nvSpPr>
          <p:cNvPr id="27" name="Rectangle 26"/>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9" name="Rectangle 28"/>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24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52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81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609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838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Scenario 1: Hospital Booking System</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S  C  E  N  A  R  I  O</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Scenario 1: Hospital Booking System</a:t>
            </a:r>
          </a:p>
        </p:txBody>
      </p:sp>
      <p:sp>
        <p:nvSpPr>
          <p:cNvPr id="9" name="Rounded Rectangle 8"/>
          <p:cNvSpPr/>
          <p:nvPr/>
        </p:nvSpPr>
        <p:spPr>
          <a:xfrm>
            <a:off x="609904" y="2560320"/>
            <a:ext cx="4114800" cy="3200400"/>
          </a:xfrm>
          <a:prstGeom prst="roundRect">
            <a:avLst/>
          </a:prstGeom>
          <a:solidFill>
            <a:srgbClr val="F4F4F4"/>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24304" y="3931920"/>
            <a:ext cx="2286000" cy="457200"/>
          </a:xfrm>
          <a:prstGeom prst="rect">
            <a:avLst/>
          </a:prstGeom>
          <a:noFill/>
        </p:spPr>
        <p:txBody>
          <a:bodyPr wrap="square">
            <a:spAutoFit/>
          </a:bodyPr>
          <a:lstStyle/>
          <a:p>
            <a:pPr algn="ctr"/>
            <a:r>
              <a:rPr sz="1100" b="0" i="1">
                <a:solidFill>
                  <a:srgbClr val="5A5A5A"/>
                </a:solidFill>
                <a:latin typeface="Arial"/>
              </a:rPr>
              <a:t>[Character Photo]</a:t>
            </a:r>
          </a:p>
        </p:txBody>
      </p:sp>
      <p:sp>
        <p:nvSpPr>
          <p:cNvPr id="11" name="Rectangle 10"/>
          <p:cNvSpPr/>
          <p:nvPr/>
        </p:nvSpPr>
        <p:spPr>
          <a:xfrm>
            <a:off x="5303520" y="2560320"/>
            <a:ext cx="54864" cy="1371600"/>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58384" y="2560320"/>
            <a:ext cx="6163056" cy="1371600"/>
          </a:xfrm>
          <a:prstGeom prst="rect">
            <a:avLst/>
          </a:prstGeom>
          <a:solidFill>
            <a:srgbClr val="FD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32120" y="2697480"/>
            <a:ext cx="5760720" cy="1097280"/>
          </a:xfrm>
          <a:prstGeom prst="rect">
            <a:avLst/>
          </a:prstGeom>
          <a:noFill/>
        </p:spPr>
        <p:txBody>
          <a:bodyPr wrap="square">
            <a:spAutoFit/>
          </a:bodyPr>
          <a:lstStyle/>
          <a:p>
            <a:r>
              <a:rPr sz="1100" b="0" i="0">
                <a:solidFill>
                  <a:srgbClr val="111111"/>
                </a:solidFill>
                <a:latin typeface="Arial"/>
              </a:rPr>
              <a:t>** You're working at the front desk when Mrs. Okafor, a 68-year-old patient, arrives looking frustrated. She explains that she tried to use the new online booking system but couldn't navigate it. The system meets accessibility standards, but she has limited digital literacy and finds it confusing. She's been trying for three days and finally came in person.</a:t>
            </a:r>
          </a:p>
        </p:txBody>
      </p:sp>
      <p:sp>
        <p:nvSpPr>
          <p:cNvPr id="14" name="TextBox 13"/>
          <p:cNvSpPr txBox="1"/>
          <p:nvPr/>
        </p:nvSpPr>
        <p:spPr>
          <a:xfrm>
            <a:off x="5303520" y="4206240"/>
            <a:ext cx="6217920" cy="320040"/>
          </a:xfrm>
          <a:prstGeom prst="rect">
            <a:avLst/>
          </a:prstGeom>
          <a:noFill/>
        </p:spPr>
        <p:txBody>
          <a:bodyPr wrap="square">
            <a:spAutoFit/>
          </a:bodyPr>
          <a:lstStyle/>
          <a:p>
            <a:r>
              <a:rPr sz="1400" b="1" i="0">
                <a:solidFill>
                  <a:srgbClr val="245BAA"/>
                </a:solidFill>
                <a:latin typeface="Arial Black"/>
              </a:rPr>
              <a:t>What do you do?</a:t>
            </a:r>
          </a:p>
        </p:txBody>
      </p:sp>
      <p:sp>
        <p:nvSpPr>
          <p:cNvPr id="15" name="Rounded Rectangle 14"/>
          <p:cNvSpPr/>
          <p:nvPr/>
        </p:nvSpPr>
        <p:spPr>
          <a:xfrm>
            <a:off x="5303520" y="4663440"/>
            <a:ext cx="6217920" cy="41148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394960" y="473202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A</a:t>
            </a:r>
          </a:p>
        </p:txBody>
      </p:sp>
      <p:sp>
        <p:nvSpPr>
          <p:cNvPr id="18" name="TextBox 17"/>
          <p:cNvSpPr txBox="1"/>
          <p:nvPr/>
        </p:nvSpPr>
        <p:spPr>
          <a:xfrm>
            <a:off x="5760720" y="4663440"/>
            <a:ext cx="5669280" cy="411480"/>
          </a:xfrm>
          <a:prstGeom prst="rect">
            <a:avLst/>
          </a:prstGeom>
          <a:noFill/>
        </p:spPr>
        <p:txBody>
          <a:bodyPr wrap="square" anchor="ctr">
            <a:spAutoFit/>
          </a:bodyPr>
          <a:lstStyle/>
          <a:p>
            <a:r>
              <a:rPr sz="1000" b="0" i="0">
                <a:solidFill>
                  <a:srgbClr val="111111"/>
                </a:solidFill>
                <a:latin typeface="Arial"/>
              </a:rPr>
              <a:t>You apologize for the difficulty, book her appointment right away, and let her know she can always call or come in person. You note the issue for your team lead.</a:t>
            </a:r>
          </a:p>
        </p:txBody>
      </p:sp>
      <p:sp>
        <p:nvSpPr>
          <p:cNvPr id="19" name="Rounded Rectangle 18"/>
          <p:cNvSpPr/>
          <p:nvPr/>
        </p:nvSpPr>
        <p:spPr>
          <a:xfrm>
            <a:off x="5303520" y="5166360"/>
            <a:ext cx="6217920" cy="41148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394960" y="523494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B</a:t>
            </a:r>
          </a:p>
        </p:txBody>
      </p:sp>
      <p:sp>
        <p:nvSpPr>
          <p:cNvPr id="22" name="TextBox 21"/>
          <p:cNvSpPr txBox="1"/>
          <p:nvPr/>
        </p:nvSpPr>
        <p:spPr>
          <a:xfrm>
            <a:off x="5760720" y="5166360"/>
            <a:ext cx="5669280" cy="411480"/>
          </a:xfrm>
          <a:prstGeom prst="rect">
            <a:avLst/>
          </a:prstGeom>
          <a:noFill/>
        </p:spPr>
        <p:txBody>
          <a:bodyPr wrap="square" anchor="ctr">
            <a:spAutoFit/>
          </a:bodyPr>
          <a:lstStyle/>
          <a:p>
            <a:r>
              <a:rPr sz="1000" b="0" i="0">
                <a:solidFill>
                  <a:srgbClr val="111111"/>
                </a:solidFill>
                <a:latin typeface="Arial"/>
              </a:rPr>
              <a:t>You book her appointment and suggest she ask a family member to help next time.</a:t>
            </a:r>
          </a:p>
        </p:txBody>
      </p:sp>
      <p:sp>
        <p:nvSpPr>
          <p:cNvPr id="23" name="Rounded Rectangle 22"/>
          <p:cNvSpPr/>
          <p:nvPr/>
        </p:nvSpPr>
        <p:spPr>
          <a:xfrm>
            <a:off x="5303520" y="5669280"/>
            <a:ext cx="6217920" cy="41148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394960" y="573786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C</a:t>
            </a:r>
          </a:p>
        </p:txBody>
      </p:sp>
      <p:sp>
        <p:nvSpPr>
          <p:cNvPr id="26" name="TextBox 25"/>
          <p:cNvSpPr txBox="1"/>
          <p:nvPr/>
        </p:nvSpPr>
        <p:spPr>
          <a:xfrm>
            <a:off x="5760720" y="5669280"/>
            <a:ext cx="5669280" cy="411480"/>
          </a:xfrm>
          <a:prstGeom prst="rect">
            <a:avLst/>
          </a:prstGeom>
          <a:noFill/>
        </p:spPr>
        <p:txBody>
          <a:bodyPr wrap="square" anchor="ctr">
            <a:spAutoFit/>
          </a:bodyPr>
          <a:lstStyle/>
          <a:p>
            <a:r>
              <a:rPr sz="1000" b="0" i="0">
                <a:solidFill>
                  <a:srgbClr val="111111"/>
                </a:solidFill>
                <a:latin typeface="Arial"/>
              </a:rPr>
              <a:t>You tell her the system is accessible and offer to walk her through it on your computer.</a:t>
            </a:r>
          </a:p>
        </p:txBody>
      </p:sp>
      <p:sp>
        <p:nvSpPr>
          <p:cNvPr id="27" name="Rectangle 26"/>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9" name="Rectangle 28"/>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241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52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81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609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838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Scenario 1: Hospital Booking System</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C  H  O  I  C  E     A     ·     B  E  S  T</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Consequence: A</a:t>
            </a:r>
          </a:p>
        </p:txBody>
      </p:sp>
      <p:sp>
        <p:nvSpPr>
          <p:cNvPr id="9" name="Rectangle 8"/>
          <p:cNvSpPr/>
          <p:nvPr/>
        </p:nvSpPr>
        <p:spPr>
          <a:xfrm>
            <a:off x="609904" y="2286000"/>
            <a:ext cx="54864" cy="731520"/>
          </a:xfrm>
          <a:prstGeom prst="rect">
            <a:avLst/>
          </a:prstGeom>
          <a:solidFill>
            <a:srgbClr val="74A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4768" y="2286000"/>
            <a:ext cx="10515600" cy="731520"/>
          </a:xfrm>
          <a:prstGeom prst="rect">
            <a:avLst/>
          </a:prstGeom>
          <a:solidFill>
            <a:srgbClr val="EEF6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504" y="2377440"/>
            <a:ext cx="10058400" cy="548640"/>
          </a:xfrm>
          <a:prstGeom prst="rect">
            <a:avLst/>
          </a:prstGeom>
          <a:noFill/>
        </p:spPr>
        <p:txBody>
          <a:bodyPr wrap="square">
            <a:spAutoFit/>
          </a:bodyPr>
          <a:lstStyle/>
          <a:p>
            <a:r>
              <a:rPr sz="1000" b="1" i="0">
                <a:solidFill>
                  <a:srgbClr val="74AE54"/>
                </a:solidFill>
                <a:latin typeface="Arial Black"/>
              </a:rPr>
              <a:t>Your choice: </a:t>
            </a:r>
            <a:r>
              <a:rPr sz="1000" b="0" i="0">
                <a:solidFill>
                  <a:srgbClr val="111111"/>
                </a:solidFill>
                <a:latin typeface="Arial"/>
              </a:rPr>
              <a:t>You apologize for the difficulty, book her appointment right away, and let her know she can always call or come in person. You note the issue for your team lead.</a:t>
            </a:r>
          </a:p>
        </p:txBody>
      </p:sp>
      <p:sp>
        <p:nvSpPr>
          <p:cNvPr id="12" name="TextBox 11"/>
          <p:cNvSpPr txBox="1"/>
          <p:nvPr/>
        </p:nvSpPr>
        <p:spPr>
          <a:xfrm>
            <a:off x="609904" y="3291840"/>
            <a:ext cx="10515600" cy="1371600"/>
          </a:xfrm>
          <a:prstGeom prst="rect">
            <a:avLst/>
          </a:prstGeom>
          <a:noFill/>
        </p:spPr>
        <p:txBody>
          <a:bodyPr wrap="square">
            <a:spAutoFit/>
          </a:bodyPr>
          <a:lstStyle/>
          <a:p>
            <a:r>
              <a:rPr sz="1200" b="1" i="0">
                <a:solidFill>
                  <a:srgbClr val="74AE54"/>
                </a:solidFill>
                <a:latin typeface="Arial Black"/>
              </a:rPr>
              <a:t>Result: </a:t>
            </a:r>
            <a:r>
              <a:rPr sz="1200" b="0" i="0">
                <a:solidFill>
                  <a:srgbClr val="111111"/>
                </a:solidFill>
                <a:latin typeface="Arial"/>
              </a:rPr>
              <a:t>Mrs. Okafor feels heard. She gets her appointment. The barrier is flagged for system improvement.</a:t>
            </a:r>
          </a:p>
        </p:txBody>
      </p:sp>
      <p:sp>
        <p:nvSpPr>
          <p:cNvPr id="13" name="Rectangle 12"/>
          <p:cNvSpPr/>
          <p:nvPr/>
        </p:nvSpPr>
        <p:spPr>
          <a:xfrm>
            <a:off x="609904" y="4572000"/>
            <a:ext cx="54864" cy="731520"/>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4768" y="4572000"/>
            <a:ext cx="10515600" cy="731520"/>
          </a:xfrm>
          <a:prstGeom prst="rect">
            <a:avLst/>
          </a:prstGeom>
          <a:solidFill>
            <a:srgbClr val="EA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504" y="4663440"/>
            <a:ext cx="10058400" cy="548640"/>
          </a:xfrm>
          <a:prstGeom prst="rect">
            <a:avLst/>
          </a:prstGeom>
          <a:noFill/>
        </p:spPr>
        <p:txBody>
          <a:bodyPr wrap="square">
            <a:spAutoFit/>
          </a:bodyPr>
          <a:lstStyle/>
          <a:p>
            <a:r>
              <a:rPr sz="1000" b="1" i="0">
                <a:solidFill>
                  <a:srgbClr val="245BAA"/>
                </a:solidFill>
                <a:latin typeface="Arial Black"/>
              </a:rPr>
              <a:t>Key Takeaway: </a:t>
            </a:r>
            <a:r>
              <a:rPr sz="1000" b="0" i="0">
                <a:solidFill>
                  <a:srgbClr val="111111"/>
                </a:solidFill>
                <a:latin typeface="Arial"/>
              </a:rPr>
              <a:t>Accessibility includes usability. Meeting technical standards is not enough. Offer multiple options and report barriers upstream.</a:t>
            </a:r>
          </a:p>
        </p:txBody>
      </p:sp>
      <p:sp>
        <p:nvSpPr>
          <p:cNvPr id="16" name="TextBox 15"/>
          <p:cNvSpPr txBox="1"/>
          <p:nvPr/>
        </p:nvSpPr>
        <p:spPr>
          <a:xfrm>
            <a:off x="609904" y="5577840"/>
            <a:ext cx="10515600" cy="274320"/>
          </a:xfrm>
          <a:prstGeom prst="rect">
            <a:avLst/>
          </a:prstGeom>
          <a:noFill/>
        </p:spPr>
        <p:txBody>
          <a:bodyPr wrap="square">
            <a:spAutoFit/>
          </a:bodyPr>
          <a:lstStyle/>
          <a:p>
            <a:r>
              <a:rPr sz="900" b="0" i="1">
                <a:solidFill>
                  <a:srgbClr val="245BAA"/>
                </a:solidFill>
                <a:latin typeface="Arial"/>
              </a:rPr>
              <a:t>Principle: People First &amp; Dignity · Proactive Barrier Prevention</a:t>
            </a:r>
          </a:p>
        </p:txBody>
      </p:sp>
      <p:sp>
        <p:nvSpPr>
          <p:cNvPr id="17" name="Rectangle 16"/>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19" name="Rectangle 18"/>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52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81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609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38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Scenario 1: Hospital Booking System</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C  H  O  I  C  E     B     ·     A  C  C  E  P  T  A  B  L  E</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Consequence: B</a:t>
            </a:r>
          </a:p>
        </p:txBody>
      </p:sp>
      <p:sp>
        <p:nvSpPr>
          <p:cNvPr id="9" name="Rectangle 8"/>
          <p:cNvSpPr/>
          <p:nvPr/>
        </p:nvSpPr>
        <p:spPr>
          <a:xfrm>
            <a:off x="609904" y="2286000"/>
            <a:ext cx="54864" cy="731520"/>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4768" y="2286000"/>
            <a:ext cx="10515600" cy="731520"/>
          </a:xfrm>
          <a:prstGeom prst="rect">
            <a:avLst/>
          </a:prstGeom>
          <a:solidFill>
            <a:srgbClr val="EA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504" y="2377440"/>
            <a:ext cx="10058400" cy="548640"/>
          </a:xfrm>
          <a:prstGeom prst="rect">
            <a:avLst/>
          </a:prstGeom>
          <a:noFill/>
        </p:spPr>
        <p:txBody>
          <a:bodyPr wrap="square">
            <a:spAutoFit/>
          </a:bodyPr>
          <a:lstStyle/>
          <a:p>
            <a:r>
              <a:rPr sz="1000" b="1" i="0">
                <a:solidFill>
                  <a:srgbClr val="245BAA"/>
                </a:solidFill>
                <a:latin typeface="Arial Black"/>
              </a:rPr>
              <a:t>Your choice: </a:t>
            </a:r>
            <a:r>
              <a:rPr sz="1000" b="0" i="0">
                <a:solidFill>
                  <a:srgbClr val="111111"/>
                </a:solidFill>
                <a:latin typeface="Arial"/>
              </a:rPr>
              <a:t>You book her appointment and suggest she ask a family member to help next time.</a:t>
            </a:r>
          </a:p>
        </p:txBody>
      </p:sp>
      <p:sp>
        <p:nvSpPr>
          <p:cNvPr id="12" name="TextBox 11"/>
          <p:cNvSpPr txBox="1"/>
          <p:nvPr/>
        </p:nvSpPr>
        <p:spPr>
          <a:xfrm>
            <a:off x="609904" y="3291840"/>
            <a:ext cx="10515600" cy="1371600"/>
          </a:xfrm>
          <a:prstGeom prst="rect">
            <a:avLst/>
          </a:prstGeom>
          <a:noFill/>
        </p:spPr>
        <p:txBody>
          <a:bodyPr wrap="square">
            <a:spAutoFit/>
          </a:bodyPr>
          <a:lstStyle/>
          <a:p>
            <a:r>
              <a:rPr sz="1200" b="1" i="0">
                <a:solidFill>
                  <a:srgbClr val="245BAA"/>
                </a:solidFill>
                <a:latin typeface="Arial Black"/>
              </a:rPr>
              <a:t>Result: </a:t>
            </a:r>
            <a:r>
              <a:rPr sz="1200" b="0" i="0">
                <a:solidFill>
                  <a:srgbClr val="111111"/>
                </a:solidFill>
                <a:latin typeface="Arial"/>
              </a:rPr>
              <a:t>She gets her appointment but feels the problem is hers to solve. The systemic issue goes unreported.</a:t>
            </a:r>
          </a:p>
        </p:txBody>
      </p:sp>
      <p:sp>
        <p:nvSpPr>
          <p:cNvPr id="13" name="Rectangle 12"/>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15" name="Rectangle 14"/>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527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81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09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38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Scenario 1: Hospital Booking System</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C  H  O  I  C  E     C     ·     P  O  O  R</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Consequence: C</a:t>
            </a:r>
          </a:p>
        </p:txBody>
      </p:sp>
      <p:sp>
        <p:nvSpPr>
          <p:cNvPr id="9" name="Rectangle 8"/>
          <p:cNvSpPr/>
          <p:nvPr/>
        </p:nvSpPr>
        <p:spPr>
          <a:xfrm>
            <a:off x="609904" y="2286000"/>
            <a:ext cx="54864" cy="731520"/>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4768" y="2286000"/>
            <a:ext cx="10515600" cy="731520"/>
          </a:xfrm>
          <a:prstGeom prst="rect">
            <a:avLst/>
          </a:prstGeom>
          <a:solidFill>
            <a:srgbClr val="FD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504" y="2377440"/>
            <a:ext cx="10058400" cy="548640"/>
          </a:xfrm>
          <a:prstGeom prst="rect">
            <a:avLst/>
          </a:prstGeom>
          <a:noFill/>
        </p:spPr>
        <p:txBody>
          <a:bodyPr wrap="square">
            <a:spAutoFit/>
          </a:bodyPr>
          <a:lstStyle/>
          <a:p>
            <a:r>
              <a:rPr sz="1000" b="1" i="0">
                <a:solidFill>
                  <a:srgbClr val="C0233B"/>
                </a:solidFill>
                <a:latin typeface="Arial Black"/>
              </a:rPr>
              <a:t>Your choice: </a:t>
            </a:r>
            <a:r>
              <a:rPr sz="1000" b="0" i="0">
                <a:solidFill>
                  <a:srgbClr val="111111"/>
                </a:solidFill>
                <a:latin typeface="Arial"/>
              </a:rPr>
              <a:t>You tell her the system is accessible and offer to walk her through it on your computer.</a:t>
            </a:r>
          </a:p>
        </p:txBody>
      </p:sp>
      <p:sp>
        <p:nvSpPr>
          <p:cNvPr id="12" name="TextBox 11"/>
          <p:cNvSpPr txBox="1"/>
          <p:nvPr/>
        </p:nvSpPr>
        <p:spPr>
          <a:xfrm>
            <a:off x="609904" y="3291840"/>
            <a:ext cx="10515600" cy="1371600"/>
          </a:xfrm>
          <a:prstGeom prst="rect">
            <a:avLst/>
          </a:prstGeom>
          <a:noFill/>
        </p:spPr>
        <p:txBody>
          <a:bodyPr wrap="square">
            <a:spAutoFit/>
          </a:bodyPr>
          <a:lstStyle/>
          <a:p>
            <a:r>
              <a:rPr sz="1200" b="1" i="0">
                <a:solidFill>
                  <a:srgbClr val="C0233B"/>
                </a:solidFill>
                <a:latin typeface="Arial Black"/>
              </a:rPr>
              <a:t>Result: </a:t>
            </a:r>
            <a:r>
              <a:rPr sz="1200" b="0" i="0">
                <a:solidFill>
                  <a:srgbClr val="111111"/>
                </a:solidFill>
                <a:latin typeface="Arial"/>
              </a:rPr>
              <a:t>She feels dismissed. "Accessible" and "usable" are not the same. The barrier remains.</a:t>
            </a:r>
          </a:p>
        </p:txBody>
      </p:sp>
      <p:sp>
        <p:nvSpPr>
          <p:cNvPr id="13" name="Rectangle 12"/>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15" name="Rectangle 14"/>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81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09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38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Scenario 2: Clinic Signage</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S  C  E  N  A  R  I  O</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Scenario 2: Clinic Signage</a:t>
            </a:r>
          </a:p>
        </p:txBody>
      </p:sp>
      <p:sp>
        <p:nvSpPr>
          <p:cNvPr id="9" name="Rounded Rectangle 8"/>
          <p:cNvSpPr/>
          <p:nvPr/>
        </p:nvSpPr>
        <p:spPr>
          <a:xfrm>
            <a:off x="609904" y="2560320"/>
            <a:ext cx="4114800" cy="3200400"/>
          </a:xfrm>
          <a:prstGeom prst="roundRect">
            <a:avLst/>
          </a:prstGeom>
          <a:solidFill>
            <a:srgbClr val="F4F4F4"/>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24304" y="3931920"/>
            <a:ext cx="2286000" cy="457200"/>
          </a:xfrm>
          <a:prstGeom prst="rect">
            <a:avLst/>
          </a:prstGeom>
          <a:noFill/>
        </p:spPr>
        <p:txBody>
          <a:bodyPr wrap="square">
            <a:spAutoFit/>
          </a:bodyPr>
          <a:lstStyle/>
          <a:p>
            <a:pPr algn="ctr"/>
            <a:r>
              <a:rPr sz="1100" b="0" i="1">
                <a:solidFill>
                  <a:srgbClr val="5A5A5A"/>
                </a:solidFill>
                <a:latin typeface="Arial"/>
              </a:rPr>
              <a:t>[Character Photo]</a:t>
            </a:r>
          </a:p>
        </p:txBody>
      </p:sp>
      <p:sp>
        <p:nvSpPr>
          <p:cNvPr id="11" name="Rectangle 10"/>
          <p:cNvSpPr/>
          <p:nvPr/>
        </p:nvSpPr>
        <p:spPr>
          <a:xfrm>
            <a:off x="5303520" y="2560320"/>
            <a:ext cx="54864" cy="1371600"/>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58384" y="2560320"/>
            <a:ext cx="6163056" cy="1371600"/>
          </a:xfrm>
          <a:prstGeom prst="rect">
            <a:avLst/>
          </a:prstGeom>
          <a:solidFill>
            <a:srgbClr val="FD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32120" y="2697480"/>
            <a:ext cx="5760720" cy="1097280"/>
          </a:xfrm>
          <a:prstGeom prst="rect">
            <a:avLst/>
          </a:prstGeom>
          <a:noFill/>
        </p:spPr>
        <p:txBody>
          <a:bodyPr wrap="square">
            <a:spAutoFit/>
          </a:bodyPr>
          <a:lstStyle/>
          <a:p>
            <a:r>
              <a:rPr sz="1100" b="0" i="0">
                <a:solidFill>
                  <a:srgbClr val="111111"/>
                </a:solidFill>
                <a:latin typeface="Arial"/>
              </a:rPr>
              <a:t>** You notice a patient with low vision squinting at a directional sign in the outpatient clinic. The sign was recently installed and meets Ontario Building Code standards, but the font is small and it's mounted high on the wall. The patient asks you for directions to the lab.</a:t>
            </a:r>
          </a:p>
        </p:txBody>
      </p:sp>
      <p:sp>
        <p:nvSpPr>
          <p:cNvPr id="14" name="TextBox 13"/>
          <p:cNvSpPr txBox="1"/>
          <p:nvPr/>
        </p:nvSpPr>
        <p:spPr>
          <a:xfrm>
            <a:off x="5303520" y="4206240"/>
            <a:ext cx="6217920" cy="320040"/>
          </a:xfrm>
          <a:prstGeom prst="rect">
            <a:avLst/>
          </a:prstGeom>
          <a:noFill/>
        </p:spPr>
        <p:txBody>
          <a:bodyPr wrap="square">
            <a:spAutoFit/>
          </a:bodyPr>
          <a:lstStyle/>
          <a:p>
            <a:r>
              <a:rPr sz="1400" b="1" i="0">
                <a:solidFill>
                  <a:srgbClr val="245BAA"/>
                </a:solidFill>
                <a:latin typeface="Arial Black"/>
              </a:rPr>
              <a:t>What do you do?</a:t>
            </a:r>
          </a:p>
        </p:txBody>
      </p:sp>
      <p:sp>
        <p:nvSpPr>
          <p:cNvPr id="15" name="Rounded Rectangle 14"/>
          <p:cNvSpPr/>
          <p:nvPr/>
        </p:nvSpPr>
        <p:spPr>
          <a:xfrm>
            <a:off x="5303520" y="4663440"/>
            <a:ext cx="6217920" cy="41148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394960" y="473202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A</a:t>
            </a:r>
          </a:p>
        </p:txBody>
      </p:sp>
      <p:sp>
        <p:nvSpPr>
          <p:cNvPr id="18" name="TextBox 17"/>
          <p:cNvSpPr txBox="1"/>
          <p:nvPr/>
        </p:nvSpPr>
        <p:spPr>
          <a:xfrm>
            <a:off x="5760720" y="4663440"/>
            <a:ext cx="5669280" cy="411480"/>
          </a:xfrm>
          <a:prstGeom prst="rect">
            <a:avLst/>
          </a:prstGeom>
          <a:noFill/>
        </p:spPr>
        <p:txBody>
          <a:bodyPr wrap="square" anchor="ctr">
            <a:spAutoFit/>
          </a:bodyPr>
          <a:lstStyle/>
          <a:p>
            <a:r>
              <a:rPr sz="1000" b="0" i="0">
                <a:solidFill>
                  <a:srgbClr val="111111"/>
                </a:solidFill>
                <a:latin typeface="Arial"/>
              </a:rPr>
              <a:t>You walk the patient to the lab, then report the signage issue to facilities with a suggestion to add larger, lower signs with high-contrast text.</a:t>
            </a:r>
          </a:p>
        </p:txBody>
      </p:sp>
      <p:sp>
        <p:nvSpPr>
          <p:cNvPr id="19" name="Rounded Rectangle 18"/>
          <p:cNvSpPr/>
          <p:nvPr/>
        </p:nvSpPr>
        <p:spPr>
          <a:xfrm>
            <a:off x="5303520" y="5166360"/>
            <a:ext cx="6217920" cy="41148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394960" y="523494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B</a:t>
            </a:r>
          </a:p>
        </p:txBody>
      </p:sp>
      <p:sp>
        <p:nvSpPr>
          <p:cNvPr id="22" name="TextBox 21"/>
          <p:cNvSpPr txBox="1"/>
          <p:nvPr/>
        </p:nvSpPr>
        <p:spPr>
          <a:xfrm>
            <a:off x="5760720" y="5166360"/>
            <a:ext cx="5669280" cy="411480"/>
          </a:xfrm>
          <a:prstGeom prst="rect">
            <a:avLst/>
          </a:prstGeom>
          <a:noFill/>
        </p:spPr>
        <p:txBody>
          <a:bodyPr wrap="square" anchor="ctr">
            <a:spAutoFit/>
          </a:bodyPr>
          <a:lstStyle/>
          <a:p>
            <a:r>
              <a:rPr sz="1000" b="0" i="0">
                <a:solidFill>
                  <a:srgbClr val="111111"/>
                </a:solidFill>
                <a:latin typeface="Arial"/>
              </a:rPr>
              <a:t>You give clear verbal directions and offer to walk them partway.</a:t>
            </a:r>
          </a:p>
        </p:txBody>
      </p:sp>
      <p:sp>
        <p:nvSpPr>
          <p:cNvPr id="23" name="Rounded Rectangle 22"/>
          <p:cNvSpPr/>
          <p:nvPr/>
        </p:nvSpPr>
        <p:spPr>
          <a:xfrm>
            <a:off x="5303520" y="5669280"/>
            <a:ext cx="6217920" cy="41148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394960" y="573786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C</a:t>
            </a:r>
          </a:p>
        </p:txBody>
      </p:sp>
      <p:sp>
        <p:nvSpPr>
          <p:cNvPr id="26" name="TextBox 25"/>
          <p:cNvSpPr txBox="1"/>
          <p:nvPr/>
        </p:nvSpPr>
        <p:spPr>
          <a:xfrm>
            <a:off x="5760720" y="5669280"/>
            <a:ext cx="5669280" cy="411480"/>
          </a:xfrm>
          <a:prstGeom prst="rect">
            <a:avLst/>
          </a:prstGeom>
          <a:noFill/>
        </p:spPr>
        <p:txBody>
          <a:bodyPr wrap="square" anchor="ctr">
            <a:spAutoFit/>
          </a:bodyPr>
          <a:lstStyle/>
          <a:p>
            <a:r>
              <a:rPr sz="1000" b="0" i="0">
                <a:solidFill>
                  <a:srgbClr val="111111"/>
                </a:solidFill>
                <a:latin typeface="Arial"/>
              </a:rPr>
              <a:t>You point to the sign and read it aloud.</a:t>
            </a:r>
          </a:p>
        </p:txBody>
      </p:sp>
      <p:sp>
        <p:nvSpPr>
          <p:cNvPr id="27" name="Rectangle 26"/>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9" name="Rectangle 28"/>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813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609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838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Scenario 2: Clinic Signage</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C  H  O  I  C  E     A     ·     B  E  S  T</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Consequence: A</a:t>
            </a:r>
          </a:p>
        </p:txBody>
      </p:sp>
      <p:sp>
        <p:nvSpPr>
          <p:cNvPr id="9" name="Rectangle 8"/>
          <p:cNvSpPr/>
          <p:nvPr/>
        </p:nvSpPr>
        <p:spPr>
          <a:xfrm>
            <a:off x="609904" y="2286000"/>
            <a:ext cx="54864" cy="731520"/>
          </a:xfrm>
          <a:prstGeom prst="rect">
            <a:avLst/>
          </a:prstGeom>
          <a:solidFill>
            <a:srgbClr val="74A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4768" y="2286000"/>
            <a:ext cx="10515600" cy="731520"/>
          </a:xfrm>
          <a:prstGeom prst="rect">
            <a:avLst/>
          </a:prstGeom>
          <a:solidFill>
            <a:srgbClr val="EEF6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504" y="2377440"/>
            <a:ext cx="10058400" cy="548640"/>
          </a:xfrm>
          <a:prstGeom prst="rect">
            <a:avLst/>
          </a:prstGeom>
          <a:noFill/>
        </p:spPr>
        <p:txBody>
          <a:bodyPr wrap="square">
            <a:spAutoFit/>
          </a:bodyPr>
          <a:lstStyle/>
          <a:p>
            <a:r>
              <a:rPr sz="1000" b="1" i="0">
                <a:solidFill>
                  <a:srgbClr val="74AE54"/>
                </a:solidFill>
                <a:latin typeface="Arial Black"/>
              </a:rPr>
              <a:t>Your choice: </a:t>
            </a:r>
            <a:r>
              <a:rPr sz="1000" b="0" i="0">
                <a:solidFill>
                  <a:srgbClr val="111111"/>
                </a:solidFill>
                <a:latin typeface="Arial"/>
              </a:rPr>
              <a:t>You walk the patient to the lab, then report the signage issue to facilities with a suggestion to add larger, lower signs with high-contrast text.</a:t>
            </a:r>
          </a:p>
        </p:txBody>
      </p:sp>
      <p:sp>
        <p:nvSpPr>
          <p:cNvPr id="12" name="TextBox 11"/>
          <p:cNvSpPr txBox="1"/>
          <p:nvPr/>
        </p:nvSpPr>
        <p:spPr>
          <a:xfrm>
            <a:off x="609904" y="3291840"/>
            <a:ext cx="10515600" cy="1371600"/>
          </a:xfrm>
          <a:prstGeom prst="rect">
            <a:avLst/>
          </a:prstGeom>
          <a:noFill/>
        </p:spPr>
        <p:txBody>
          <a:bodyPr wrap="square">
            <a:spAutoFit/>
          </a:bodyPr>
          <a:lstStyle/>
          <a:p>
            <a:r>
              <a:rPr sz="1200" b="1" i="0">
                <a:solidFill>
                  <a:srgbClr val="74AE54"/>
                </a:solidFill>
                <a:latin typeface="Arial Black"/>
              </a:rPr>
              <a:t>Result: </a:t>
            </a:r>
            <a:r>
              <a:rPr sz="1200" b="0" i="0">
                <a:solidFill>
                  <a:srgbClr val="111111"/>
                </a:solidFill>
                <a:latin typeface="Arial"/>
              </a:rPr>
              <a:t>The patient gets where they need to go. You've addressed the immediate need and the systemic barrier.</a:t>
            </a:r>
          </a:p>
        </p:txBody>
      </p:sp>
      <p:sp>
        <p:nvSpPr>
          <p:cNvPr id="13" name="Rectangle 12"/>
          <p:cNvSpPr/>
          <p:nvPr/>
        </p:nvSpPr>
        <p:spPr>
          <a:xfrm>
            <a:off x="609904" y="4572000"/>
            <a:ext cx="54864" cy="731520"/>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4768" y="4572000"/>
            <a:ext cx="10515600" cy="731520"/>
          </a:xfrm>
          <a:prstGeom prst="rect">
            <a:avLst/>
          </a:prstGeom>
          <a:solidFill>
            <a:srgbClr val="EA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504" y="4663440"/>
            <a:ext cx="10058400" cy="548640"/>
          </a:xfrm>
          <a:prstGeom prst="rect">
            <a:avLst/>
          </a:prstGeom>
          <a:noFill/>
        </p:spPr>
        <p:txBody>
          <a:bodyPr wrap="square">
            <a:spAutoFit/>
          </a:bodyPr>
          <a:lstStyle/>
          <a:p>
            <a:r>
              <a:rPr sz="1000" b="1" i="0">
                <a:solidFill>
                  <a:srgbClr val="245BAA"/>
                </a:solidFill>
                <a:latin typeface="Arial Black"/>
              </a:rPr>
              <a:t>Key Takeaway: </a:t>
            </a:r>
            <a:r>
              <a:rPr sz="1000" b="0" i="0">
                <a:solidFill>
                  <a:srgbClr val="111111"/>
                </a:solidFill>
                <a:latin typeface="Arial"/>
              </a:rPr>
              <a:t>Meeting technical standards doesn't guarantee practical accessibility. Consider accessibility from the user's perspective. Report barriers — don't just work around them.</a:t>
            </a:r>
          </a:p>
        </p:txBody>
      </p:sp>
      <p:sp>
        <p:nvSpPr>
          <p:cNvPr id="16" name="TextBox 15"/>
          <p:cNvSpPr txBox="1"/>
          <p:nvPr/>
        </p:nvSpPr>
        <p:spPr>
          <a:xfrm>
            <a:off x="609904" y="5577840"/>
            <a:ext cx="10515600" cy="274320"/>
          </a:xfrm>
          <a:prstGeom prst="rect">
            <a:avLst/>
          </a:prstGeom>
          <a:noFill/>
        </p:spPr>
        <p:txBody>
          <a:bodyPr wrap="square">
            <a:spAutoFit/>
          </a:bodyPr>
          <a:lstStyle/>
          <a:p>
            <a:r>
              <a:rPr sz="900" b="0" i="1">
                <a:solidFill>
                  <a:srgbClr val="245BAA"/>
                </a:solidFill>
                <a:latin typeface="Arial"/>
              </a:rPr>
              <a:t>Principle: Proactive Barrier Prevention · Independence &amp; Autonomy</a:t>
            </a:r>
          </a:p>
        </p:txBody>
      </p:sp>
      <p:sp>
        <p:nvSpPr>
          <p:cNvPr id="17" name="Rectangle 16"/>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19" name="Rectangle 18"/>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609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38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Scenario 2: Clinic Signage</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C  H  O  I  C  E     B     ·     A  C  C  E  P  T  A  B  L  E</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Consequence: B</a:t>
            </a:r>
          </a:p>
        </p:txBody>
      </p:sp>
      <p:sp>
        <p:nvSpPr>
          <p:cNvPr id="9" name="Rectangle 8"/>
          <p:cNvSpPr/>
          <p:nvPr/>
        </p:nvSpPr>
        <p:spPr>
          <a:xfrm>
            <a:off x="609904" y="2286000"/>
            <a:ext cx="54864" cy="731520"/>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4768" y="2286000"/>
            <a:ext cx="10515600" cy="731520"/>
          </a:xfrm>
          <a:prstGeom prst="rect">
            <a:avLst/>
          </a:prstGeom>
          <a:solidFill>
            <a:srgbClr val="EA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504" y="2377440"/>
            <a:ext cx="10058400" cy="548640"/>
          </a:xfrm>
          <a:prstGeom prst="rect">
            <a:avLst/>
          </a:prstGeom>
          <a:noFill/>
        </p:spPr>
        <p:txBody>
          <a:bodyPr wrap="square">
            <a:spAutoFit/>
          </a:bodyPr>
          <a:lstStyle/>
          <a:p>
            <a:r>
              <a:rPr sz="1000" b="1" i="0">
                <a:solidFill>
                  <a:srgbClr val="245BAA"/>
                </a:solidFill>
                <a:latin typeface="Arial Black"/>
              </a:rPr>
              <a:t>Your choice: </a:t>
            </a:r>
            <a:r>
              <a:rPr sz="1000" b="0" i="0">
                <a:solidFill>
                  <a:srgbClr val="111111"/>
                </a:solidFill>
                <a:latin typeface="Arial"/>
              </a:rPr>
              <a:t>You give clear verbal directions and offer to walk them partway.</a:t>
            </a:r>
          </a:p>
        </p:txBody>
      </p:sp>
      <p:sp>
        <p:nvSpPr>
          <p:cNvPr id="12" name="TextBox 11"/>
          <p:cNvSpPr txBox="1"/>
          <p:nvPr/>
        </p:nvSpPr>
        <p:spPr>
          <a:xfrm>
            <a:off x="609904" y="3291840"/>
            <a:ext cx="10515600" cy="1371600"/>
          </a:xfrm>
          <a:prstGeom prst="rect">
            <a:avLst/>
          </a:prstGeom>
          <a:noFill/>
        </p:spPr>
        <p:txBody>
          <a:bodyPr wrap="square">
            <a:spAutoFit/>
          </a:bodyPr>
          <a:lstStyle/>
          <a:p>
            <a:r>
              <a:rPr sz="1200" b="1" i="0">
                <a:solidFill>
                  <a:srgbClr val="245BAA"/>
                </a:solidFill>
                <a:latin typeface="Arial Black"/>
              </a:rPr>
              <a:t>Result: </a:t>
            </a:r>
            <a:r>
              <a:rPr sz="1200" b="0" i="0">
                <a:solidFill>
                  <a:srgbClr val="111111"/>
                </a:solidFill>
                <a:latin typeface="Arial"/>
              </a:rPr>
              <a:t>The patient finds the lab, but the signage problem remains for the next person.</a:t>
            </a:r>
          </a:p>
        </p:txBody>
      </p:sp>
      <p:sp>
        <p:nvSpPr>
          <p:cNvPr id="13" name="Rectangle 12"/>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15" name="Rectangle 14"/>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099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38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Scenario 2: Clinic Signage</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C  H  O  I  C  E     C     ·     P  O  O  R</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Consequence: C</a:t>
            </a:r>
          </a:p>
        </p:txBody>
      </p:sp>
      <p:sp>
        <p:nvSpPr>
          <p:cNvPr id="9" name="Rectangle 8"/>
          <p:cNvSpPr/>
          <p:nvPr/>
        </p:nvSpPr>
        <p:spPr>
          <a:xfrm>
            <a:off x="609904" y="2286000"/>
            <a:ext cx="54864" cy="731520"/>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4768" y="2286000"/>
            <a:ext cx="10515600" cy="731520"/>
          </a:xfrm>
          <a:prstGeom prst="rect">
            <a:avLst/>
          </a:prstGeom>
          <a:solidFill>
            <a:srgbClr val="FD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504" y="2377440"/>
            <a:ext cx="10058400" cy="548640"/>
          </a:xfrm>
          <a:prstGeom prst="rect">
            <a:avLst/>
          </a:prstGeom>
          <a:noFill/>
        </p:spPr>
        <p:txBody>
          <a:bodyPr wrap="square">
            <a:spAutoFit/>
          </a:bodyPr>
          <a:lstStyle/>
          <a:p>
            <a:r>
              <a:rPr sz="1000" b="1" i="0">
                <a:solidFill>
                  <a:srgbClr val="C0233B"/>
                </a:solidFill>
                <a:latin typeface="Arial Black"/>
              </a:rPr>
              <a:t>Your choice: </a:t>
            </a:r>
            <a:r>
              <a:rPr sz="1000" b="0" i="0">
                <a:solidFill>
                  <a:srgbClr val="111111"/>
                </a:solidFill>
                <a:latin typeface="Arial"/>
              </a:rPr>
              <a:t>You point to the sign and read it aloud.</a:t>
            </a:r>
          </a:p>
        </p:txBody>
      </p:sp>
      <p:sp>
        <p:nvSpPr>
          <p:cNvPr id="12" name="TextBox 11"/>
          <p:cNvSpPr txBox="1"/>
          <p:nvPr/>
        </p:nvSpPr>
        <p:spPr>
          <a:xfrm>
            <a:off x="609904" y="3291840"/>
            <a:ext cx="10515600" cy="1371600"/>
          </a:xfrm>
          <a:prstGeom prst="rect">
            <a:avLst/>
          </a:prstGeom>
          <a:noFill/>
        </p:spPr>
        <p:txBody>
          <a:bodyPr wrap="square">
            <a:spAutoFit/>
          </a:bodyPr>
          <a:lstStyle/>
          <a:p>
            <a:r>
              <a:rPr sz="1200" b="1" i="0">
                <a:solidFill>
                  <a:srgbClr val="C0233B"/>
                </a:solidFill>
                <a:latin typeface="Arial Black"/>
              </a:rPr>
              <a:t>Result: </a:t>
            </a:r>
            <a:r>
              <a:rPr sz="1200" b="0" i="0">
                <a:solidFill>
                  <a:srgbClr val="111111"/>
                </a:solidFill>
                <a:latin typeface="Arial"/>
              </a:rPr>
              <a:t>The patient feels singled out. The barrier isn't addressed.</a:t>
            </a:r>
          </a:p>
        </p:txBody>
      </p:sp>
      <p:sp>
        <p:nvSpPr>
          <p:cNvPr id="13" name="Rectangle 12"/>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15" name="Rectangle 14"/>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38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Scenario 3: Employee Awareness</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S  C  E  N  A  R  I  O</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Scenario 3: Employee Awareness</a:t>
            </a:r>
          </a:p>
        </p:txBody>
      </p:sp>
      <p:sp>
        <p:nvSpPr>
          <p:cNvPr id="9" name="Rounded Rectangle 8"/>
          <p:cNvSpPr/>
          <p:nvPr/>
        </p:nvSpPr>
        <p:spPr>
          <a:xfrm>
            <a:off x="609904" y="2560320"/>
            <a:ext cx="4114800" cy="3200400"/>
          </a:xfrm>
          <a:prstGeom prst="roundRect">
            <a:avLst/>
          </a:prstGeom>
          <a:solidFill>
            <a:srgbClr val="F4F4F4"/>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24304" y="3931920"/>
            <a:ext cx="2286000" cy="457200"/>
          </a:xfrm>
          <a:prstGeom prst="rect">
            <a:avLst/>
          </a:prstGeom>
          <a:noFill/>
        </p:spPr>
        <p:txBody>
          <a:bodyPr wrap="square">
            <a:spAutoFit/>
          </a:bodyPr>
          <a:lstStyle/>
          <a:p>
            <a:pPr algn="ctr"/>
            <a:r>
              <a:rPr sz="1100" b="0" i="1">
                <a:solidFill>
                  <a:srgbClr val="5A5A5A"/>
                </a:solidFill>
                <a:latin typeface="Arial"/>
              </a:rPr>
              <a:t>[Character Photo]</a:t>
            </a:r>
          </a:p>
        </p:txBody>
      </p:sp>
      <p:sp>
        <p:nvSpPr>
          <p:cNvPr id="11" name="Rectangle 10"/>
          <p:cNvSpPr/>
          <p:nvPr/>
        </p:nvSpPr>
        <p:spPr>
          <a:xfrm>
            <a:off x="5303520" y="2560320"/>
            <a:ext cx="54864" cy="1371600"/>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58384" y="2560320"/>
            <a:ext cx="6163056" cy="1371600"/>
          </a:xfrm>
          <a:prstGeom prst="rect">
            <a:avLst/>
          </a:prstGeom>
          <a:solidFill>
            <a:srgbClr val="FD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32120" y="2697480"/>
            <a:ext cx="5760720" cy="1097280"/>
          </a:xfrm>
          <a:prstGeom prst="rect">
            <a:avLst/>
          </a:prstGeom>
          <a:noFill/>
        </p:spPr>
        <p:txBody>
          <a:bodyPr wrap="square">
            <a:spAutoFit/>
          </a:bodyPr>
          <a:lstStyle/>
          <a:p>
            <a:r>
              <a:rPr sz="1100" b="0" i="0">
                <a:solidFill>
                  <a:srgbClr val="111111"/>
                </a:solidFill>
                <a:latin typeface="Arial"/>
              </a:rPr>
              <a:t>** Your team uses an accessibility checklist when supporting patients. A colleague mentions that a patient who speaks Cantonese and has a cognitive disability seemed confused during intake, even though the checklist was completed. Your colleague says, "We followed the checklist — I'm not sure what else we can do."</a:t>
            </a:r>
          </a:p>
        </p:txBody>
      </p:sp>
      <p:sp>
        <p:nvSpPr>
          <p:cNvPr id="14" name="TextBox 13"/>
          <p:cNvSpPr txBox="1"/>
          <p:nvPr/>
        </p:nvSpPr>
        <p:spPr>
          <a:xfrm>
            <a:off x="5303520" y="4206240"/>
            <a:ext cx="6217920" cy="320040"/>
          </a:xfrm>
          <a:prstGeom prst="rect">
            <a:avLst/>
          </a:prstGeom>
          <a:noFill/>
        </p:spPr>
        <p:txBody>
          <a:bodyPr wrap="square">
            <a:spAutoFit/>
          </a:bodyPr>
          <a:lstStyle/>
          <a:p>
            <a:r>
              <a:rPr sz="1400" b="1" i="0">
                <a:solidFill>
                  <a:srgbClr val="245BAA"/>
                </a:solidFill>
                <a:latin typeface="Arial Black"/>
              </a:rPr>
              <a:t>What do you do?</a:t>
            </a:r>
          </a:p>
        </p:txBody>
      </p:sp>
      <p:sp>
        <p:nvSpPr>
          <p:cNvPr id="15" name="Rounded Rectangle 14"/>
          <p:cNvSpPr/>
          <p:nvPr/>
        </p:nvSpPr>
        <p:spPr>
          <a:xfrm>
            <a:off x="5303520" y="4663440"/>
            <a:ext cx="6217920" cy="41148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394960" y="473202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A</a:t>
            </a:r>
          </a:p>
        </p:txBody>
      </p:sp>
      <p:sp>
        <p:nvSpPr>
          <p:cNvPr id="18" name="TextBox 17"/>
          <p:cNvSpPr txBox="1"/>
          <p:nvPr/>
        </p:nvSpPr>
        <p:spPr>
          <a:xfrm>
            <a:off x="5760720" y="4663440"/>
            <a:ext cx="5669280" cy="411480"/>
          </a:xfrm>
          <a:prstGeom prst="rect">
            <a:avLst/>
          </a:prstGeom>
          <a:noFill/>
        </p:spPr>
        <p:txBody>
          <a:bodyPr wrap="square" anchor="ctr">
            <a:spAutoFit/>
          </a:bodyPr>
          <a:lstStyle/>
          <a:p>
            <a:r>
              <a:rPr sz="1000" b="0" i="0">
                <a:solidFill>
                  <a:srgbClr val="111111"/>
                </a:solidFill>
                <a:latin typeface="Arial"/>
              </a:rPr>
              <a:t>You acknowledge the checklist is a starting point but suggest the team explore what barriers the patient actually experienced — language support, cognitive load, cultural context — and adapt the process.</a:t>
            </a:r>
          </a:p>
        </p:txBody>
      </p:sp>
      <p:sp>
        <p:nvSpPr>
          <p:cNvPr id="19" name="Rounded Rectangle 18"/>
          <p:cNvSpPr/>
          <p:nvPr/>
        </p:nvSpPr>
        <p:spPr>
          <a:xfrm>
            <a:off x="5303520" y="5166360"/>
            <a:ext cx="6217920" cy="41148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394960" y="523494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B</a:t>
            </a:r>
          </a:p>
        </p:txBody>
      </p:sp>
      <p:sp>
        <p:nvSpPr>
          <p:cNvPr id="22" name="TextBox 21"/>
          <p:cNvSpPr txBox="1"/>
          <p:nvPr/>
        </p:nvSpPr>
        <p:spPr>
          <a:xfrm>
            <a:off x="5760720" y="5166360"/>
            <a:ext cx="5669280" cy="411480"/>
          </a:xfrm>
          <a:prstGeom prst="rect">
            <a:avLst/>
          </a:prstGeom>
          <a:noFill/>
        </p:spPr>
        <p:txBody>
          <a:bodyPr wrap="square" anchor="ctr">
            <a:spAutoFit/>
          </a:bodyPr>
          <a:lstStyle/>
          <a:p>
            <a:r>
              <a:rPr sz="1000" b="0" i="0">
                <a:solidFill>
                  <a:srgbClr val="111111"/>
                </a:solidFill>
                <a:latin typeface="Arial"/>
              </a:rPr>
              <a:t>You suggest requesting an interpreter for next time.</a:t>
            </a:r>
          </a:p>
        </p:txBody>
      </p:sp>
      <p:sp>
        <p:nvSpPr>
          <p:cNvPr id="23" name="Rounded Rectangle 22"/>
          <p:cNvSpPr/>
          <p:nvPr/>
        </p:nvSpPr>
        <p:spPr>
          <a:xfrm>
            <a:off x="5303520" y="5669280"/>
            <a:ext cx="6217920" cy="41148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394960" y="573786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C</a:t>
            </a:r>
          </a:p>
        </p:txBody>
      </p:sp>
      <p:sp>
        <p:nvSpPr>
          <p:cNvPr id="26" name="TextBox 25"/>
          <p:cNvSpPr txBox="1"/>
          <p:nvPr/>
        </p:nvSpPr>
        <p:spPr>
          <a:xfrm>
            <a:off x="5760720" y="5669280"/>
            <a:ext cx="5669280" cy="411480"/>
          </a:xfrm>
          <a:prstGeom prst="rect">
            <a:avLst/>
          </a:prstGeom>
          <a:noFill/>
        </p:spPr>
        <p:txBody>
          <a:bodyPr wrap="square" anchor="ctr">
            <a:spAutoFit/>
          </a:bodyPr>
          <a:lstStyle/>
          <a:p>
            <a:r>
              <a:rPr sz="1000" b="0" i="0">
                <a:solidFill>
                  <a:srgbClr val="111111"/>
                </a:solidFill>
                <a:latin typeface="Arial"/>
              </a:rPr>
              <a:t>You agree the checklist was completed and move on.</a:t>
            </a:r>
          </a:p>
        </p:txBody>
      </p:sp>
      <p:sp>
        <p:nvSpPr>
          <p:cNvPr id="27" name="Rectangle 26"/>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9" name="Rectangle 28"/>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8385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Scenario 3: Employee Awareness</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C  H  O  I  C  E     A     ·     B  E  S  T</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Consequence: A</a:t>
            </a:r>
          </a:p>
        </p:txBody>
      </p:sp>
      <p:sp>
        <p:nvSpPr>
          <p:cNvPr id="9" name="Rectangle 8"/>
          <p:cNvSpPr/>
          <p:nvPr/>
        </p:nvSpPr>
        <p:spPr>
          <a:xfrm>
            <a:off x="609904" y="2286000"/>
            <a:ext cx="54864" cy="731520"/>
          </a:xfrm>
          <a:prstGeom prst="rect">
            <a:avLst/>
          </a:prstGeom>
          <a:solidFill>
            <a:srgbClr val="74A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4768" y="2286000"/>
            <a:ext cx="10515600" cy="731520"/>
          </a:xfrm>
          <a:prstGeom prst="rect">
            <a:avLst/>
          </a:prstGeom>
          <a:solidFill>
            <a:srgbClr val="EEF6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504" y="2377440"/>
            <a:ext cx="10058400" cy="548640"/>
          </a:xfrm>
          <a:prstGeom prst="rect">
            <a:avLst/>
          </a:prstGeom>
          <a:noFill/>
        </p:spPr>
        <p:txBody>
          <a:bodyPr wrap="square">
            <a:spAutoFit/>
          </a:bodyPr>
          <a:lstStyle/>
          <a:p>
            <a:r>
              <a:rPr sz="1000" b="1" i="0">
                <a:solidFill>
                  <a:srgbClr val="74AE54"/>
                </a:solidFill>
                <a:latin typeface="Arial Black"/>
              </a:rPr>
              <a:t>Your choice: </a:t>
            </a:r>
            <a:r>
              <a:rPr sz="1000" b="0" i="0">
                <a:solidFill>
                  <a:srgbClr val="111111"/>
                </a:solidFill>
                <a:latin typeface="Arial"/>
              </a:rPr>
              <a:t>You acknowledge the checklist is a starting point but suggest the team explore what barriers the patient actually experienced — language support, cognitive load, cultural context — and adapt the process.</a:t>
            </a:r>
          </a:p>
        </p:txBody>
      </p:sp>
      <p:sp>
        <p:nvSpPr>
          <p:cNvPr id="12" name="TextBox 11"/>
          <p:cNvSpPr txBox="1"/>
          <p:nvPr/>
        </p:nvSpPr>
        <p:spPr>
          <a:xfrm>
            <a:off x="609904" y="3291840"/>
            <a:ext cx="10515600" cy="1371600"/>
          </a:xfrm>
          <a:prstGeom prst="rect">
            <a:avLst/>
          </a:prstGeom>
          <a:noFill/>
        </p:spPr>
        <p:txBody>
          <a:bodyPr wrap="square">
            <a:spAutoFit/>
          </a:bodyPr>
          <a:lstStyle/>
          <a:p>
            <a:r>
              <a:rPr sz="1200" b="1" i="0">
                <a:solidFill>
                  <a:srgbClr val="74AE54"/>
                </a:solidFill>
                <a:latin typeface="Arial Black"/>
              </a:rPr>
              <a:t>Result: </a:t>
            </a:r>
            <a:r>
              <a:rPr sz="1200" b="0" i="0">
                <a:solidFill>
                  <a:srgbClr val="111111"/>
                </a:solidFill>
                <a:latin typeface="Arial"/>
              </a:rPr>
              <a:t>The team begins to see accessibility as more than a checklist. They plan to involve interpretation services and simplify intake materials.</a:t>
            </a:r>
          </a:p>
        </p:txBody>
      </p:sp>
      <p:sp>
        <p:nvSpPr>
          <p:cNvPr id="13" name="Rectangle 12"/>
          <p:cNvSpPr/>
          <p:nvPr/>
        </p:nvSpPr>
        <p:spPr>
          <a:xfrm>
            <a:off x="609904" y="4572000"/>
            <a:ext cx="54864" cy="731520"/>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4768" y="4572000"/>
            <a:ext cx="10515600" cy="731520"/>
          </a:xfrm>
          <a:prstGeom prst="rect">
            <a:avLst/>
          </a:prstGeom>
          <a:solidFill>
            <a:srgbClr val="EA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504" y="4663440"/>
            <a:ext cx="10058400" cy="548640"/>
          </a:xfrm>
          <a:prstGeom prst="rect">
            <a:avLst/>
          </a:prstGeom>
          <a:noFill/>
        </p:spPr>
        <p:txBody>
          <a:bodyPr wrap="square">
            <a:spAutoFit/>
          </a:bodyPr>
          <a:lstStyle/>
          <a:p>
            <a:r>
              <a:rPr sz="1000" b="1" i="0">
                <a:solidFill>
                  <a:srgbClr val="245BAA"/>
                </a:solidFill>
                <a:latin typeface="Arial Black"/>
              </a:rPr>
              <a:t>Key Takeaway: </a:t>
            </a:r>
            <a:r>
              <a:rPr sz="1000" b="0" i="0">
                <a:solidFill>
                  <a:srgbClr val="111111"/>
                </a:solidFill>
                <a:latin typeface="Arial"/>
              </a:rPr>
              <a:t>Accessibility requires awareness, curiosity, and flexibility beyond any checklist. Take time to listen, ask respectful questions, and adapt to individual needs.</a:t>
            </a:r>
          </a:p>
        </p:txBody>
      </p:sp>
      <p:sp>
        <p:nvSpPr>
          <p:cNvPr id="16" name="TextBox 15"/>
          <p:cNvSpPr txBox="1"/>
          <p:nvPr/>
        </p:nvSpPr>
        <p:spPr>
          <a:xfrm>
            <a:off x="609904" y="5577840"/>
            <a:ext cx="10515600" cy="274320"/>
          </a:xfrm>
          <a:prstGeom prst="rect">
            <a:avLst/>
          </a:prstGeom>
          <a:noFill/>
        </p:spPr>
        <p:txBody>
          <a:bodyPr wrap="square">
            <a:spAutoFit/>
          </a:bodyPr>
          <a:lstStyle/>
          <a:p>
            <a:r>
              <a:rPr sz="900" b="0" i="1">
                <a:solidFill>
                  <a:srgbClr val="245BAA"/>
                </a:solidFill>
                <a:latin typeface="Arial"/>
              </a:rPr>
              <a:t>Principle: Equity, Rights &amp; Intersectionality · Inclusion</a:t>
            </a:r>
          </a:p>
        </p:txBody>
      </p:sp>
      <p:sp>
        <p:nvSpPr>
          <p:cNvPr id="17" name="Rectangle 16"/>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19" name="Rectangle 18"/>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67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Scenario 3: Employee Awareness</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C  H  O  I  C  E     B     ·     A  C  C  E  P  T  A  B  L  E</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Consequence: B</a:t>
            </a:r>
          </a:p>
        </p:txBody>
      </p:sp>
      <p:sp>
        <p:nvSpPr>
          <p:cNvPr id="9" name="Rectangle 8"/>
          <p:cNvSpPr/>
          <p:nvPr/>
        </p:nvSpPr>
        <p:spPr>
          <a:xfrm>
            <a:off x="609904" y="2286000"/>
            <a:ext cx="54864" cy="731520"/>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4768" y="2286000"/>
            <a:ext cx="10515600" cy="731520"/>
          </a:xfrm>
          <a:prstGeom prst="rect">
            <a:avLst/>
          </a:prstGeom>
          <a:solidFill>
            <a:srgbClr val="EA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504" y="2377440"/>
            <a:ext cx="10058400" cy="548640"/>
          </a:xfrm>
          <a:prstGeom prst="rect">
            <a:avLst/>
          </a:prstGeom>
          <a:noFill/>
        </p:spPr>
        <p:txBody>
          <a:bodyPr wrap="square">
            <a:spAutoFit/>
          </a:bodyPr>
          <a:lstStyle/>
          <a:p>
            <a:r>
              <a:rPr sz="1000" b="1" i="0">
                <a:solidFill>
                  <a:srgbClr val="245BAA"/>
                </a:solidFill>
                <a:latin typeface="Arial Black"/>
              </a:rPr>
              <a:t>Your choice: </a:t>
            </a:r>
            <a:r>
              <a:rPr sz="1000" b="0" i="0">
                <a:solidFill>
                  <a:srgbClr val="111111"/>
                </a:solidFill>
                <a:latin typeface="Arial"/>
              </a:rPr>
              <a:t>You suggest requesting an interpreter for next time.</a:t>
            </a:r>
          </a:p>
        </p:txBody>
      </p:sp>
      <p:sp>
        <p:nvSpPr>
          <p:cNvPr id="12" name="TextBox 11"/>
          <p:cNvSpPr txBox="1"/>
          <p:nvPr/>
        </p:nvSpPr>
        <p:spPr>
          <a:xfrm>
            <a:off x="609904" y="3291840"/>
            <a:ext cx="10515600" cy="1371600"/>
          </a:xfrm>
          <a:prstGeom prst="rect">
            <a:avLst/>
          </a:prstGeom>
          <a:noFill/>
        </p:spPr>
        <p:txBody>
          <a:bodyPr wrap="square">
            <a:spAutoFit/>
          </a:bodyPr>
          <a:lstStyle/>
          <a:p>
            <a:r>
              <a:rPr sz="1200" b="1" i="0">
                <a:solidFill>
                  <a:srgbClr val="245BAA"/>
                </a:solidFill>
                <a:latin typeface="Arial Black"/>
              </a:rPr>
              <a:t>Result: </a:t>
            </a:r>
            <a:r>
              <a:rPr sz="1200" b="0" i="0">
                <a:solidFill>
                  <a:srgbClr val="111111"/>
                </a:solidFill>
                <a:latin typeface="Arial"/>
              </a:rPr>
              <a:t>One barrier is addressed, but the cognitive and cultural dimensions are still missed.</a:t>
            </a:r>
          </a:p>
        </p:txBody>
      </p:sp>
      <p:sp>
        <p:nvSpPr>
          <p:cNvPr id="13" name="Rectangle 12"/>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15" name="Rectangle 14"/>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671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Scenario 3: Employee Awareness</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C  H  O  I  C  E     C     ·     P  O  O  R</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Consequence: C</a:t>
            </a:r>
          </a:p>
        </p:txBody>
      </p:sp>
      <p:sp>
        <p:nvSpPr>
          <p:cNvPr id="9" name="Rectangle 8"/>
          <p:cNvSpPr/>
          <p:nvPr/>
        </p:nvSpPr>
        <p:spPr>
          <a:xfrm>
            <a:off x="609904" y="2286000"/>
            <a:ext cx="54864" cy="731520"/>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4768" y="2286000"/>
            <a:ext cx="10515600" cy="731520"/>
          </a:xfrm>
          <a:prstGeom prst="rect">
            <a:avLst/>
          </a:prstGeom>
          <a:solidFill>
            <a:srgbClr val="FD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504" y="2377440"/>
            <a:ext cx="10058400" cy="548640"/>
          </a:xfrm>
          <a:prstGeom prst="rect">
            <a:avLst/>
          </a:prstGeom>
          <a:noFill/>
        </p:spPr>
        <p:txBody>
          <a:bodyPr wrap="square">
            <a:spAutoFit/>
          </a:bodyPr>
          <a:lstStyle/>
          <a:p>
            <a:r>
              <a:rPr sz="1000" b="1" i="0">
                <a:solidFill>
                  <a:srgbClr val="C0233B"/>
                </a:solidFill>
                <a:latin typeface="Arial Black"/>
              </a:rPr>
              <a:t>Your choice: </a:t>
            </a:r>
            <a:r>
              <a:rPr sz="1000" b="0" i="0">
                <a:solidFill>
                  <a:srgbClr val="111111"/>
                </a:solidFill>
                <a:latin typeface="Arial"/>
              </a:rPr>
              <a:t>You agree the checklist was completed and move on.</a:t>
            </a:r>
          </a:p>
        </p:txBody>
      </p:sp>
      <p:sp>
        <p:nvSpPr>
          <p:cNvPr id="12" name="TextBox 11"/>
          <p:cNvSpPr txBox="1"/>
          <p:nvPr/>
        </p:nvSpPr>
        <p:spPr>
          <a:xfrm>
            <a:off x="609904" y="3291840"/>
            <a:ext cx="10515600" cy="1371600"/>
          </a:xfrm>
          <a:prstGeom prst="rect">
            <a:avLst/>
          </a:prstGeom>
          <a:noFill/>
        </p:spPr>
        <p:txBody>
          <a:bodyPr wrap="square">
            <a:spAutoFit/>
          </a:bodyPr>
          <a:lstStyle/>
          <a:p>
            <a:r>
              <a:rPr sz="1200" b="1" i="0">
                <a:solidFill>
                  <a:srgbClr val="C0233B"/>
                </a:solidFill>
                <a:latin typeface="Arial Black"/>
              </a:rPr>
              <a:t>Result: </a:t>
            </a:r>
            <a:r>
              <a:rPr sz="1200" b="0" i="0">
                <a:solidFill>
                  <a:srgbClr val="111111"/>
                </a:solidFill>
                <a:latin typeface="Arial"/>
              </a:rPr>
              <a:t>The patient's experience doesn't improve. The team misses a learning opportunity.</a:t>
            </a:r>
          </a:p>
        </p:txBody>
      </p:sp>
      <p:sp>
        <p:nvSpPr>
          <p:cNvPr id="13" name="Rectangle 12"/>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15" name="Rectangle 14"/>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95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Knowledge Check 1</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K  N  O  W  L  E  D  G  E     C  H  E  C  K</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Knowledge Check</a:t>
            </a:r>
          </a:p>
        </p:txBody>
      </p:sp>
      <p:sp>
        <p:nvSpPr>
          <p:cNvPr id="9" name="TextBox 8"/>
          <p:cNvSpPr txBox="1"/>
          <p:nvPr/>
        </p:nvSpPr>
        <p:spPr>
          <a:xfrm>
            <a:off x="609904" y="2286000"/>
            <a:ext cx="5943600" cy="731520"/>
          </a:xfrm>
          <a:prstGeom prst="rect">
            <a:avLst/>
          </a:prstGeom>
          <a:noFill/>
        </p:spPr>
        <p:txBody>
          <a:bodyPr wrap="square">
            <a:spAutoFit/>
          </a:bodyPr>
          <a:lstStyle/>
          <a:p>
            <a:r>
              <a:rPr sz="1400" b="1" i="0">
                <a:solidFill>
                  <a:srgbClr val="192858"/>
                </a:solidFill>
                <a:latin typeface="Arial"/>
              </a:rPr>
              <a:t>Which model of disability focuses on removing barriers in the environment rather than fixing the individual?</a:t>
            </a:r>
          </a:p>
        </p:txBody>
      </p:sp>
      <p:sp>
        <p:nvSpPr>
          <p:cNvPr id="10" name="Rounded Rectangle 9"/>
          <p:cNvSpPr/>
          <p:nvPr/>
        </p:nvSpPr>
        <p:spPr>
          <a:xfrm>
            <a:off x="609904" y="3200400"/>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19632" y="329184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A</a:t>
            </a:r>
          </a:p>
        </p:txBody>
      </p:sp>
      <p:sp>
        <p:nvSpPr>
          <p:cNvPr id="12" name="TextBox 11"/>
          <p:cNvSpPr txBox="1"/>
          <p:nvPr/>
        </p:nvSpPr>
        <p:spPr>
          <a:xfrm>
            <a:off x="1112824" y="3200400"/>
            <a:ext cx="5303520" cy="457200"/>
          </a:xfrm>
          <a:prstGeom prst="rect">
            <a:avLst/>
          </a:prstGeom>
          <a:noFill/>
        </p:spPr>
        <p:txBody>
          <a:bodyPr wrap="square" anchor="ctr">
            <a:spAutoFit/>
          </a:bodyPr>
          <a:lstStyle/>
          <a:p>
            <a:r>
              <a:rPr sz="1100" b="0" i="0">
                <a:solidFill>
                  <a:srgbClr val="111111"/>
                </a:solidFill>
                <a:latin typeface="Arial"/>
              </a:rPr>
              <a:t>Medical model</a:t>
            </a:r>
          </a:p>
        </p:txBody>
      </p:sp>
      <p:sp>
        <p:nvSpPr>
          <p:cNvPr id="13" name="Rounded Rectangle 12"/>
          <p:cNvSpPr/>
          <p:nvPr/>
        </p:nvSpPr>
        <p:spPr>
          <a:xfrm>
            <a:off x="609904" y="3767328"/>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9632" y="3858768"/>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B</a:t>
            </a:r>
          </a:p>
        </p:txBody>
      </p:sp>
      <p:sp>
        <p:nvSpPr>
          <p:cNvPr id="15" name="TextBox 14"/>
          <p:cNvSpPr txBox="1"/>
          <p:nvPr/>
        </p:nvSpPr>
        <p:spPr>
          <a:xfrm>
            <a:off x="1112824" y="3767328"/>
            <a:ext cx="5303520" cy="457200"/>
          </a:xfrm>
          <a:prstGeom prst="rect">
            <a:avLst/>
          </a:prstGeom>
          <a:noFill/>
        </p:spPr>
        <p:txBody>
          <a:bodyPr wrap="square" anchor="ctr">
            <a:spAutoFit/>
          </a:bodyPr>
          <a:lstStyle/>
          <a:p>
            <a:r>
              <a:rPr sz="1100" b="0" i="0">
                <a:solidFill>
                  <a:srgbClr val="111111"/>
                </a:solidFill>
                <a:latin typeface="Arial"/>
              </a:rPr>
              <a:t>Social model</a:t>
            </a:r>
          </a:p>
        </p:txBody>
      </p:sp>
      <p:sp>
        <p:nvSpPr>
          <p:cNvPr id="16" name="Rounded Rectangle 15"/>
          <p:cNvSpPr/>
          <p:nvPr/>
        </p:nvSpPr>
        <p:spPr>
          <a:xfrm>
            <a:off x="609904" y="4334256"/>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9632" y="4425696"/>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C</a:t>
            </a:r>
          </a:p>
        </p:txBody>
      </p:sp>
      <p:sp>
        <p:nvSpPr>
          <p:cNvPr id="18" name="TextBox 17"/>
          <p:cNvSpPr txBox="1"/>
          <p:nvPr/>
        </p:nvSpPr>
        <p:spPr>
          <a:xfrm>
            <a:off x="1112824" y="4334256"/>
            <a:ext cx="5303520" cy="457200"/>
          </a:xfrm>
          <a:prstGeom prst="rect">
            <a:avLst/>
          </a:prstGeom>
          <a:noFill/>
        </p:spPr>
        <p:txBody>
          <a:bodyPr wrap="square" anchor="ctr">
            <a:spAutoFit/>
          </a:bodyPr>
          <a:lstStyle/>
          <a:p>
            <a:r>
              <a:rPr sz="1100" b="0" i="0">
                <a:solidFill>
                  <a:srgbClr val="111111"/>
                </a:solidFill>
                <a:latin typeface="Arial"/>
              </a:rPr>
              <a:t>Charity model</a:t>
            </a:r>
          </a:p>
        </p:txBody>
      </p:sp>
      <p:sp>
        <p:nvSpPr>
          <p:cNvPr id="19" name="Rounded Rectangle 18"/>
          <p:cNvSpPr/>
          <p:nvPr/>
        </p:nvSpPr>
        <p:spPr>
          <a:xfrm>
            <a:off x="609904" y="4901184"/>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19632" y="4992624"/>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D</a:t>
            </a:r>
          </a:p>
        </p:txBody>
      </p:sp>
      <p:sp>
        <p:nvSpPr>
          <p:cNvPr id="21" name="TextBox 20"/>
          <p:cNvSpPr txBox="1"/>
          <p:nvPr/>
        </p:nvSpPr>
        <p:spPr>
          <a:xfrm>
            <a:off x="1112824" y="4901184"/>
            <a:ext cx="5303520" cy="457200"/>
          </a:xfrm>
          <a:prstGeom prst="rect">
            <a:avLst/>
          </a:prstGeom>
          <a:noFill/>
        </p:spPr>
        <p:txBody>
          <a:bodyPr wrap="square" anchor="ctr">
            <a:spAutoFit/>
          </a:bodyPr>
          <a:lstStyle/>
          <a:p>
            <a:r>
              <a:rPr sz="1100" b="0" i="0">
                <a:solidFill>
                  <a:srgbClr val="111111"/>
                </a:solidFill>
                <a:latin typeface="Arial"/>
              </a:rPr>
              <a:t>Rights-based model</a:t>
            </a:r>
          </a:p>
        </p:txBody>
      </p:sp>
      <p:sp>
        <p:nvSpPr>
          <p:cNvPr id="22" name="Rounded Rectangle 21"/>
          <p:cNvSpPr/>
          <p:nvPr/>
        </p:nvSpPr>
        <p:spPr>
          <a:xfrm>
            <a:off x="6858000" y="2286000"/>
            <a:ext cx="4754880" cy="3200400"/>
          </a:xfrm>
          <a:prstGeom prst="roundRect">
            <a:avLst/>
          </a:prstGeom>
          <a:solidFill>
            <a:srgbClr val="EAF1FA"/>
          </a:solidFill>
          <a:ln>
            <a:solidFill>
              <a:srgbClr val="24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0" y="2560320"/>
            <a:ext cx="4206240" cy="365760"/>
          </a:xfrm>
          <a:prstGeom prst="rect">
            <a:avLst/>
          </a:prstGeom>
          <a:noFill/>
        </p:spPr>
        <p:txBody>
          <a:bodyPr wrap="square">
            <a:spAutoFit/>
          </a:bodyPr>
          <a:lstStyle/>
          <a:p>
            <a:r>
              <a:rPr sz="1000" b="1" i="0">
                <a:solidFill>
                  <a:srgbClr val="245BAA"/>
                </a:solidFill>
                <a:latin typeface="Arial Black"/>
              </a:rPr>
              <a:t>FEEDBACK</a:t>
            </a:r>
          </a:p>
        </p:txBody>
      </p:sp>
      <p:sp>
        <p:nvSpPr>
          <p:cNvPr id="24" name="TextBox 23"/>
          <p:cNvSpPr txBox="1"/>
          <p:nvPr/>
        </p:nvSpPr>
        <p:spPr>
          <a:xfrm>
            <a:off x="7132320" y="3017520"/>
            <a:ext cx="4206240" cy="1828800"/>
          </a:xfrm>
          <a:prstGeom prst="rect">
            <a:avLst/>
          </a:prstGeom>
          <a:noFill/>
        </p:spPr>
        <p:txBody>
          <a:bodyPr wrap="square">
            <a:spAutoFit/>
          </a:bodyPr>
          <a:lstStyle/>
          <a:p>
            <a:r>
              <a:rPr sz="1100" b="0" i="1">
                <a:solidFill>
                  <a:srgbClr val="5A5A5A"/>
                </a:solidFill>
                <a:latin typeface="Arial"/>
              </a:rPr>
              <a:t>Select an answer to see feedback.</a:t>
            </a:r>
          </a:p>
        </p:txBody>
      </p:sp>
      <p:sp>
        <p:nvSpPr>
          <p:cNvPr id="25" name="Rectangle 24"/>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7" name="Rectangle 26"/>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957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Knowledge Check 1</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K  N  O  W  L  E  D  G  E     C  H  E  C  K</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Knowledge Check</a:t>
            </a:r>
          </a:p>
        </p:txBody>
      </p:sp>
      <p:sp>
        <p:nvSpPr>
          <p:cNvPr id="9" name="TextBox 8"/>
          <p:cNvSpPr txBox="1"/>
          <p:nvPr/>
        </p:nvSpPr>
        <p:spPr>
          <a:xfrm>
            <a:off x="609904" y="2286000"/>
            <a:ext cx="5943600" cy="731520"/>
          </a:xfrm>
          <a:prstGeom prst="rect">
            <a:avLst/>
          </a:prstGeom>
          <a:noFill/>
        </p:spPr>
        <p:txBody>
          <a:bodyPr wrap="square">
            <a:spAutoFit/>
          </a:bodyPr>
          <a:lstStyle/>
          <a:p>
            <a:r>
              <a:rPr sz="1400" b="1" i="0">
                <a:solidFill>
                  <a:srgbClr val="192858"/>
                </a:solidFill>
                <a:latin typeface="Arial"/>
              </a:rPr>
              <a:t>Which model of disability focuses on removing barriers in the environment rather than fixing the individual?</a:t>
            </a:r>
          </a:p>
        </p:txBody>
      </p:sp>
      <p:sp>
        <p:nvSpPr>
          <p:cNvPr id="10" name="Rounded Rectangle 9"/>
          <p:cNvSpPr/>
          <p:nvPr/>
        </p:nvSpPr>
        <p:spPr>
          <a:xfrm>
            <a:off x="609904" y="3200400"/>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19632" y="329184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A</a:t>
            </a:r>
          </a:p>
        </p:txBody>
      </p:sp>
      <p:sp>
        <p:nvSpPr>
          <p:cNvPr id="12" name="TextBox 11"/>
          <p:cNvSpPr txBox="1"/>
          <p:nvPr/>
        </p:nvSpPr>
        <p:spPr>
          <a:xfrm>
            <a:off x="1112824" y="3200400"/>
            <a:ext cx="5303520" cy="457200"/>
          </a:xfrm>
          <a:prstGeom prst="rect">
            <a:avLst/>
          </a:prstGeom>
          <a:noFill/>
        </p:spPr>
        <p:txBody>
          <a:bodyPr wrap="square" anchor="ctr">
            <a:spAutoFit/>
          </a:bodyPr>
          <a:lstStyle/>
          <a:p>
            <a:r>
              <a:rPr sz="1100" b="0" i="0">
                <a:solidFill>
                  <a:srgbClr val="5A5A5A"/>
                </a:solidFill>
                <a:latin typeface="Arial"/>
              </a:rPr>
              <a:t>Medical model</a:t>
            </a:r>
          </a:p>
        </p:txBody>
      </p:sp>
      <p:sp>
        <p:nvSpPr>
          <p:cNvPr id="13" name="Rounded Rectangle 12"/>
          <p:cNvSpPr/>
          <p:nvPr/>
        </p:nvSpPr>
        <p:spPr>
          <a:xfrm>
            <a:off x="609904" y="3767328"/>
            <a:ext cx="5943600" cy="457200"/>
          </a:xfrm>
          <a:prstGeom prst="roundRect">
            <a:avLst/>
          </a:prstGeom>
          <a:solidFill>
            <a:srgbClr val="EEF6E7"/>
          </a:solidFill>
          <a:ln>
            <a:solidFill>
              <a:srgbClr val="74AE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9632" y="3858768"/>
            <a:ext cx="274320" cy="274320"/>
          </a:xfrm>
          <a:prstGeom prst="ellipse">
            <a:avLst/>
          </a:prstGeom>
          <a:solidFill>
            <a:srgbClr val="74A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a:t>
            </a:r>
          </a:p>
        </p:txBody>
      </p:sp>
      <p:sp>
        <p:nvSpPr>
          <p:cNvPr id="15" name="TextBox 14"/>
          <p:cNvSpPr txBox="1"/>
          <p:nvPr/>
        </p:nvSpPr>
        <p:spPr>
          <a:xfrm>
            <a:off x="1112824" y="3767328"/>
            <a:ext cx="5303520" cy="457200"/>
          </a:xfrm>
          <a:prstGeom prst="rect">
            <a:avLst/>
          </a:prstGeom>
          <a:noFill/>
        </p:spPr>
        <p:txBody>
          <a:bodyPr wrap="square" anchor="ctr">
            <a:spAutoFit/>
          </a:bodyPr>
          <a:lstStyle/>
          <a:p>
            <a:r>
              <a:rPr sz="1100" b="0" i="0">
                <a:solidFill>
                  <a:srgbClr val="74AE54"/>
                </a:solidFill>
                <a:latin typeface="Arial"/>
              </a:rPr>
              <a:t>Social model</a:t>
            </a:r>
          </a:p>
        </p:txBody>
      </p:sp>
      <p:sp>
        <p:nvSpPr>
          <p:cNvPr id="16" name="Rounded Rectangle 15"/>
          <p:cNvSpPr/>
          <p:nvPr/>
        </p:nvSpPr>
        <p:spPr>
          <a:xfrm>
            <a:off x="609904" y="4334256"/>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9632" y="4425696"/>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C</a:t>
            </a:r>
          </a:p>
        </p:txBody>
      </p:sp>
      <p:sp>
        <p:nvSpPr>
          <p:cNvPr id="18" name="TextBox 17"/>
          <p:cNvSpPr txBox="1"/>
          <p:nvPr/>
        </p:nvSpPr>
        <p:spPr>
          <a:xfrm>
            <a:off x="1112824" y="4334256"/>
            <a:ext cx="5303520" cy="457200"/>
          </a:xfrm>
          <a:prstGeom prst="rect">
            <a:avLst/>
          </a:prstGeom>
          <a:noFill/>
        </p:spPr>
        <p:txBody>
          <a:bodyPr wrap="square" anchor="ctr">
            <a:spAutoFit/>
          </a:bodyPr>
          <a:lstStyle/>
          <a:p>
            <a:r>
              <a:rPr sz="1100" b="0" i="0">
                <a:solidFill>
                  <a:srgbClr val="5A5A5A"/>
                </a:solidFill>
                <a:latin typeface="Arial"/>
              </a:rPr>
              <a:t>Charity model</a:t>
            </a:r>
          </a:p>
        </p:txBody>
      </p:sp>
      <p:sp>
        <p:nvSpPr>
          <p:cNvPr id="19" name="Rounded Rectangle 18"/>
          <p:cNvSpPr/>
          <p:nvPr/>
        </p:nvSpPr>
        <p:spPr>
          <a:xfrm>
            <a:off x="609904" y="4901184"/>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19632" y="4992624"/>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D</a:t>
            </a:r>
          </a:p>
        </p:txBody>
      </p:sp>
      <p:sp>
        <p:nvSpPr>
          <p:cNvPr id="21" name="TextBox 20"/>
          <p:cNvSpPr txBox="1"/>
          <p:nvPr/>
        </p:nvSpPr>
        <p:spPr>
          <a:xfrm>
            <a:off x="1112824" y="4901184"/>
            <a:ext cx="5303520" cy="457200"/>
          </a:xfrm>
          <a:prstGeom prst="rect">
            <a:avLst/>
          </a:prstGeom>
          <a:noFill/>
        </p:spPr>
        <p:txBody>
          <a:bodyPr wrap="square" anchor="ctr">
            <a:spAutoFit/>
          </a:bodyPr>
          <a:lstStyle/>
          <a:p>
            <a:r>
              <a:rPr sz="1100" b="0" i="0">
                <a:solidFill>
                  <a:srgbClr val="5A5A5A"/>
                </a:solidFill>
                <a:latin typeface="Arial"/>
              </a:rPr>
              <a:t>Rights-based model</a:t>
            </a:r>
          </a:p>
        </p:txBody>
      </p:sp>
      <p:sp>
        <p:nvSpPr>
          <p:cNvPr id="22" name="Rounded Rectangle 21"/>
          <p:cNvSpPr/>
          <p:nvPr/>
        </p:nvSpPr>
        <p:spPr>
          <a:xfrm>
            <a:off x="6858000" y="2286000"/>
            <a:ext cx="4754880" cy="3200400"/>
          </a:xfrm>
          <a:prstGeom prst="roundRect">
            <a:avLst/>
          </a:prstGeom>
          <a:solidFill>
            <a:srgbClr val="EEF6E7"/>
          </a:solidFill>
          <a:ln>
            <a:solidFill>
              <a:srgbClr val="74AE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0" y="2560320"/>
            <a:ext cx="4206240" cy="457200"/>
          </a:xfrm>
          <a:prstGeom prst="rect">
            <a:avLst/>
          </a:prstGeom>
          <a:noFill/>
        </p:spPr>
        <p:txBody>
          <a:bodyPr wrap="square">
            <a:spAutoFit/>
          </a:bodyPr>
          <a:lstStyle/>
          <a:p>
            <a:r>
              <a:rPr sz="1600" b="1" i="0">
                <a:solidFill>
                  <a:srgbClr val="74AE54"/>
                </a:solidFill>
                <a:latin typeface="Arial Black"/>
              </a:rPr>
              <a:t>✓  Correct!</a:t>
            </a:r>
          </a:p>
        </p:txBody>
      </p:sp>
      <p:sp>
        <p:nvSpPr>
          <p:cNvPr id="24" name="TextBox 23"/>
          <p:cNvSpPr txBox="1"/>
          <p:nvPr/>
        </p:nvSpPr>
        <p:spPr>
          <a:xfrm>
            <a:off x="7132320" y="3200400"/>
            <a:ext cx="4206240" cy="1828800"/>
          </a:xfrm>
          <a:prstGeom prst="rect">
            <a:avLst/>
          </a:prstGeom>
          <a:noFill/>
        </p:spPr>
        <p:txBody>
          <a:bodyPr wrap="square">
            <a:spAutoFit/>
          </a:bodyPr>
          <a:lstStyle/>
          <a:p>
            <a:r>
              <a:rPr sz="1100" b="0" i="0">
                <a:solidFill>
                  <a:srgbClr val="111111"/>
                </a:solidFill>
                <a:latin typeface="Arial"/>
              </a:rPr>
              <a:t>That's right. The social model focuses on barriers in systems and environments, not individual deficits.</a:t>
            </a:r>
          </a:p>
          <a:p>
            <a:pPr>
              <a:spcBef>
                <a:spcPts val="1200"/>
              </a:spcBef>
            </a:pPr>
            <a:r>
              <a:rPr sz="1000" b="1" i="0">
                <a:solidFill>
                  <a:srgbClr val="74AE54"/>
                </a:solidFill>
                <a:latin typeface="Arial"/>
              </a:rPr>
              <a:t>Answer: b) Social model</a:t>
            </a:r>
          </a:p>
        </p:txBody>
      </p:sp>
      <p:sp>
        <p:nvSpPr>
          <p:cNvPr id="25" name="Rectangle 24"/>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7" name="Rectangle 26"/>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95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524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Knowledge Check 1</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K  N  O  W  L  E  D  G  E     C  H  E  C  K</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Knowledge Check</a:t>
            </a:r>
          </a:p>
        </p:txBody>
      </p:sp>
      <p:sp>
        <p:nvSpPr>
          <p:cNvPr id="9" name="TextBox 8"/>
          <p:cNvSpPr txBox="1"/>
          <p:nvPr/>
        </p:nvSpPr>
        <p:spPr>
          <a:xfrm>
            <a:off x="609904" y="2286000"/>
            <a:ext cx="5943600" cy="731520"/>
          </a:xfrm>
          <a:prstGeom prst="rect">
            <a:avLst/>
          </a:prstGeom>
          <a:noFill/>
        </p:spPr>
        <p:txBody>
          <a:bodyPr wrap="square">
            <a:spAutoFit/>
          </a:bodyPr>
          <a:lstStyle/>
          <a:p>
            <a:r>
              <a:rPr sz="1400" b="1" i="0">
                <a:solidFill>
                  <a:srgbClr val="192858"/>
                </a:solidFill>
                <a:latin typeface="Arial"/>
              </a:rPr>
              <a:t>Which model of disability focuses on removing barriers in the environment rather than fixing the individual?</a:t>
            </a:r>
          </a:p>
        </p:txBody>
      </p:sp>
      <p:sp>
        <p:nvSpPr>
          <p:cNvPr id="10" name="Rounded Rectangle 9"/>
          <p:cNvSpPr/>
          <p:nvPr/>
        </p:nvSpPr>
        <p:spPr>
          <a:xfrm>
            <a:off x="609904" y="3200400"/>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19632" y="329184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A</a:t>
            </a:r>
          </a:p>
        </p:txBody>
      </p:sp>
      <p:sp>
        <p:nvSpPr>
          <p:cNvPr id="12" name="TextBox 11"/>
          <p:cNvSpPr txBox="1"/>
          <p:nvPr/>
        </p:nvSpPr>
        <p:spPr>
          <a:xfrm>
            <a:off x="1112824" y="3200400"/>
            <a:ext cx="5303520" cy="457200"/>
          </a:xfrm>
          <a:prstGeom prst="rect">
            <a:avLst/>
          </a:prstGeom>
          <a:noFill/>
        </p:spPr>
        <p:txBody>
          <a:bodyPr wrap="square" anchor="ctr">
            <a:spAutoFit/>
          </a:bodyPr>
          <a:lstStyle/>
          <a:p>
            <a:r>
              <a:rPr sz="1100" b="0" i="0">
                <a:solidFill>
                  <a:srgbClr val="111111"/>
                </a:solidFill>
                <a:latin typeface="Arial"/>
              </a:rPr>
              <a:t>Medical model</a:t>
            </a:r>
          </a:p>
        </p:txBody>
      </p:sp>
      <p:sp>
        <p:nvSpPr>
          <p:cNvPr id="13" name="Rounded Rectangle 12"/>
          <p:cNvSpPr/>
          <p:nvPr/>
        </p:nvSpPr>
        <p:spPr>
          <a:xfrm>
            <a:off x="609904" y="3767328"/>
            <a:ext cx="5943600" cy="457200"/>
          </a:xfrm>
          <a:prstGeom prst="roundRect">
            <a:avLst/>
          </a:prstGeom>
          <a:solidFill>
            <a:srgbClr val="EEF6E7"/>
          </a:solidFill>
          <a:ln>
            <a:solidFill>
              <a:srgbClr val="74AE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9632" y="3858768"/>
            <a:ext cx="274320" cy="274320"/>
          </a:xfrm>
          <a:prstGeom prst="ellipse">
            <a:avLst/>
          </a:prstGeom>
          <a:solidFill>
            <a:srgbClr val="74A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B</a:t>
            </a:r>
          </a:p>
        </p:txBody>
      </p:sp>
      <p:sp>
        <p:nvSpPr>
          <p:cNvPr id="15" name="TextBox 14"/>
          <p:cNvSpPr txBox="1"/>
          <p:nvPr/>
        </p:nvSpPr>
        <p:spPr>
          <a:xfrm>
            <a:off x="1112824" y="3767328"/>
            <a:ext cx="5303520" cy="457200"/>
          </a:xfrm>
          <a:prstGeom prst="rect">
            <a:avLst/>
          </a:prstGeom>
          <a:noFill/>
        </p:spPr>
        <p:txBody>
          <a:bodyPr wrap="square" anchor="ctr">
            <a:spAutoFit/>
          </a:bodyPr>
          <a:lstStyle/>
          <a:p>
            <a:r>
              <a:rPr sz="1100" b="0" i="0">
                <a:solidFill>
                  <a:srgbClr val="111111"/>
                </a:solidFill>
                <a:latin typeface="Arial"/>
              </a:rPr>
              <a:t>Social model</a:t>
            </a:r>
          </a:p>
        </p:txBody>
      </p:sp>
      <p:sp>
        <p:nvSpPr>
          <p:cNvPr id="16" name="Rounded Rectangle 15"/>
          <p:cNvSpPr/>
          <p:nvPr/>
        </p:nvSpPr>
        <p:spPr>
          <a:xfrm>
            <a:off x="609904" y="4334256"/>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9632" y="4425696"/>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C</a:t>
            </a:r>
          </a:p>
        </p:txBody>
      </p:sp>
      <p:sp>
        <p:nvSpPr>
          <p:cNvPr id="18" name="TextBox 17"/>
          <p:cNvSpPr txBox="1"/>
          <p:nvPr/>
        </p:nvSpPr>
        <p:spPr>
          <a:xfrm>
            <a:off x="1112824" y="4334256"/>
            <a:ext cx="5303520" cy="457200"/>
          </a:xfrm>
          <a:prstGeom prst="rect">
            <a:avLst/>
          </a:prstGeom>
          <a:noFill/>
        </p:spPr>
        <p:txBody>
          <a:bodyPr wrap="square" anchor="ctr">
            <a:spAutoFit/>
          </a:bodyPr>
          <a:lstStyle/>
          <a:p>
            <a:r>
              <a:rPr sz="1100" b="0" i="0">
                <a:solidFill>
                  <a:srgbClr val="111111"/>
                </a:solidFill>
                <a:latin typeface="Arial"/>
              </a:rPr>
              <a:t>Charity model</a:t>
            </a:r>
          </a:p>
        </p:txBody>
      </p:sp>
      <p:sp>
        <p:nvSpPr>
          <p:cNvPr id="19" name="Rounded Rectangle 18"/>
          <p:cNvSpPr/>
          <p:nvPr/>
        </p:nvSpPr>
        <p:spPr>
          <a:xfrm>
            <a:off x="609904" y="4901184"/>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19632" y="4992624"/>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D</a:t>
            </a:r>
          </a:p>
        </p:txBody>
      </p:sp>
      <p:sp>
        <p:nvSpPr>
          <p:cNvPr id="21" name="TextBox 20"/>
          <p:cNvSpPr txBox="1"/>
          <p:nvPr/>
        </p:nvSpPr>
        <p:spPr>
          <a:xfrm>
            <a:off x="1112824" y="4901184"/>
            <a:ext cx="5303520" cy="457200"/>
          </a:xfrm>
          <a:prstGeom prst="rect">
            <a:avLst/>
          </a:prstGeom>
          <a:noFill/>
        </p:spPr>
        <p:txBody>
          <a:bodyPr wrap="square" anchor="ctr">
            <a:spAutoFit/>
          </a:bodyPr>
          <a:lstStyle/>
          <a:p>
            <a:r>
              <a:rPr sz="1100" b="0" i="0">
                <a:solidFill>
                  <a:srgbClr val="111111"/>
                </a:solidFill>
                <a:latin typeface="Arial"/>
              </a:rPr>
              <a:t>Rights-based model</a:t>
            </a:r>
          </a:p>
        </p:txBody>
      </p:sp>
      <p:sp>
        <p:nvSpPr>
          <p:cNvPr id="22" name="Rounded Rectangle 21"/>
          <p:cNvSpPr/>
          <p:nvPr/>
        </p:nvSpPr>
        <p:spPr>
          <a:xfrm>
            <a:off x="6858000" y="2286000"/>
            <a:ext cx="4754880" cy="3200400"/>
          </a:xfrm>
          <a:prstGeom prst="roundRect">
            <a:avLst/>
          </a:prstGeom>
          <a:solidFill>
            <a:srgbClr val="FDF2F3"/>
          </a:solidFill>
          <a:ln>
            <a:solidFill>
              <a:srgbClr val="C0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0" y="2560320"/>
            <a:ext cx="4206240" cy="457200"/>
          </a:xfrm>
          <a:prstGeom prst="rect">
            <a:avLst/>
          </a:prstGeom>
          <a:noFill/>
        </p:spPr>
        <p:txBody>
          <a:bodyPr wrap="square">
            <a:spAutoFit/>
          </a:bodyPr>
          <a:lstStyle/>
          <a:p>
            <a:r>
              <a:rPr sz="1600" b="1" i="0">
                <a:solidFill>
                  <a:srgbClr val="C0233B"/>
                </a:solidFill>
                <a:latin typeface="Arial Black"/>
              </a:rPr>
              <a:t>✗  Not quite.</a:t>
            </a:r>
          </a:p>
        </p:txBody>
      </p:sp>
      <p:sp>
        <p:nvSpPr>
          <p:cNvPr id="24" name="TextBox 23"/>
          <p:cNvSpPr txBox="1"/>
          <p:nvPr/>
        </p:nvSpPr>
        <p:spPr>
          <a:xfrm>
            <a:off x="7132320" y="3200400"/>
            <a:ext cx="4206240" cy="1828800"/>
          </a:xfrm>
          <a:prstGeom prst="rect">
            <a:avLst/>
          </a:prstGeom>
          <a:noFill/>
        </p:spPr>
        <p:txBody>
          <a:bodyPr wrap="square">
            <a:spAutoFit/>
          </a:bodyPr>
          <a:lstStyle/>
          <a:p>
            <a:r>
              <a:rPr sz="1100" b="0" i="0">
                <a:solidFill>
                  <a:srgbClr val="111111"/>
                </a:solidFill>
                <a:latin typeface="Arial"/>
              </a:rPr>
              <a:t>Not quite. The social model emphasizes environmental barriers. Review Screen 1.4.</a:t>
            </a:r>
          </a:p>
          <a:p>
            <a:pPr>
              <a:spcBef>
                <a:spcPts val="1200"/>
              </a:spcBef>
            </a:pPr>
            <a:r>
              <a:rPr sz="1000" b="1" i="0">
                <a:solidFill>
                  <a:srgbClr val="74AE54"/>
                </a:solidFill>
                <a:latin typeface="Arial"/>
              </a:rPr>
              <a:t>The correct answer is: b) Social model</a:t>
            </a:r>
          </a:p>
        </p:txBody>
      </p:sp>
      <p:sp>
        <p:nvSpPr>
          <p:cNvPr id="25" name="Rectangle 24"/>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7" name="Rectangle 26"/>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95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5243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Knowledge Check 1</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K  N  O  W  L  E  D  G  E     C  H  E  C  K</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Knowledge Check</a:t>
            </a:r>
          </a:p>
        </p:txBody>
      </p:sp>
      <p:sp>
        <p:nvSpPr>
          <p:cNvPr id="9" name="TextBox 8"/>
          <p:cNvSpPr txBox="1"/>
          <p:nvPr/>
        </p:nvSpPr>
        <p:spPr>
          <a:xfrm>
            <a:off x="609904" y="2286000"/>
            <a:ext cx="5943600" cy="731520"/>
          </a:xfrm>
          <a:prstGeom prst="rect">
            <a:avLst/>
          </a:prstGeom>
          <a:noFill/>
        </p:spPr>
        <p:txBody>
          <a:bodyPr wrap="square">
            <a:spAutoFit/>
          </a:bodyPr>
          <a:lstStyle/>
          <a:p>
            <a:r>
              <a:rPr sz="1400" b="1" i="0">
                <a:solidFill>
                  <a:srgbClr val="192858"/>
                </a:solidFill>
                <a:latin typeface="Arial"/>
              </a:rPr>
              <a:t>Under the AODA, which of the following is an obligation for Ontario public sector organizations like UHN?</a:t>
            </a:r>
          </a:p>
        </p:txBody>
      </p:sp>
      <p:sp>
        <p:nvSpPr>
          <p:cNvPr id="10" name="Rounded Rectangle 9"/>
          <p:cNvSpPr/>
          <p:nvPr/>
        </p:nvSpPr>
        <p:spPr>
          <a:xfrm>
            <a:off x="609904" y="3200400"/>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19632" y="329184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A</a:t>
            </a:r>
          </a:p>
        </p:txBody>
      </p:sp>
      <p:sp>
        <p:nvSpPr>
          <p:cNvPr id="12" name="TextBox 11"/>
          <p:cNvSpPr txBox="1"/>
          <p:nvPr/>
        </p:nvSpPr>
        <p:spPr>
          <a:xfrm>
            <a:off x="1112824" y="3200400"/>
            <a:ext cx="5303520" cy="457200"/>
          </a:xfrm>
          <a:prstGeom prst="rect">
            <a:avLst/>
          </a:prstGeom>
          <a:noFill/>
        </p:spPr>
        <p:txBody>
          <a:bodyPr wrap="square" anchor="ctr">
            <a:spAutoFit/>
          </a:bodyPr>
          <a:lstStyle/>
          <a:p>
            <a:r>
              <a:rPr sz="1100" b="0" i="0">
                <a:solidFill>
                  <a:srgbClr val="111111"/>
                </a:solidFill>
                <a:latin typeface="Arial"/>
              </a:rPr>
              <a:t>Provide disability awareness training to all staff</a:t>
            </a:r>
          </a:p>
        </p:txBody>
      </p:sp>
      <p:sp>
        <p:nvSpPr>
          <p:cNvPr id="13" name="Rounded Rectangle 12"/>
          <p:cNvSpPr/>
          <p:nvPr/>
        </p:nvSpPr>
        <p:spPr>
          <a:xfrm>
            <a:off x="609904" y="3767328"/>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9632" y="3858768"/>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B</a:t>
            </a:r>
          </a:p>
        </p:txBody>
      </p:sp>
      <p:sp>
        <p:nvSpPr>
          <p:cNvPr id="15" name="TextBox 14"/>
          <p:cNvSpPr txBox="1"/>
          <p:nvPr/>
        </p:nvSpPr>
        <p:spPr>
          <a:xfrm>
            <a:off x="1112824" y="3767328"/>
            <a:ext cx="5303520" cy="457200"/>
          </a:xfrm>
          <a:prstGeom prst="rect">
            <a:avLst/>
          </a:prstGeom>
          <a:noFill/>
        </p:spPr>
        <p:txBody>
          <a:bodyPr wrap="square" anchor="ctr">
            <a:spAutoFit/>
          </a:bodyPr>
          <a:lstStyle/>
          <a:p>
            <a:r>
              <a:rPr sz="1100" b="0" i="0">
                <a:solidFill>
                  <a:srgbClr val="111111"/>
                </a:solidFill>
                <a:latin typeface="Arial"/>
              </a:rPr>
              <a:t>Hire a minimum percentage of employees with disabilities</a:t>
            </a:r>
          </a:p>
        </p:txBody>
      </p:sp>
      <p:sp>
        <p:nvSpPr>
          <p:cNvPr id="16" name="Rounded Rectangle 15"/>
          <p:cNvSpPr/>
          <p:nvPr/>
        </p:nvSpPr>
        <p:spPr>
          <a:xfrm>
            <a:off x="609904" y="4334256"/>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9632" y="4425696"/>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C</a:t>
            </a:r>
          </a:p>
        </p:txBody>
      </p:sp>
      <p:sp>
        <p:nvSpPr>
          <p:cNvPr id="18" name="TextBox 17"/>
          <p:cNvSpPr txBox="1"/>
          <p:nvPr/>
        </p:nvSpPr>
        <p:spPr>
          <a:xfrm>
            <a:off x="1112824" y="4334256"/>
            <a:ext cx="5303520" cy="457200"/>
          </a:xfrm>
          <a:prstGeom prst="rect">
            <a:avLst/>
          </a:prstGeom>
          <a:noFill/>
        </p:spPr>
        <p:txBody>
          <a:bodyPr wrap="square" anchor="ctr">
            <a:spAutoFit/>
          </a:bodyPr>
          <a:lstStyle/>
          <a:p>
            <a:r>
              <a:rPr sz="1100" b="0" i="0">
                <a:solidFill>
                  <a:srgbClr val="111111"/>
                </a:solidFill>
                <a:latin typeface="Arial"/>
              </a:rPr>
              <a:t>Eliminate all physical barriers within 5 years</a:t>
            </a:r>
          </a:p>
        </p:txBody>
      </p:sp>
      <p:sp>
        <p:nvSpPr>
          <p:cNvPr id="19" name="Rounded Rectangle 18"/>
          <p:cNvSpPr/>
          <p:nvPr/>
        </p:nvSpPr>
        <p:spPr>
          <a:xfrm>
            <a:off x="609904" y="4901184"/>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19632" y="4992624"/>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D</a:t>
            </a:r>
          </a:p>
        </p:txBody>
      </p:sp>
      <p:sp>
        <p:nvSpPr>
          <p:cNvPr id="21" name="TextBox 20"/>
          <p:cNvSpPr txBox="1"/>
          <p:nvPr/>
        </p:nvSpPr>
        <p:spPr>
          <a:xfrm>
            <a:off x="1112824" y="4901184"/>
            <a:ext cx="5303520" cy="457200"/>
          </a:xfrm>
          <a:prstGeom prst="rect">
            <a:avLst/>
          </a:prstGeom>
          <a:noFill/>
        </p:spPr>
        <p:txBody>
          <a:bodyPr wrap="square" anchor="ctr">
            <a:spAutoFit/>
          </a:bodyPr>
          <a:lstStyle/>
          <a:p>
            <a:r>
              <a:rPr sz="1100" b="0" i="0">
                <a:solidFill>
                  <a:srgbClr val="111111"/>
                </a:solidFill>
                <a:latin typeface="Arial"/>
              </a:rPr>
              <a:t>Assign a dedicated accessibility officer</a:t>
            </a:r>
          </a:p>
        </p:txBody>
      </p:sp>
      <p:sp>
        <p:nvSpPr>
          <p:cNvPr id="22" name="Rounded Rectangle 21"/>
          <p:cNvSpPr/>
          <p:nvPr/>
        </p:nvSpPr>
        <p:spPr>
          <a:xfrm>
            <a:off x="6858000" y="2286000"/>
            <a:ext cx="4754880" cy="3200400"/>
          </a:xfrm>
          <a:prstGeom prst="roundRect">
            <a:avLst/>
          </a:prstGeom>
          <a:solidFill>
            <a:srgbClr val="EAF1FA"/>
          </a:solidFill>
          <a:ln>
            <a:solidFill>
              <a:srgbClr val="24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0" y="2560320"/>
            <a:ext cx="4206240" cy="365760"/>
          </a:xfrm>
          <a:prstGeom prst="rect">
            <a:avLst/>
          </a:prstGeom>
          <a:noFill/>
        </p:spPr>
        <p:txBody>
          <a:bodyPr wrap="square">
            <a:spAutoFit/>
          </a:bodyPr>
          <a:lstStyle/>
          <a:p>
            <a:r>
              <a:rPr sz="1000" b="1" i="0">
                <a:solidFill>
                  <a:srgbClr val="245BAA"/>
                </a:solidFill>
                <a:latin typeface="Arial Black"/>
              </a:rPr>
              <a:t>FEEDBACK</a:t>
            </a:r>
          </a:p>
        </p:txBody>
      </p:sp>
      <p:sp>
        <p:nvSpPr>
          <p:cNvPr id="24" name="TextBox 23"/>
          <p:cNvSpPr txBox="1"/>
          <p:nvPr/>
        </p:nvSpPr>
        <p:spPr>
          <a:xfrm>
            <a:off x="7132320" y="3017520"/>
            <a:ext cx="4206240" cy="1828800"/>
          </a:xfrm>
          <a:prstGeom prst="rect">
            <a:avLst/>
          </a:prstGeom>
          <a:noFill/>
        </p:spPr>
        <p:txBody>
          <a:bodyPr wrap="square">
            <a:spAutoFit/>
          </a:bodyPr>
          <a:lstStyle/>
          <a:p>
            <a:r>
              <a:rPr sz="1100" b="0" i="1">
                <a:solidFill>
                  <a:srgbClr val="5A5A5A"/>
                </a:solidFill>
                <a:latin typeface="Arial"/>
              </a:rPr>
              <a:t>Select an answer to see feedback.</a:t>
            </a:r>
          </a:p>
        </p:txBody>
      </p:sp>
      <p:sp>
        <p:nvSpPr>
          <p:cNvPr id="25" name="Rectangle 24"/>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7" name="Rectangle 26"/>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95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524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752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Knowledge Check 1</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K  N  O  W  L  E  D  G  E     C  H  E  C  K</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Knowledge Check</a:t>
            </a:r>
          </a:p>
        </p:txBody>
      </p:sp>
      <p:sp>
        <p:nvSpPr>
          <p:cNvPr id="9" name="TextBox 8"/>
          <p:cNvSpPr txBox="1"/>
          <p:nvPr/>
        </p:nvSpPr>
        <p:spPr>
          <a:xfrm>
            <a:off x="609904" y="2286000"/>
            <a:ext cx="5943600" cy="731520"/>
          </a:xfrm>
          <a:prstGeom prst="rect">
            <a:avLst/>
          </a:prstGeom>
          <a:noFill/>
        </p:spPr>
        <p:txBody>
          <a:bodyPr wrap="square">
            <a:spAutoFit/>
          </a:bodyPr>
          <a:lstStyle/>
          <a:p>
            <a:r>
              <a:rPr sz="1400" b="1" i="0">
                <a:solidFill>
                  <a:srgbClr val="192858"/>
                </a:solidFill>
                <a:latin typeface="Arial"/>
              </a:rPr>
              <a:t>Under the AODA, which of the following is an obligation for Ontario public sector organizations like UHN?</a:t>
            </a:r>
          </a:p>
        </p:txBody>
      </p:sp>
      <p:sp>
        <p:nvSpPr>
          <p:cNvPr id="10" name="Rounded Rectangle 9"/>
          <p:cNvSpPr/>
          <p:nvPr/>
        </p:nvSpPr>
        <p:spPr>
          <a:xfrm>
            <a:off x="609904" y="3200400"/>
            <a:ext cx="5943600" cy="457200"/>
          </a:xfrm>
          <a:prstGeom prst="roundRect">
            <a:avLst/>
          </a:prstGeom>
          <a:solidFill>
            <a:srgbClr val="EEF6E7"/>
          </a:solidFill>
          <a:ln>
            <a:solidFill>
              <a:srgbClr val="74AE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19632" y="3291840"/>
            <a:ext cx="274320" cy="274320"/>
          </a:xfrm>
          <a:prstGeom prst="ellipse">
            <a:avLst/>
          </a:prstGeom>
          <a:solidFill>
            <a:srgbClr val="74A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a:t>
            </a:r>
          </a:p>
        </p:txBody>
      </p:sp>
      <p:sp>
        <p:nvSpPr>
          <p:cNvPr id="12" name="TextBox 11"/>
          <p:cNvSpPr txBox="1"/>
          <p:nvPr/>
        </p:nvSpPr>
        <p:spPr>
          <a:xfrm>
            <a:off x="1112824" y="3200400"/>
            <a:ext cx="5303520" cy="457200"/>
          </a:xfrm>
          <a:prstGeom prst="rect">
            <a:avLst/>
          </a:prstGeom>
          <a:noFill/>
        </p:spPr>
        <p:txBody>
          <a:bodyPr wrap="square" anchor="ctr">
            <a:spAutoFit/>
          </a:bodyPr>
          <a:lstStyle/>
          <a:p>
            <a:r>
              <a:rPr sz="1100" b="0" i="0">
                <a:solidFill>
                  <a:srgbClr val="74AE54"/>
                </a:solidFill>
                <a:latin typeface="Arial"/>
              </a:rPr>
              <a:t>Provide disability awareness training to all staff</a:t>
            </a:r>
          </a:p>
        </p:txBody>
      </p:sp>
      <p:sp>
        <p:nvSpPr>
          <p:cNvPr id="13" name="Rounded Rectangle 12"/>
          <p:cNvSpPr/>
          <p:nvPr/>
        </p:nvSpPr>
        <p:spPr>
          <a:xfrm>
            <a:off x="609904" y="3767328"/>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9632" y="3858768"/>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B</a:t>
            </a:r>
          </a:p>
        </p:txBody>
      </p:sp>
      <p:sp>
        <p:nvSpPr>
          <p:cNvPr id="15" name="TextBox 14"/>
          <p:cNvSpPr txBox="1"/>
          <p:nvPr/>
        </p:nvSpPr>
        <p:spPr>
          <a:xfrm>
            <a:off x="1112824" y="3767328"/>
            <a:ext cx="5303520" cy="457200"/>
          </a:xfrm>
          <a:prstGeom prst="rect">
            <a:avLst/>
          </a:prstGeom>
          <a:noFill/>
        </p:spPr>
        <p:txBody>
          <a:bodyPr wrap="square" anchor="ctr">
            <a:spAutoFit/>
          </a:bodyPr>
          <a:lstStyle/>
          <a:p>
            <a:r>
              <a:rPr sz="1100" b="0" i="0">
                <a:solidFill>
                  <a:srgbClr val="5A5A5A"/>
                </a:solidFill>
                <a:latin typeface="Arial"/>
              </a:rPr>
              <a:t>Hire a minimum percentage of employees with disabilities</a:t>
            </a:r>
          </a:p>
        </p:txBody>
      </p:sp>
      <p:sp>
        <p:nvSpPr>
          <p:cNvPr id="16" name="Rounded Rectangle 15"/>
          <p:cNvSpPr/>
          <p:nvPr/>
        </p:nvSpPr>
        <p:spPr>
          <a:xfrm>
            <a:off x="609904" y="4334256"/>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9632" y="4425696"/>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C</a:t>
            </a:r>
          </a:p>
        </p:txBody>
      </p:sp>
      <p:sp>
        <p:nvSpPr>
          <p:cNvPr id="18" name="TextBox 17"/>
          <p:cNvSpPr txBox="1"/>
          <p:nvPr/>
        </p:nvSpPr>
        <p:spPr>
          <a:xfrm>
            <a:off x="1112824" y="4334256"/>
            <a:ext cx="5303520" cy="457200"/>
          </a:xfrm>
          <a:prstGeom prst="rect">
            <a:avLst/>
          </a:prstGeom>
          <a:noFill/>
        </p:spPr>
        <p:txBody>
          <a:bodyPr wrap="square" anchor="ctr">
            <a:spAutoFit/>
          </a:bodyPr>
          <a:lstStyle/>
          <a:p>
            <a:r>
              <a:rPr sz="1100" b="0" i="0">
                <a:solidFill>
                  <a:srgbClr val="5A5A5A"/>
                </a:solidFill>
                <a:latin typeface="Arial"/>
              </a:rPr>
              <a:t>Eliminate all physical barriers within 5 years</a:t>
            </a:r>
          </a:p>
        </p:txBody>
      </p:sp>
      <p:sp>
        <p:nvSpPr>
          <p:cNvPr id="19" name="Rounded Rectangle 18"/>
          <p:cNvSpPr/>
          <p:nvPr/>
        </p:nvSpPr>
        <p:spPr>
          <a:xfrm>
            <a:off x="609904" y="4901184"/>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19632" y="4992624"/>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D</a:t>
            </a:r>
          </a:p>
        </p:txBody>
      </p:sp>
      <p:sp>
        <p:nvSpPr>
          <p:cNvPr id="21" name="TextBox 20"/>
          <p:cNvSpPr txBox="1"/>
          <p:nvPr/>
        </p:nvSpPr>
        <p:spPr>
          <a:xfrm>
            <a:off x="1112824" y="4901184"/>
            <a:ext cx="5303520" cy="457200"/>
          </a:xfrm>
          <a:prstGeom prst="rect">
            <a:avLst/>
          </a:prstGeom>
          <a:noFill/>
        </p:spPr>
        <p:txBody>
          <a:bodyPr wrap="square" anchor="ctr">
            <a:spAutoFit/>
          </a:bodyPr>
          <a:lstStyle/>
          <a:p>
            <a:r>
              <a:rPr sz="1100" b="0" i="0">
                <a:solidFill>
                  <a:srgbClr val="5A5A5A"/>
                </a:solidFill>
                <a:latin typeface="Arial"/>
              </a:rPr>
              <a:t>Assign a dedicated accessibility officer</a:t>
            </a:r>
          </a:p>
        </p:txBody>
      </p:sp>
      <p:sp>
        <p:nvSpPr>
          <p:cNvPr id="22" name="Rounded Rectangle 21"/>
          <p:cNvSpPr/>
          <p:nvPr/>
        </p:nvSpPr>
        <p:spPr>
          <a:xfrm>
            <a:off x="6858000" y="2286000"/>
            <a:ext cx="4754880" cy="3200400"/>
          </a:xfrm>
          <a:prstGeom prst="roundRect">
            <a:avLst/>
          </a:prstGeom>
          <a:solidFill>
            <a:srgbClr val="EEF6E7"/>
          </a:solidFill>
          <a:ln>
            <a:solidFill>
              <a:srgbClr val="74AE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0" y="2560320"/>
            <a:ext cx="4206240" cy="457200"/>
          </a:xfrm>
          <a:prstGeom prst="rect">
            <a:avLst/>
          </a:prstGeom>
          <a:noFill/>
        </p:spPr>
        <p:txBody>
          <a:bodyPr wrap="square">
            <a:spAutoFit/>
          </a:bodyPr>
          <a:lstStyle/>
          <a:p>
            <a:r>
              <a:rPr sz="1600" b="1" i="0">
                <a:solidFill>
                  <a:srgbClr val="74AE54"/>
                </a:solidFill>
                <a:latin typeface="Arial Black"/>
              </a:rPr>
              <a:t>✓  Correct!</a:t>
            </a:r>
          </a:p>
        </p:txBody>
      </p:sp>
      <p:sp>
        <p:nvSpPr>
          <p:cNvPr id="24" name="TextBox 23"/>
          <p:cNvSpPr txBox="1"/>
          <p:nvPr/>
        </p:nvSpPr>
        <p:spPr>
          <a:xfrm>
            <a:off x="7132320" y="3200400"/>
            <a:ext cx="4206240" cy="1828800"/>
          </a:xfrm>
          <a:prstGeom prst="rect">
            <a:avLst/>
          </a:prstGeom>
          <a:noFill/>
        </p:spPr>
        <p:txBody>
          <a:bodyPr wrap="square">
            <a:spAutoFit/>
          </a:bodyPr>
          <a:lstStyle/>
          <a:p>
            <a:r>
              <a:rPr sz="1100" b="0" i="0">
                <a:solidFill>
                  <a:srgbClr val="111111"/>
                </a:solidFill>
                <a:latin typeface="Arial"/>
              </a:rPr>
              <a:t>That's right. The social model focuses on barriers in systems and environments, not individual deficits.</a:t>
            </a:r>
          </a:p>
          <a:p>
            <a:pPr>
              <a:spcBef>
                <a:spcPts val="1200"/>
              </a:spcBef>
            </a:pPr>
            <a:r>
              <a:rPr sz="1000" b="1" i="0">
                <a:solidFill>
                  <a:srgbClr val="74AE54"/>
                </a:solidFill>
                <a:latin typeface="Arial"/>
              </a:rPr>
              <a:t>Answer: a) Provide disability awareness training to all staff</a:t>
            </a:r>
          </a:p>
        </p:txBody>
      </p:sp>
      <p:sp>
        <p:nvSpPr>
          <p:cNvPr id="25" name="Rectangle 24"/>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7" name="Rectangle 26"/>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95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524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7529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Knowledge Check 1</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K  N  O  W  L  E  D  G  E     C  H  E  C  K</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Knowledge Check</a:t>
            </a:r>
          </a:p>
        </p:txBody>
      </p:sp>
      <p:sp>
        <p:nvSpPr>
          <p:cNvPr id="9" name="TextBox 8"/>
          <p:cNvSpPr txBox="1"/>
          <p:nvPr/>
        </p:nvSpPr>
        <p:spPr>
          <a:xfrm>
            <a:off x="609904" y="2286000"/>
            <a:ext cx="5943600" cy="731520"/>
          </a:xfrm>
          <a:prstGeom prst="rect">
            <a:avLst/>
          </a:prstGeom>
          <a:noFill/>
        </p:spPr>
        <p:txBody>
          <a:bodyPr wrap="square">
            <a:spAutoFit/>
          </a:bodyPr>
          <a:lstStyle/>
          <a:p>
            <a:r>
              <a:rPr sz="1400" b="1" i="0">
                <a:solidFill>
                  <a:srgbClr val="192858"/>
                </a:solidFill>
                <a:latin typeface="Arial"/>
              </a:rPr>
              <a:t>Under the AODA, which of the following is an obligation for Ontario public sector organizations like UHN?</a:t>
            </a:r>
          </a:p>
        </p:txBody>
      </p:sp>
      <p:sp>
        <p:nvSpPr>
          <p:cNvPr id="10" name="Rounded Rectangle 9"/>
          <p:cNvSpPr/>
          <p:nvPr/>
        </p:nvSpPr>
        <p:spPr>
          <a:xfrm>
            <a:off x="609904" y="3200400"/>
            <a:ext cx="5943600" cy="457200"/>
          </a:xfrm>
          <a:prstGeom prst="roundRect">
            <a:avLst/>
          </a:prstGeom>
          <a:solidFill>
            <a:srgbClr val="EEF6E7"/>
          </a:solidFill>
          <a:ln>
            <a:solidFill>
              <a:srgbClr val="74AE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19632" y="3291840"/>
            <a:ext cx="274320" cy="274320"/>
          </a:xfrm>
          <a:prstGeom prst="ellipse">
            <a:avLst/>
          </a:prstGeom>
          <a:solidFill>
            <a:srgbClr val="74A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A</a:t>
            </a:r>
          </a:p>
        </p:txBody>
      </p:sp>
      <p:sp>
        <p:nvSpPr>
          <p:cNvPr id="12" name="TextBox 11"/>
          <p:cNvSpPr txBox="1"/>
          <p:nvPr/>
        </p:nvSpPr>
        <p:spPr>
          <a:xfrm>
            <a:off x="1112824" y="3200400"/>
            <a:ext cx="5303520" cy="457200"/>
          </a:xfrm>
          <a:prstGeom prst="rect">
            <a:avLst/>
          </a:prstGeom>
          <a:noFill/>
        </p:spPr>
        <p:txBody>
          <a:bodyPr wrap="square" anchor="ctr">
            <a:spAutoFit/>
          </a:bodyPr>
          <a:lstStyle/>
          <a:p>
            <a:r>
              <a:rPr sz="1100" b="0" i="0">
                <a:solidFill>
                  <a:srgbClr val="111111"/>
                </a:solidFill>
                <a:latin typeface="Arial"/>
              </a:rPr>
              <a:t>Provide disability awareness training to all staff</a:t>
            </a:r>
          </a:p>
        </p:txBody>
      </p:sp>
      <p:sp>
        <p:nvSpPr>
          <p:cNvPr id="13" name="Rounded Rectangle 12"/>
          <p:cNvSpPr/>
          <p:nvPr/>
        </p:nvSpPr>
        <p:spPr>
          <a:xfrm>
            <a:off x="609904" y="3767328"/>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9632" y="3858768"/>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B</a:t>
            </a:r>
          </a:p>
        </p:txBody>
      </p:sp>
      <p:sp>
        <p:nvSpPr>
          <p:cNvPr id="15" name="TextBox 14"/>
          <p:cNvSpPr txBox="1"/>
          <p:nvPr/>
        </p:nvSpPr>
        <p:spPr>
          <a:xfrm>
            <a:off x="1112824" y="3767328"/>
            <a:ext cx="5303520" cy="457200"/>
          </a:xfrm>
          <a:prstGeom prst="rect">
            <a:avLst/>
          </a:prstGeom>
          <a:noFill/>
        </p:spPr>
        <p:txBody>
          <a:bodyPr wrap="square" anchor="ctr">
            <a:spAutoFit/>
          </a:bodyPr>
          <a:lstStyle/>
          <a:p>
            <a:r>
              <a:rPr sz="1100" b="0" i="0">
                <a:solidFill>
                  <a:srgbClr val="111111"/>
                </a:solidFill>
                <a:latin typeface="Arial"/>
              </a:rPr>
              <a:t>Hire a minimum percentage of employees with disabilities</a:t>
            </a:r>
          </a:p>
        </p:txBody>
      </p:sp>
      <p:sp>
        <p:nvSpPr>
          <p:cNvPr id="16" name="Rounded Rectangle 15"/>
          <p:cNvSpPr/>
          <p:nvPr/>
        </p:nvSpPr>
        <p:spPr>
          <a:xfrm>
            <a:off x="609904" y="4334256"/>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9632" y="4425696"/>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C</a:t>
            </a:r>
          </a:p>
        </p:txBody>
      </p:sp>
      <p:sp>
        <p:nvSpPr>
          <p:cNvPr id="18" name="TextBox 17"/>
          <p:cNvSpPr txBox="1"/>
          <p:nvPr/>
        </p:nvSpPr>
        <p:spPr>
          <a:xfrm>
            <a:off x="1112824" y="4334256"/>
            <a:ext cx="5303520" cy="457200"/>
          </a:xfrm>
          <a:prstGeom prst="rect">
            <a:avLst/>
          </a:prstGeom>
          <a:noFill/>
        </p:spPr>
        <p:txBody>
          <a:bodyPr wrap="square" anchor="ctr">
            <a:spAutoFit/>
          </a:bodyPr>
          <a:lstStyle/>
          <a:p>
            <a:r>
              <a:rPr sz="1100" b="0" i="0">
                <a:solidFill>
                  <a:srgbClr val="111111"/>
                </a:solidFill>
                <a:latin typeface="Arial"/>
              </a:rPr>
              <a:t>Eliminate all physical barriers within 5 years</a:t>
            </a:r>
          </a:p>
        </p:txBody>
      </p:sp>
      <p:sp>
        <p:nvSpPr>
          <p:cNvPr id="19" name="Rounded Rectangle 18"/>
          <p:cNvSpPr/>
          <p:nvPr/>
        </p:nvSpPr>
        <p:spPr>
          <a:xfrm>
            <a:off x="609904" y="4901184"/>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19632" y="4992624"/>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D</a:t>
            </a:r>
          </a:p>
        </p:txBody>
      </p:sp>
      <p:sp>
        <p:nvSpPr>
          <p:cNvPr id="21" name="TextBox 20"/>
          <p:cNvSpPr txBox="1"/>
          <p:nvPr/>
        </p:nvSpPr>
        <p:spPr>
          <a:xfrm>
            <a:off x="1112824" y="4901184"/>
            <a:ext cx="5303520" cy="457200"/>
          </a:xfrm>
          <a:prstGeom prst="rect">
            <a:avLst/>
          </a:prstGeom>
          <a:noFill/>
        </p:spPr>
        <p:txBody>
          <a:bodyPr wrap="square" anchor="ctr">
            <a:spAutoFit/>
          </a:bodyPr>
          <a:lstStyle/>
          <a:p>
            <a:r>
              <a:rPr sz="1100" b="0" i="0">
                <a:solidFill>
                  <a:srgbClr val="111111"/>
                </a:solidFill>
                <a:latin typeface="Arial"/>
              </a:rPr>
              <a:t>Assign a dedicated accessibility officer</a:t>
            </a:r>
          </a:p>
        </p:txBody>
      </p:sp>
      <p:sp>
        <p:nvSpPr>
          <p:cNvPr id="22" name="Rounded Rectangle 21"/>
          <p:cNvSpPr/>
          <p:nvPr/>
        </p:nvSpPr>
        <p:spPr>
          <a:xfrm>
            <a:off x="6858000" y="2286000"/>
            <a:ext cx="4754880" cy="3200400"/>
          </a:xfrm>
          <a:prstGeom prst="roundRect">
            <a:avLst/>
          </a:prstGeom>
          <a:solidFill>
            <a:srgbClr val="FDF2F3"/>
          </a:solidFill>
          <a:ln>
            <a:solidFill>
              <a:srgbClr val="C0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0" y="2560320"/>
            <a:ext cx="4206240" cy="457200"/>
          </a:xfrm>
          <a:prstGeom prst="rect">
            <a:avLst/>
          </a:prstGeom>
          <a:noFill/>
        </p:spPr>
        <p:txBody>
          <a:bodyPr wrap="square">
            <a:spAutoFit/>
          </a:bodyPr>
          <a:lstStyle/>
          <a:p>
            <a:r>
              <a:rPr sz="1600" b="1" i="0">
                <a:solidFill>
                  <a:srgbClr val="C0233B"/>
                </a:solidFill>
                <a:latin typeface="Arial Black"/>
              </a:rPr>
              <a:t>✗  Not quite.</a:t>
            </a:r>
          </a:p>
        </p:txBody>
      </p:sp>
      <p:sp>
        <p:nvSpPr>
          <p:cNvPr id="24" name="TextBox 23"/>
          <p:cNvSpPr txBox="1"/>
          <p:nvPr/>
        </p:nvSpPr>
        <p:spPr>
          <a:xfrm>
            <a:off x="7132320" y="3200400"/>
            <a:ext cx="4206240" cy="1828800"/>
          </a:xfrm>
          <a:prstGeom prst="rect">
            <a:avLst/>
          </a:prstGeom>
          <a:noFill/>
        </p:spPr>
        <p:txBody>
          <a:bodyPr wrap="square">
            <a:spAutoFit/>
          </a:bodyPr>
          <a:lstStyle/>
          <a:p>
            <a:r>
              <a:rPr sz="1100" b="0" i="0">
                <a:solidFill>
                  <a:srgbClr val="111111"/>
                </a:solidFill>
                <a:latin typeface="Arial"/>
              </a:rPr>
              <a:t>Not quite. The social model emphasizes environmental barriers. Review Screen 1.4.</a:t>
            </a:r>
          </a:p>
          <a:p>
            <a:pPr>
              <a:spcBef>
                <a:spcPts val="1200"/>
              </a:spcBef>
            </a:pPr>
            <a:r>
              <a:rPr sz="1000" b="1" i="0">
                <a:solidFill>
                  <a:srgbClr val="74AE54"/>
                </a:solidFill>
                <a:latin typeface="Arial"/>
              </a:rPr>
              <a:t>The correct answer is: a) Provide disability awareness training to all staff</a:t>
            </a:r>
          </a:p>
        </p:txBody>
      </p:sp>
      <p:sp>
        <p:nvSpPr>
          <p:cNvPr id="25" name="Rectangle 24"/>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7" name="Rectangle 26"/>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95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524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752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81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Knowledge Check 2</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K  N  O  W  L  E  D  G  E     C  H  E  C  K</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Knowledge Check</a:t>
            </a:r>
          </a:p>
        </p:txBody>
      </p:sp>
      <p:sp>
        <p:nvSpPr>
          <p:cNvPr id="9" name="TextBox 8"/>
          <p:cNvSpPr txBox="1"/>
          <p:nvPr/>
        </p:nvSpPr>
        <p:spPr>
          <a:xfrm>
            <a:off x="609904" y="2286000"/>
            <a:ext cx="5943600" cy="731520"/>
          </a:xfrm>
          <a:prstGeom prst="rect">
            <a:avLst/>
          </a:prstGeom>
          <a:noFill/>
        </p:spPr>
        <p:txBody>
          <a:bodyPr wrap="square">
            <a:spAutoFit/>
          </a:bodyPr>
          <a:lstStyle/>
          <a:p>
            <a:r>
              <a:rPr sz="1400" b="1" i="0">
                <a:solidFill>
                  <a:srgbClr val="192858"/>
                </a:solidFill>
                <a:latin typeface="Arial"/>
              </a:rPr>
              <a:t>A patient arrives at your unit using a power wheelchair. You notice the examination room door is too narrow for the chair. What is the BEST first step?</a:t>
            </a:r>
          </a:p>
        </p:txBody>
      </p:sp>
      <p:sp>
        <p:nvSpPr>
          <p:cNvPr id="10" name="Rounded Rectangle 9"/>
          <p:cNvSpPr/>
          <p:nvPr/>
        </p:nvSpPr>
        <p:spPr>
          <a:xfrm>
            <a:off x="609904" y="3200400"/>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19632" y="329184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A</a:t>
            </a:r>
          </a:p>
        </p:txBody>
      </p:sp>
      <p:sp>
        <p:nvSpPr>
          <p:cNvPr id="12" name="TextBox 11"/>
          <p:cNvSpPr txBox="1"/>
          <p:nvPr/>
        </p:nvSpPr>
        <p:spPr>
          <a:xfrm>
            <a:off x="1112824" y="3200400"/>
            <a:ext cx="5303520" cy="457200"/>
          </a:xfrm>
          <a:prstGeom prst="rect">
            <a:avLst/>
          </a:prstGeom>
          <a:noFill/>
        </p:spPr>
        <p:txBody>
          <a:bodyPr wrap="square" anchor="ctr">
            <a:spAutoFit/>
          </a:bodyPr>
          <a:lstStyle/>
          <a:p>
            <a:r>
              <a:rPr sz="1100" b="0" i="0">
                <a:solidFill>
                  <a:srgbClr val="111111"/>
                </a:solidFill>
                <a:latin typeface="Arial"/>
              </a:rPr>
              <a:t>Ask the patient to transfer to a standard chair</a:t>
            </a:r>
          </a:p>
        </p:txBody>
      </p:sp>
      <p:sp>
        <p:nvSpPr>
          <p:cNvPr id="13" name="Rounded Rectangle 12"/>
          <p:cNvSpPr/>
          <p:nvPr/>
        </p:nvSpPr>
        <p:spPr>
          <a:xfrm>
            <a:off x="609904" y="3767328"/>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9632" y="3858768"/>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B</a:t>
            </a:r>
          </a:p>
        </p:txBody>
      </p:sp>
      <p:sp>
        <p:nvSpPr>
          <p:cNvPr id="15" name="TextBox 14"/>
          <p:cNvSpPr txBox="1"/>
          <p:nvPr/>
        </p:nvSpPr>
        <p:spPr>
          <a:xfrm>
            <a:off x="1112824" y="3767328"/>
            <a:ext cx="5303520" cy="457200"/>
          </a:xfrm>
          <a:prstGeom prst="rect">
            <a:avLst/>
          </a:prstGeom>
          <a:noFill/>
        </p:spPr>
        <p:txBody>
          <a:bodyPr wrap="square" anchor="ctr">
            <a:spAutoFit/>
          </a:bodyPr>
          <a:lstStyle/>
          <a:p>
            <a:r>
              <a:rPr sz="1100" b="0" i="0">
                <a:solidFill>
                  <a:srgbClr val="111111"/>
                </a:solidFill>
                <a:latin typeface="Arial"/>
              </a:rPr>
              <a:t>Find an accessible room and apologize for the inconvenience</a:t>
            </a:r>
          </a:p>
        </p:txBody>
      </p:sp>
      <p:sp>
        <p:nvSpPr>
          <p:cNvPr id="16" name="Rounded Rectangle 15"/>
          <p:cNvSpPr/>
          <p:nvPr/>
        </p:nvSpPr>
        <p:spPr>
          <a:xfrm>
            <a:off x="609904" y="4334256"/>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9632" y="4425696"/>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C</a:t>
            </a:r>
          </a:p>
        </p:txBody>
      </p:sp>
      <p:sp>
        <p:nvSpPr>
          <p:cNvPr id="18" name="TextBox 17"/>
          <p:cNvSpPr txBox="1"/>
          <p:nvPr/>
        </p:nvSpPr>
        <p:spPr>
          <a:xfrm>
            <a:off x="1112824" y="4334256"/>
            <a:ext cx="5303520" cy="457200"/>
          </a:xfrm>
          <a:prstGeom prst="rect">
            <a:avLst/>
          </a:prstGeom>
          <a:noFill/>
        </p:spPr>
        <p:txBody>
          <a:bodyPr wrap="square" anchor="ctr">
            <a:spAutoFit/>
          </a:bodyPr>
          <a:lstStyle/>
          <a:p>
            <a:r>
              <a:rPr sz="1100" b="0" i="0">
                <a:solidFill>
                  <a:srgbClr val="111111"/>
                </a:solidFill>
                <a:latin typeface="Arial"/>
              </a:rPr>
              <a:t>Call maintenance to widen the door</a:t>
            </a:r>
          </a:p>
        </p:txBody>
      </p:sp>
      <p:sp>
        <p:nvSpPr>
          <p:cNvPr id="19" name="Rounded Rectangle 18"/>
          <p:cNvSpPr/>
          <p:nvPr/>
        </p:nvSpPr>
        <p:spPr>
          <a:xfrm>
            <a:off x="609904" y="4901184"/>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19632" y="4992624"/>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D</a:t>
            </a:r>
          </a:p>
        </p:txBody>
      </p:sp>
      <p:sp>
        <p:nvSpPr>
          <p:cNvPr id="21" name="TextBox 20"/>
          <p:cNvSpPr txBox="1"/>
          <p:nvPr/>
        </p:nvSpPr>
        <p:spPr>
          <a:xfrm>
            <a:off x="1112824" y="4901184"/>
            <a:ext cx="5303520" cy="457200"/>
          </a:xfrm>
          <a:prstGeom prst="rect">
            <a:avLst/>
          </a:prstGeom>
          <a:noFill/>
        </p:spPr>
        <p:txBody>
          <a:bodyPr wrap="square" anchor="ctr">
            <a:spAutoFit/>
          </a:bodyPr>
          <a:lstStyle/>
          <a:p>
            <a:r>
              <a:rPr sz="1100" b="0" i="0">
                <a:solidFill>
                  <a:srgbClr val="111111"/>
                </a:solidFill>
                <a:latin typeface="Arial"/>
              </a:rPr>
              <a:t>Document the issue and continue with the scheduled room</a:t>
            </a:r>
          </a:p>
        </p:txBody>
      </p:sp>
      <p:sp>
        <p:nvSpPr>
          <p:cNvPr id="22" name="Rounded Rectangle 21"/>
          <p:cNvSpPr/>
          <p:nvPr/>
        </p:nvSpPr>
        <p:spPr>
          <a:xfrm>
            <a:off x="6858000" y="2286000"/>
            <a:ext cx="4754880" cy="3200400"/>
          </a:xfrm>
          <a:prstGeom prst="roundRect">
            <a:avLst/>
          </a:prstGeom>
          <a:solidFill>
            <a:srgbClr val="EAF1FA"/>
          </a:solidFill>
          <a:ln>
            <a:solidFill>
              <a:srgbClr val="24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0" y="2560320"/>
            <a:ext cx="4206240" cy="365760"/>
          </a:xfrm>
          <a:prstGeom prst="rect">
            <a:avLst/>
          </a:prstGeom>
          <a:noFill/>
        </p:spPr>
        <p:txBody>
          <a:bodyPr wrap="square">
            <a:spAutoFit/>
          </a:bodyPr>
          <a:lstStyle/>
          <a:p>
            <a:r>
              <a:rPr sz="1000" b="1" i="0">
                <a:solidFill>
                  <a:srgbClr val="245BAA"/>
                </a:solidFill>
                <a:latin typeface="Arial Black"/>
              </a:rPr>
              <a:t>FEEDBACK</a:t>
            </a:r>
          </a:p>
        </p:txBody>
      </p:sp>
      <p:sp>
        <p:nvSpPr>
          <p:cNvPr id="24" name="TextBox 23"/>
          <p:cNvSpPr txBox="1"/>
          <p:nvPr/>
        </p:nvSpPr>
        <p:spPr>
          <a:xfrm>
            <a:off x="7132320" y="3017520"/>
            <a:ext cx="4206240" cy="1828800"/>
          </a:xfrm>
          <a:prstGeom prst="rect">
            <a:avLst/>
          </a:prstGeom>
          <a:noFill/>
        </p:spPr>
        <p:txBody>
          <a:bodyPr wrap="square">
            <a:spAutoFit/>
          </a:bodyPr>
          <a:lstStyle/>
          <a:p>
            <a:r>
              <a:rPr sz="1100" b="0" i="1">
                <a:solidFill>
                  <a:srgbClr val="5A5A5A"/>
                </a:solidFill>
                <a:latin typeface="Arial"/>
              </a:rPr>
              <a:t>Select an answer to see feedback.</a:t>
            </a:r>
          </a:p>
        </p:txBody>
      </p:sp>
      <p:sp>
        <p:nvSpPr>
          <p:cNvPr id="25" name="Rectangle 24"/>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7" name="Rectangle 26"/>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95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524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752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815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Knowledge Check 2</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K  N  O  W  L  E  D  G  E     C  H  E  C  K</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Knowledge Check</a:t>
            </a:r>
          </a:p>
        </p:txBody>
      </p:sp>
      <p:sp>
        <p:nvSpPr>
          <p:cNvPr id="9" name="TextBox 8"/>
          <p:cNvSpPr txBox="1"/>
          <p:nvPr/>
        </p:nvSpPr>
        <p:spPr>
          <a:xfrm>
            <a:off x="609904" y="2286000"/>
            <a:ext cx="5943600" cy="731520"/>
          </a:xfrm>
          <a:prstGeom prst="rect">
            <a:avLst/>
          </a:prstGeom>
          <a:noFill/>
        </p:spPr>
        <p:txBody>
          <a:bodyPr wrap="square">
            <a:spAutoFit/>
          </a:bodyPr>
          <a:lstStyle/>
          <a:p>
            <a:r>
              <a:rPr sz="1400" b="1" i="0">
                <a:solidFill>
                  <a:srgbClr val="192858"/>
                </a:solidFill>
                <a:latin typeface="Arial"/>
              </a:rPr>
              <a:t>A patient arrives at your unit using a power wheelchair. You notice the examination room door is too narrow for the chair. What is the BEST first step?</a:t>
            </a:r>
          </a:p>
        </p:txBody>
      </p:sp>
      <p:sp>
        <p:nvSpPr>
          <p:cNvPr id="10" name="Rounded Rectangle 9"/>
          <p:cNvSpPr/>
          <p:nvPr/>
        </p:nvSpPr>
        <p:spPr>
          <a:xfrm>
            <a:off x="609904" y="3200400"/>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19632" y="329184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A</a:t>
            </a:r>
          </a:p>
        </p:txBody>
      </p:sp>
      <p:sp>
        <p:nvSpPr>
          <p:cNvPr id="12" name="TextBox 11"/>
          <p:cNvSpPr txBox="1"/>
          <p:nvPr/>
        </p:nvSpPr>
        <p:spPr>
          <a:xfrm>
            <a:off x="1112824" y="3200400"/>
            <a:ext cx="5303520" cy="457200"/>
          </a:xfrm>
          <a:prstGeom prst="rect">
            <a:avLst/>
          </a:prstGeom>
          <a:noFill/>
        </p:spPr>
        <p:txBody>
          <a:bodyPr wrap="square" anchor="ctr">
            <a:spAutoFit/>
          </a:bodyPr>
          <a:lstStyle/>
          <a:p>
            <a:r>
              <a:rPr sz="1100" b="0" i="0">
                <a:solidFill>
                  <a:srgbClr val="5A5A5A"/>
                </a:solidFill>
                <a:latin typeface="Arial"/>
              </a:rPr>
              <a:t>Ask the patient to transfer to a standard chair</a:t>
            </a:r>
          </a:p>
        </p:txBody>
      </p:sp>
      <p:sp>
        <p:nvSpPr>
          <p:cNvPr id="13" name="Rounded Rectangle 12"/>
          <p:cNvSpPr/>
          <p:nvPr/>
        </p:nvSpPr>
        <p:spPr>
          <a:xfrm>
            <a:off x="609904" y="3767328"/>
            <a:ext cx="5943600" cy="457200"/>
          </a:xfrm>
          <a:prstGeom prst="roundRect">
            <a:avLst/>
          </a:prstGeom>
          <a:solidFill>
            <a:srgbClr val="EEF6E7"/>
          </a:solidFill>
          <a:ln>
            <a:solidFill>
              <a:srgbClr val="74AE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9632" y="3858768"/>
            <a:ext cx="274320" cy="274320"/>
          </a:xfrm>
          <a:prstGeom prst="ellipse">
            <a:avLst/>
          </a:prstGeom>
          <a:solidFill>
            <a:srgbClr val="74A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a:t>
            </a:r>
          </a:p>
        </p:txBody>
      </p:sp>
      <p:sp>
        <p:nvSpPr>
          <p:cNvPr id="15" name="TextBox 14"/>
          <p:cNvSpPr txBox="1"/>
          <p:nvPr/>
        </p:nvSpPr>
        <p:spPr>
          <a:xfrm>
            <a:off x="1112824" y="3767328"/>
            <a:ext cx="5303520" cy="457200"/>
          </a:xfrm>
          <a:prstGeom prst="rect">
            <a:avLst/>
          </a:prstGeom>
          <a:noFill/>
        </p:spPr>
        <p:txBody>
          <a:bodyPr wrap="square" anchor="ctr">
            <a:spAutoFit/>
          </a:bodyPr>
          <a:lstStyle/>
          <a:p>
            <a:r>
              <a:rPr sz="1100" b="0" i="0">
                <a:solidFill>
                  <a:srgbClr val="74AE54"/>
                </a:solidFill>
                <a:latin typeface="Arial"/>
              </a:rPr>
              <a:t>Find an accessible room and apologize for the inconvenience</a:t>
            </a:r>
          </a:p>
        </p:txBody>
      </p:sp>
      <p:sp>
        <p:nvSpPr>
          <p:cNvPr id="16" name="Rounded Rectangle 15"/>
          <p:cNvSpPr/>
          <p:nvPr/>
        </p:nvSpPr>
        <p:spPr>
          <a:xfrm>
            <a:off x="609904" y="4334256"/>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9632" y="4425696"/>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C</a:t>
            </a:r>
          </a:p>
        </p:txBody>
      </p:sp>
      <p:sp>
        <p:nvSpPr>
          <p:cNvPr id="18" name="TextBox 17"/>
          <p:cNvSpPr txBox="1"/>
          <p:nvPr/>
        </p:nvSpPr>
        <p:spPr>
          <a:xfrm>
            <a:off x="1112824" y="4334256"/>
            <a:ext cx="5303520" cy="457200"/>
          </a:xfrm>
          <a:prstGeom prst="rect">
            <a:avLst/>
          </a:prstGeom>
          <a:noFill/>
        </p:spPr>
        <p:txBody>
          <a:bodyPr wrap="square" anchor="ctr">
            <a:spAutoFit/>
          </a:bodyPr>
          <a:lstStyle/>
          <a:p>
            <a:r>
              <a:rPr sz="1100" b="0" i="0">
                <a:solidFill>
                  <a:srgbClr val="5A5A5A"/>
                </a:solidFill>
                <a:latin typeface="Arial"/>
              </a:rPr>
              <a:t>Call maintenance to widen the door</a:t>
            </a:r>
          </a:p>
        </p:txBody>
      </p:sp>
      <p:sp>
        <p:nvSpPr>
          <p:cNvPr id="19" name="Rounded Rectangle 18"/>
          <p:cNvSpPr/>
          <p:nvPr/>
        </p:nvSpPr>
        <p:spPr>
          <a:xfrm>
            <a:off x="609904" y="4901184"/>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19632" y="4992624"/>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D</a:t>
            </a:r>
          </a:p>
        </p:txBody>
      </p:sp>
      <p:sp>
        <p:nvSpPr>
          <p:cNvPr id="21" name="TextBox 20"/>
          <p:cNvSpPr txBox="1"/>
          <p:nvPr/>
        </p:nvSpPr>
        <p:spPr>
          <a:xfrm>
            <a:off x="1112824" y="4901184"/>
            <a:ext cx="5303520" cy="457200"/>
          </a:xfrm>
          <a:prstGeom prst="rect">
            <a:avLst/>
          </a:prstGeom>
          <a:noFill/>
        </p:spPr>
        <p:txBody>
          <a:bodyPr wrap="square" anchor="ctr">
            <a:spAutoFit/>
          </a:bodyPr>
          <a:lstStyle/>
          <a:p>
            <a:r>
              <a:rPr sz="1100" b="0" i="0">
                <a:solidFill>
                  <a:srgbClr val="5A5A5A"/>
                </a:solidFill>
                <a:latin typeface="Arial"/>
              </a:rPr>
              <a:t>Document the issue and continue with the scheduled room</a:t>
            </a:r>
          </a:p>
        </p:txBody>
      </p:sp>
      <p:sp>
        <p:nvSpPr>
          <p:cNvPr id="22" name="Rounded Rectangle 21"/>
          <p:cNvSpPr/>
          <p:nvPr/>
        </p:nvSpPr>
        <p:spPr>
          <a:xfrm>
            <a:off x="6858000" y="2286000"/>
            <a:ext cx="4754880" cy="3200400"/>
          </a:xfrm>
          <a:prstGeom prst="roundRect">
            <a:avLst/>
          </a:prstGeom>
          <a:solidFill>
            <a:srgbClr val="EEF6E7"/>
          </a:solidFill>
          <a:ln>
            <a:solidFill>
              <a:srgbClr val="74AE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0" y="2560320"/>
            <a:ext cx="4206240" cy="457200"/>
          </a:xfrm>
          <a:prstGeom prst="rect">
            <a:avLst/>
          </a:prstGeom>
          <a:noFill/>
        </p:spPr>
        <p:txBody>
          <a:bodyPr wrap="square">
            <a:spAutoFit/>
          </a:bodyPr>
          <a:lstStyle/>
          <a:p>
            <a:r>
              <a:rPr sz="1600" b="1" i="0">
                <a:solidFill>
                  <a:srgbClr val="74AE54"/>
                </a:solidFill>
                <a:latin typeface="Arial Black"/>
              </a:rPr>
              <a:t>✓  Correct!</a:t>
            </a:r>
          </a:p>
        </p:txBody>
      </p:sp>
      <p:sp>
        <p:nvSpPr>
          <p:cNvPr id="24" name="TextBox 23"/>
          <p:cNvSpPr txBox="1"/>
          <p:nvPr/>
        </p:nvSpPr>
        <p:spPr>
          <a:xfrm>
            <a:off x="7132320" y="3200400"/>
            <a:ext cx="4206240" cy="1828800"/>
          </a:xfrm>
          <a:prstGeom prst="rect">
            <a:avLst/>
          </a:prstGeom>
          <a:noFill/>
        </p:spPr>
        <p:txBody>
          <a:bodyPr wrap="square">
            <a:spAutoFit/>
          </a:bodyPr>
          <a:lstStyle/>
          <a:p>
            <a:r>
              <a:rPr sz="1100" b="0" i="0">
                <a:solidFill>
                  <a:srgbClr val="111111"/>
                </a:solidFill>
                <a:latin typeface="Arial"/>
              </a:rPr>
              <a:t>Right. Address the immediate need first, then report the barrier for systemic fix.</a:t>
            </a:r>
          </a:p>
          <a:p>
            <a:pPr>
              <a:spcBef>
                <a:spcPts val="1200"/>
              </a:spcBef>
            </a:pPr>
            <a:r>
              <a:rPr sz="1000" b="1" i="0">
                <a:solidFill>
                  <a:srgbClr val="74AE54"/>
                </a:solidFill>
                <a:latin typeface="Arial"/>
              </a:rPr>
              <a:t>Answer: b) Find an accessible room and apologize for the inconvenience</a:t>
            </a:r>
          </a:p>
        </p:txBody>
      </p:sp>
      <p:sp>
        <p:nvSpPr>
          <p:cNvPr id="25" name="Rectangle 24"/>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7" name="Rectangle 26"/>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95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524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752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81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10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Knowledge Check 2</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K  N  O  W  L  E  D  G  E     C  H  E  C  K</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Knowledge Check</a:t>
            </a:r>
          </a:p>
        </p:txBody>
      </p:sp>
      <p:sp>
        <p:nvSpPr>
          <p:cNvPr id="9" name="TextBox 8"/>
          <p:cNvSpPr txBox="1"/>
          <p:nvPr/>
        </p:nvSpPr>
        <p:spPr>
          <a:xfrm>
            <a:off x="609904" y="2286000"/>
            <a:ext cx="5943600" cy="731520"/>
          </a:xfrm>
          <a:prstGeom prst="rect">
            <a:avLst/>
          </a:prstGeom>
          <a:noFill/>
        </p:spPr>
        <p:txBody>
          <a:bodyPr wrap="square">
            <a:spAutoFit/>
          </a:bodyPr>
          <a:lstStyle/>
          <a:p>
            <a:r>
              <a:rPr sz="1400" b="1" i="0">
                <a:solidFill>
                  <a:srgbClr val="192858"/>
                </a:solidFill>
                <a:latin typeface="Arial"/>
              </a:rPr>
              <a:t>A patient arrives at your unit using a power wheelchair. You notice the examination room door is too narrow for the chair. What is the BEST first step?</a:t>
            </a:r>
          </a:p>
        </p:txBody>
      </p:sp>
      <p:sp>
        <p:nvSpPr>
          <p:cNvPr id="10" name="Rounded Rectangle 9"/>
          <p:cNvSpPr/>
          <p:nvPr/>
        </p:nvSpPr>
        <p:spPr>
          <a:xfrm>
            <a:off x="609904" y="3200400"/>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19632" y="329184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A</a:t>
            </a:r>
          </a:p>
        </p:txBody>
      </p:sp>
      <p:sp>
        <p:nvSpPr>
          <p:cNvPr id="12" name="TextBox 11"/>
          <p:cNvSpPr txBox="1"/>
          <p:nvPr/>
        </p:nvSpPr>
        <p:spPr>
          <a:xfrm>
            <a:off x="1112824" y="3200400"/>
            <a:ext cx="5303520" cy="457200"/>
          </a:xfrm>
          <a:prstGeom prst="rect">
            <a:avLst/>
          </a:prstGeom>
          <a:noFill/>
        </p:spPr>
        <p:txBody>
          <a:bodyPr wrap="square" anchor="ctr">
            <a:spAutoFit/>
          </a:bodyPr>
          <a:lstStyle/>
          <a:p>
            <a:r>
              <a:rPr sz="1100" b="0" i="0">
                <a:solidFill>
                  <a:srgbClr val="111111"/>
                </a:solidFill>
                <a:latin typeface="Arial"/>
              </a:rPr>
              <a:t>Ask the patient to transfer to a standard chair</a:t>
            </a:r>
          </a:p>
        </p:txBody>
      </p:sp>
      <p:sp>
        <p:nvSpPr>
          <p:cNvPr id="13" name="Rounded Rectangle 12"/>
          <p:cNvSpPr/>
          <p:nvPr/>
        </p:nvSpPr>
        <p:spPr>
          <a:xfrm>
            <a:off x="609904" y="3767328"/>
            <a:ext cx="5943600" cy="457200"/>
          </a:xfrm>
          <a:prstGeom prst="roundRect">
            <a:avLst/>
          </a:prstGeom>
          <a:solidFill>
            <a:srgbClr val="EEF6E7"/>
          </a:solidFill>
          <a:ln>
            <a:solidFill>
              <a:srgbClr val="74AE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9632" y="3858768"/>
            <a:ext cx="274320" cy="274320"/>
          </a:xfrm>
          <a:prstGeom prst="ellipse">
            <a:avLst/>
          </a:prstGeom>
          <a:solidFill>
            <a:srgbClr val="74A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B</a:t>
            </a:r>
          </a:p>
        </p:txBody>
      </p:sp>
      <p:sp>
        <p:nvSpPr>
          <p:cNvPr id="15" name="TextBox 14"/>
          <p:cNvSpPr txBox="1"/>
          <p:nvPr/>
        </p:nvSpPr>
        <p:spPr>
          <a:xfrm>
            <a:off x="1112824" y="3767328"/>
            <a:ext cx="5303520" cy="457200"/>
          </a:xfrm>
          <a:prstGeom prst="rect">
            <a:avLst/>
          </a:prstGeom>
          <a:noFill/>
        </p:spPr>
        <p:txBody>
          <a:bodyPr wrap="square" anchor="ctr">
            <a:spAutoFit/>
          </a:bodyPr>
          <a:lstStyle/>
          <a:p>
            <a:r>
              <a:rPr sz="1100" b="0" i="0">
                <a:solidFill>
                  <a:srgbClr val="111111"/>
                </a:solidFill>
                <a:latin typeface="Arial"/>
              </a:rPr>
              <a:t>Find an accessible room and apologize for the inconvenience</a:t>
            </a:r>
          </a:p>
        </p:txBody>
      </p:sp>
      <p:sp>
        <p:nvSpPr>
          <p:cNvPr id="16" name="Rounded Rectangle 15"/>
          <p:cNvSpPr/>
          <p:nvPr/>
        </p:nvSpPr>
        <p:spPr>
          <a:xfrm>
            <a:off x="609904" y="4334256"/>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9632" y="4425696"/>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C</a:t>
            </a:r>
          </a:p>
        </p:txBody>
      </p:sp>
      <p:sp>
        <p:nvSpPr>
          <p:cNvPr id="18" name="TextBox 17"/>
          <p:cNvSpPr txBox="1"/>
          <p:nvPr/>
        </p:nvSpPr>
        <p:spPr>
          <a:xfrm>
            <a:off x="1112824" y="4334256"/>
            <a:ext cx="5303520" cy="457200"/>
          </a:xfrm>
          <a:prstGeom prst="rect">
            <a:avLst/>
          </a:prstGeom>
          <a:noFill/>
        </p:spPr>
        <p:txBody>
          <a:bodyPr wrap="square" anchor="ctr">
            <a:spAutoFit/>
          </a:bodyPr>
          <a:lstStyle/>
          <a:p>
            <a:r>
              <a:rPr sz="1100" b="0" i="0">
                <a:solidFill>
                  <a:srgbClr val="111111"/>
                </a:solidFill>
                <a:latin typeface="Arial"/>
              </a:rPr>
              <a:t>Call maintenance to widen the door</a:t>
            </a:r>
          </a:p>
        </p:txBody>
      </p:sp>
      <p:sp>
        <p:nvSpPr>
          <p:cNvPr id="19" name="Rounded Rectangle 18"/>
          <p:cNvSpPr/>
          <p:nvPr/>
        </p:nvSpPr>
        <p:spPr>
          <a:xfrm>
            <a:off x="609904" y="4901184"/>
            <a:ext cx="5943600" cy="45720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19632" y="4992624"/>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D</a:t>
            </a:r>
          </a:p>
        </p:txBody>
      </p:sp>
      <p:sp>
        <p:nvSpPr>
          <p:cNvPr id="21" name="TextBox 20"/>
          <p:cNvSpPr txBox="1"/>
          <p:nvPr/>
        </p:nvSpPr>
        <p:spPr>
          <a:xfrm>
            <a:off x="1112824" y="4901184"/>
            <a:ext cx="5303520" cy="457200"/>
          </a:xfrm>
          <a:prstGeom prst="rect">
            <a:avLst/>
          </a:prstGeom>
          <a:noFill/>
        </p:spPr>
        <p:txBody>
          <a:bodyPr wrap="square" anchor="ctr">
            <a:spAutoFit/>
          </a:bodyPr>
          <a:lstStyle/>
          <a:p>
            <a:r>
              <a:rPr sz="1100" b="0" i="0">
                <a:solidFill>
                  <a:srgbClr val="111111"/>
                </a:solidFill>
                <a:latin typeface="Arial"/>
              </a:rPr>
              <a:t>Document the issue and continue with the scheduled room</a:t>
            </a:r>
          </a:p>
        </p:txBody>
      </p:sp>
      <p:sp>
        <p:nvSpPr>
          <p:cNvPr id="22" name="Rounded Rectangle 21"/>
          <p:cNvSpPr/>
          <p:nvPr/>
        </p:nvSpPr>
        <p:spPr>
          <a:xfrm>
            <a:off x="6858000" y="2286000"/>
            <a:ext cx="4754880" cy="3200400"/>
          </a:xfrm>
          <a:prstGeom prst="roundRect">
            <a:avLst/>
          </a:prstGeom>
          <a:solidFill>
            <a:srgbClr val="FDF2F3"/>
          </a:solidFill>
          <a:ln>
            <a:solidFill>
              <a:srgbClr val="C0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0" y="2560320"/>
            <a:ext cx="4206240" cy="457200"/>
          </a:xfrm>
          <a:prstGeom prst="rect">
            <a:avLst/>
          </a:prstGeom>
          <a:noFill/>
        </p:spPr>
        <p:txBody>
          <a:bodyPr wrap="square">
            <a:spAutoFit/>
          </a:bodyPr>
          <a:lstStyle/>
          <a:p>
            <a:r>
              <a:rPr sz="1600" b="1" i="0">
                <a:solidFill>
                  <a:srgbClr val="C0233B"/>
                </a:solidFill>
                <a:latin typeface="Arial Black"/>
              </a:rPr>
              <a:t>✗  Not quite.</a:t>
            </a:r>
          </a:p>
        </p:txBody>
      </p:sp>
      <p:sp>
        <p:nvSpPr>
          <p:cNvPr id="24" name="TextBox 23"/>
          <p:cNvSpPr txBox="1"/>
          <p:nvPr/>
        </p:nvSpPr>
        <p:spPr>
          <a:xfrm>
            <a:off x="7132320" y="3200400"/>
            <a:ext cx="4206240" cy="1828800"/>
          </a:xfrm>
          <a:prstGeom prst="rect">
            <a:avLst/>
          </a:prstGeom>
          <a:noFill/>
        </p:spPr>
        <p:txBody>
          <a:bodyPr wrap="square">
            <a:spAutoFit/>
          </a:bodyPr>
          <a:lstStyle/>
          <a:p>
            <a:r>
              <a:rPr sz="1100" b="0" i="0">
                <a:solidFill>
                  <a:srgbClr val="111111"/>
                </a:solidFill>
                <a:latin typeface="Arial"/>
              </a:rPr>
              <a:t>Consider the Accessibility Decision Path — first address the person's immediate need.</a:t>
            </a:r>
          </a:p>
          <a:p>
            <a:pPr>
              <a:spcBef>
                <a:spcPts val="1200"/>
              </a:spcBef>
            </a:pPr>
            <a:r>
              <a:rPr sz="1000" b="1" i="0">
                <a:solidFill>
                  <a:srgbClr val="74AE54"/>
                </a:solidFill>
                <a:latin typeface="Arial"/>
              </a:rPr>
              <a:t>The correct answer is: b) Find an accessible room and apologize for the inconvenience</a:t>
            </a:r>
          </a:p>
        </p:txBody>
      </p:sp>
      <p:sp>
        <p:nvSpPr>
          <p:cNvPr id="25" name="Rectangle 24"/>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7" name="Rectangle 26"/>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95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524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752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81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101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Inclusive Practice Tips</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I  N  C  L  U  S  I  V  E     P  R  A  C  T  I  C  E</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Inclusive Practice Tips</a:t>
            </a:r>
          </a:p>
        </p:txBody>
      </p:sp>
      <p:sp>
        <p:nvSpPr>
          <p:cNvPr id="9" name="Rectangle 8"/>
          <p:cNvSpPr/>
          <p:nvPr/>
        </p:nvSpPr>
        <p:spPr>
          <a:xfrm>
            <a:off x="609904" y="2377440"/>
            <a:ext cx="54864" cy="3474720"/>
          </a:xfrm>
          <a:prstGeom prst="rect">
            <a:avLst/>
          </a:prstGeom>
          <a:solidFill>
            <a:srgbClr val="74A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4768" y="2377440"/>
            <a:ext cx="10917936" cy="3474720"/>
          </a:xfrm>
          <a:prstGeom prst="rect">
            <a:avLst/>
          </a:prstGeom>
          <a:solidFill>
            <a:srgbClr val="EEF6E7"/>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5664" y="2651760"/>
            <a:ext cx="10241280" cy="228600"/>
          </a:xfrm>
          <a:prstGeom prst="rect">
            <a:avLst/>
          </a:prstGeom>
          <a:noFill/>
        </p:spPr>
        <p:txBody>
          <a:bodyPr wrap="square">
            <a:spAutoFit/>
          </a:bodyPr>
          <a:lstStyle/>
          <a:p>
            <a:r>
              <a:rPr sz="1000" b="1" i="0">
                <a:solidFill>
                  <a:srgbClr val="74AE54"/>
                </a:solidFill>
                <a:latin typeface="Arial Black"/>
              </a:rPr>
              <a:t>Tip 1</a:t>
            </a:r>
          </a:p>
        </p:txBody>
      </p:sp>
      <p:sp>
        <p:nvSpPr>
          <p:cNvPr id="12" name="TextBox 11"/>
          <p:cNvSpPr txBox="1"/>
          <p:nvPr/>
        </p:nvSpPr>
        <p:spPr>
          <a:xfrm>
            <a:off x="975664" y="2880360"/>
            <a:ext cx="10241280" cy="365760"/>
          </a:xfrm>
          <a:prstGeom prst="rect">
            <a:avLst/>
          </a:prstGeom>
          <a:noFill/>
        </p:spPr>
        <p:txBody>
          <a:bodyPr wrap="square">
            <a:spAutoFit/>
          </a:bodyPr>
          <a:lstStyle/>
          <a:p>
            <a:r>
              <a:rPr sz="1000" b="0" i="0">
                <a:solidFill>
                  <a:srgbClr val="111111"/>
                </a:solidFill>
                <a:latin typeface="Arial"/>
              </a:rPr>
              <a:t>Ask before helping. Offer assistance but respect the person's choice.</a:t>
            </a:r>
          </a:p>
        </p:txBody>
      </p:sp>
      <p:sp>
        <p:nvSpPr>
          <p:cNvPr id="13" name="TextBox 12"/>
          <p:cNvSpPr txBox="1"/>
          <p:nvPr/>
        </p:nvSpPr>
        <p:spPr>
          <a:xfrm>
            <a:off x="975664" y="3291840"/>
            <a:ext cx="10241280" cy="228600"/>
          </a:xfrm>
          <a:prstGeom prst="rect">
            <a:avLst/>
          </a:prstGeom>
          <a:noFill/>
        </p:spPr>
        <p:txBody>
          <a:bodyPr wrap="square">
            <a:spAutoFit/>
          </a:bodyPr>
          <a:lstStyle/>
          <a:p>
            <a:r>
              <a:rPr sz="1000" b="1" i="0">
                <a:solidFill>
                  <a:srgbClr val="74AE54"/>
                </a:solidFill>
                <a:latin typeface="Arial Black"/>
              </a:rPr>
              <a:t>Tip 2</a:t>
            </a:r>
          </a:p>
        </p:txBody>
      </p:sp>
      <p:sp>
        <p:nvSpPr>
          <p:cNvPr id="14" name="TextBox 13"/>
          <p:cNvSpPr txBox="1"/>
          <p:nvPr/>
        </p:nvSpPr>
        <p:spPr>
          <a:xfrm>
            <a:off x="975664" y="3520440"/>
            <a:ext cx="10241280" cy="365760"/>
          </a:xfrm>
          <a:prstGeom prst="rect">
            <a:avLst/>
          </a:prstGeom>
          <a:noFill/>
        </p:spPr>
        <p:txBody>
          <a:bodyPr wrap="square">
            <a:spAutoFit/>
          </a:bodyPr>
          <a:lstStyle/>
          <a:p>
            <a:r>
              <a:rPr sz="1000" b="0" i="0">
                <a:solidFill>
                  <a:srgbClr val="111111"/>
                </a:solidFill>
                <a:latin typeface="Arial"/>
              </a:rPr>
              <a:t>Use people-first language unless the person prefers identity-first. Ask.</a:t>
            </a:r>
          </a:p>
        </p:txBody>
      </p:sp>
      <p:sp>
        <p:nvSpPr>
          <p:cNvPr id="15" name="TextBox 14"/>
          <p:cNvSpPr txBox="1"/>
          <p:nvPr/>
        </p:nvSpPr>
        <p:spPr>
          <a:xfrm>
            <a:off x="975664" y="3931920"/>
            <a:ext cx="10241280" cy="228600"/>
          </a:xfrm>
          <a:prstGeom prst="rect">
            <a:avLst/>
          </a:prstGeom>
          <a:noFill/>
        </p:spPr>
        <p:txBody>
          <a:bodyPr wrap="square">
            <a:spAutoFit/>
          </a:bodyPr>
          <a:lstStyle/>
          <a:p>
            <a:r>
              <a:rPr sz="1000" b="1" i="0">
                <a:solidFill>
                  <a:srgbClr val="74AE54"/>
                </a:solidFill>
                <a:latin typeface="Arial Black"/>
              </a:rPr>
              <a:t>Tip 3</a:t>
            </a:r>
          </a:p>
        </p:txBody>
      </p:sp>
      <p:sp>
        <p:nvSpPr>
          <p:cNvPr id="16" name="TextBox 15"/>
          <p:cNvSpPr txBox="1"/>
          <p:nvPr/>
        </p:nvSpPr>
        <p:spPr>
          <a:xfrm>
            <a:off x="975664" y="4160520"/>
            <a:ext cx="10241280" cy="365760"/>
          </a:xfrm>
          <a:prstGeom prst="rect">
            <a:avLst/>
          </a:prstGeom>
          <a:noFill/>
        </p:spPr>
        <p:txBody>
          <a:bodyPr wrap="square">
            <a:spAutoFit/>
          </a:bodyPr>
          <a:lstStyle/>
          <a:p>
            <a:r>
              <a:rPr sz="1000" b="0" i="0">
                <a:solidFill>
                  <a:srgbClr val="111111"/>
                </a:solidFill>
                <a:latin typeface="Arial"/>
              </a:rPr>
              <a:t>Don't assume what someone can or can't do based on visible cues.</a:t>
            </a:r>
          </a:p>
        </p:txBody>
      </p:sp>
      <p:sp>
        <p:nvSpPr>
          <p:cNvPr id="17" name="TextBox 16"/>
          <p:cNvSpPr txBox="1"/>
          <p:nvPr/>
        </p:nvSpPr>
        <p:spPr>
          <a:xfrm>
            <a:off x="975664" y="4572000"/>
            <a:ext cx="10241280" cy="228600"/>
          </a:xfrm>
          <a:prstGeom prst="rect">
            <a:avLst/>
          </a:prstGeom>
          <a:noFill/>
        </p:spPr>
        <p:txBody>
          <a:bodyPr wrap="square">
            <a:spAutoFit/>
          </a:bodyPr>
          <a:lstStyle/>
          <a:p>
            <a:r>
              <a:rPr sz="1000" b="1" i="0">
                <a:solidFill>
                  <a:srgbClr val="74AE54"/>
                </a:solidFill>
                <a:latin typeface="Arial Black"/>
              </a:rPr>
              <a:t>Tip 4</a:t>
            </a:r>
          </a:p>
        </p:txBody>
      </p:sp>
      <p:sp>
        <p:nvSpPr>
          <p:cNvPr id="18" name="TextBox 17"/>
          <p:cNvSpPr txBox="1"/>
          <p:nvPr/>
        </p:nvSpPr>
        <p:spPr>
          <a:xfrm>
            <a:off x="975664" y="4800600"/>
            <a:ext cx="10241280" cy="365760"/>
          </a:xfrm>
          <a:prstGeom prst="rect">
            <a:avLst/>
          </a:prstGeom>
          <a:noFill/>
        </p:spPr>
        <p:txBody>
          <a:bodyPr wrap="square">
            <a:spAutoFit/>
          </a:bodyPr>
          <a:lstStyle/>
          <a:p>
            <a:r>
              <a:rPr sz="1000" b="0" i="0">
                <a:solidFill>
                  <a:srgbClr val="111111"/>
                </a:solidFill>
                <a:latin typeface="Arial"/>
              </a:rPr>
              <a:t>Offer multiple ways to access services — phone, in-person, online.</a:t>
            </a:r>
          </a:p>
        </p:txBody>
      </p:sp>
      <p:sp>
        <p:nvSpPr>
          <p:cNvPr id="19" name="TextBox 18"/>
          <p:cNvSpPr txBox="1"/>
          <p:nvPr/>
        </p:nvSpPr>
        <p:spPr>
          <a:xfrm>
            <a:off x="975664" y="5212080"/>
            <a:ext cx="10241280" cy="228600"/>
          </a:xfrm>
          <a:prstGeom prst="rect">
            <a:avLst/>
          </a:prstGeom>
          <a:noFill/>
        </p:spPr>
        <p:txBody>
          <a:bodyPr wrap="square">
            <a:spAutoFit/>
          </a:bodyPr>
          <a:lstStyle/>
          <a:p>
            <a:r>
              <a:rPr sz="1000" b="1" i="0">
                <a:solidFill>
                  <a:srgbClr val="74AE54"/>
                </a:solidFill>
                <a:latin typeface="Arial Black"/>
              </a:rPr>
              <a:t>Tip 5</a:t>
            </a:r>
          </a:p>
        </p:txBody>
      </p:sp>
      <p:sp>
        <p:nvSpPr>
          <p:cNvPr id="20" name="TextBox 19"/>
          <p:cNvSpPr txBox="1"/>
          <p:nvPr/>
        </p:nvSpPr>
        <p:spPr>
          <a:xfrm>
            <a:off x="975664" y="5440680"/>
            <a:ext cx="10241280" cy="365760"/>
          </a:xfrm>
          <a:prstGeom prst="rect">
            <a:avLst/>
          </a:prstGeom>
          <a:noFill/>
        </p:spPr>
        <p:txBody>
          <a:bodyPr wrap="square">
            <a:spAutoFit/>
          </a:bodyPr>
          <a:lstStyle/>
          <a:p>
            <a:r>
              <a:rPr sz="1000" b="0" i="0">
                <a:solidFill>
                  <a:srgbClr val="111111"/>
                </a:solidFill>
                <a:latin typeface="Arial"/>
              </a:rPr>
              <a:t>Report barriers. Don't just work around them — flag them for systemic improvement.</a:t>
            </a:r>
          </a:p>
        </p:txBody>
      </p:sp>
      <p:sp>
        <p:nvSpPr>
          <p:cNvPr id="21" name="Rectangle 20"/>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3" name="Rectangle 22"/>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295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24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752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981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210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387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Reflection Prompt</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R  E  F  L  E  C  T  I  O  N</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Reflection Prompt</a:t>
            </a:r>
          </a:p>
        </p:txBody>
      </p:sp>
      <p:sp>
        <p:nvSpPr>
          <p:cNvPr id="9" name="Rectangle 8"/>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11" name="Rectangle 10"/>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95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524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752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981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10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4387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MAP Action Planning</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M  Y     A  C  T  I  O  N     P  L  A  N  N  I  N  G</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MAP Action Planning</a:t>
            </a:r>
          </a:p>
        </p:txBody>
      </p:sp>
      <p:sp>
        <p:nvSpPr>
          <p:cNvPr id="9" name="TextBox 8"/>
          <p:cNvSpPr txBox="1"/>
          <p:nvPr/>
        </p:nvSpPr>
        <p:spPr>
          <a:xfrm>
            <a:off x="609904" y="1645920"/>
            <a:ext cx="9144000" cy="548640"/>
          </a:xfrm>
          <a:prstGeom prst="rect">
            <a:avLst/>
          </a:prstGeom>
          <a:noFill/>
        </p:spPr>
        <p:txBody>
          <a:bodyPr wrap="square">
            <a:spAutoFit/>
          </a:bodyPr>
          <a:lstStyle/>
          <a:p>
            <a:r>
              <a:rPr sz="1500" b="0" i="0">
                <a:solidFill>
                  <a:srgbClr val="5A5A5A"/>
                </a:solidFill>
                <a:latin typeface="Arial"/>
              </a:rPr>
              <a:t>Reflect on what you have learned. This is private and not submitted.</a:t>
            </a:r>
          </a:p>
        </p:txBody>
      </p:sp>
      <p:sp>
        <p:nvSpPr>
          <p:cNvPr id="10" name="Rectangle 9"/>
          <p:cNvSpPr/>
          <p:nvPr/>
        </p:nvSpPr>
        <p:spPr>
          <a:xfrm>
            <a:off x="609904" y="2926080"/>
            <a:ext cx="10972800" cy="1005840"/>
          </a:xfrm>
          <a:prstGeom prst="rect">
            <a:avLst/>
          </a:prstGeom>
          <a:solidFill>
            <a:srgbClr val="F7EDF5"/>
          </a:solidFill>
          <a:ln w="6350">
            <a:solidFill>
              <a:srgbClr val="C48A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904" y="2926080"/>
            <a:ext cx="54864" cy="1005840"/>
          </a:xfrm>
          <a:prstGeom prst="rect">
            <a:avLst/>
          </a:prstGeom>
          <a:solidFill>
            <a:srgbClr val="C48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504" y="3017520"/>
            <a:ext cx="1828800" cy="274320"/>
          </a:xfrm>
          <a:prstGeom prst="rect">
            <a:avLst/>
          </a:prstGeom>
          <a:noFill/>
        </p:spPr>
        <p:txBody>
          <a:bodyPr wrap="square">
            <a:spAutoFit/>
          </a:bodyPr>
          <a:lstStyle/>
          <a:p>
            <a:r>
              <a:rPr sz="1000" b="1" i="0">
                <a:solidFill>
                  <a:srgbClr val="C48ABD"/>
                </a:solidFill>
                <a:latin typeface="Arial Black"/>
              </a:rPr>
              <a:t>STOP</a:t>
            </a:r>
          </a:p>
        </p:txBody>
      </p:sp>
      <p:sp>
        <p:nvSpPr>
          <p:cNvPr id="13" name="TextBox 12"/>
          <p:cNvSpPr txBox="1"/>
          <p:nvPr/>
        </p:nvSpPr>
        <p:spPr>
          <a:xfrm>
            <a:off x="838504" y="3291840"/>
            <a:ext cx="10515600" cy="548640"/>
          </a:xfrm>
          <a:prstGeom prst="rect">
            <a:avLst/>
          </a:prstGeom>
          <a:noFill/>
        </p:spPr>
        <p:txBody>
          <a:bodyPr wrap="square">
            <a:spAutoFit/>
          </a:bodyPr>
          <a:lstStyle/>
          <a:p>
            <a:r>
              <a:rPr sz="1000" b="0" i="1">
                <a:solidFill>
                  <a:srgbClr val="5A5A5A"/>
                </a:solidFill>
                <a:latin typeface="Arial"/>
              </a:rPr>
              <a:t>One thing I will stop doing</a:t>
            </a:r>
          </a:p>
        </p:txBody>
      </p:sp>
      <p:sp>
        <p:nvSpPr>
          <p:cNvPr id="14" name="Rectangle 13"/>
          <p:cNvSpPr/>
          <p:nvPr/>
        </p:nvSpPr>
        <p:spPr>
          <a:xfrm>
            <a:off x="609904" y="4069080"/>
            <a:ext cx="10972800" cy="1005840"/>
          </a:xfrm>
          <a:prstGeom prst="rect">
            <a:avLst/>
          </a:prstGeom>
          <a:solidFill>
            <a:srgbClr val="F7EDF5"/>
          </a:solidFill>
          <a:ln w="6350">
            <a:solidFill>
              <a:srgbClr val="C48A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9904" y="4069080"/>
            <a:ext cx="54864" cy="1005840"/>
          </a:xfrm>
          <a:prstGeom prst="rect">
            <a:avLst/>
          </a:prstGeom>
          <a:solidFill>
            <a:srgbClr val="C48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504" y="4160520"/>
            <a:ext cx="1828800" cy="274320"/>
          </a:xfrm>
          <a:prstGeom prst="rect">
            <a:avLst/>
          </a:prstGeom>
          <a:noFill/>
        </p:spPr>
        <p:txBody>
          <a:bodyPr wrap="square">
            <a:spAutoFit/>
          </a:bodyPr>
          <a:lstStyle/>
          <a:p>
            <a:r>
              <a:rPr sz="1000" b="1" i="0">
                <a:solidFill>
                  <a:srgbClr val="C48ABD"/>
                </a:solidFill>
                <a:latin typeface="Arial Black"/>
              </a:rPr>
              <a:t>START</a:t>
            </a:r>
          </a:p>
        </p:txBody>
      </p:sp>
      <p:sp>
        <p:nvSpPr>
          <p:cNvPr id="17" name="TextBox 16"/>
          <p:cNvSpPr txBox="1"/>
          <p:nvPr/>
        </p:nvSpPr>
        <p:spPr>
          <a:xfrm>
            <a:off x="838504" y="4434840"/>
            <a:ext cx="10515600" cy="548640"/>
          </a:xfrm>
          <a:prstGeom prst="rect">
            <a:avLst/>
          </a:prstGeom>
          <a:noFill/>
        </p:spPr>
        <p:txBody>
          <a:bodyPr wrap="square">
            <a:spAutoFit/>
          </a:bodyPr>
          <a:lstStyle/>
          <a:p>
            <a:r>
              <a:rPr sz="1000" b="0" i="1">
                <a:solidFill>
                  <a:srgbClr val="5A5A5A"/>
                </a:solidFill>
                <a:latin typeface="Arial"/>
              </a:rPr>
              <a:t>One thing I will start doing</a:t>
            </a:r>
          </a:p>
        </p:txBody>
      </p:sp>
      <p:sp>
        <p:nvSpPr>
          <p:cNvPr id="18" name="Rectangle 17"/>
          <p:cNvSpPr/>
          <p:nvPr/>
        </p:nvSpPr>
        <p:spPr>
          <a:xfrm>
            <a:off x="609904" y="5212080"/>
            <a:ext cx="10972800" cy="1005840"/>
          </a:xfrm>
          <a:prstGeom prst="rect">
            <a:avLst/>
          </a:prstGeom>
          <a:solidFill>
            <a:srgbClr val="F7EDF5"/>
          </a:solidFill>
          <a:ln w="6350">
            <a:solidFill>
              <a:srgbClr val="C48A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9904" y="5212080"/>
            <a:ext cx="54864" cy="1005840"/>
          </a:xfrm>
          <a:prstGeom prst="rect">
            <a:avLst/>
          </a:prstGeom>
          <a:solidFill>
            <a:srgbClr val="C48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504" y="5303520"/>
            <a:ext cx="1828800" cy="274320"/>
          </a:xfrm>
          <a:prstGeom prst="rect">
            <a:avLst/>
          </a:prstGeom>
          <a:noFill/>
        </p:spPr>
        <p:txBody>
          <a:bodyPr wrap="square">
            <a:spAutoFit/>
          </a:bodyPr>
          <a:lstStyle/>
          <a:p>
            <a:r>
              <a:rPr sz="1000" b="1" i="0">
                <a:solidFill>
                  <a:srgbClr val="C48ABD"/>
                </a:solidFill>
                <a:latin typeface="Arial Black"/>
              </a:rPr>
              <a:t>CONTINUE</a:t>
            </a:r>
          </a:p>
        </p:txBody>
      </p:sp>
      <p:sp>
        <p:nvSpPr>
          <p:cNvPr id="21" name="TextBox 20"/>
          <p:cNvSpPr txBox="1"/>
          <p:nvPr/>
        </p:nvSpPr>
        <p:spPr>
          <a:xfrm>
            <a:off x="838504" y="5577840"/>
            <a:ext cx="10515600" cy="548640"/>
          </a:xfrm>
          <a:prstGeom prst="rect">
            <a:avLst/>
          </a:prstGeom>
          <a:noFill/>
        </p:spPr>
        <p:txBody>
          <a:bodyPr wrap="square">
            <a:spAutoFit/>
          </a:bodyPr>
          <a:lstStyle/>
          <a:p>
            <a:r>
              <a:rPr sz="1000" b="0" i="1">
                <a:solidFill>
                  <a:srgbClr val="5A5A5A"/>
                </a:solidFill>
                <a:latin typeface="Arial"/>
              </a:rPr>
              <a:t>One thing I will continue doing *(optional)</a:t>
            </a:r>
          </a:p>
        </p:txBody>
      </p:sp>
      <p:sp>
        <p:nvSpPr>
          <p:cNvPr id="22" name="Rectangle 21"/>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4" name="Rectangle 23"/>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95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24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752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981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210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438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6673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Key Takeaways</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R  E  V  I  E  W</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Key Takeaways</a:t>
            </a:r>
          </a:p>
        </p:txBody>
      </p:sp>
      <p:sp>
        <p:nvSpPr>
          <p:cNvPr id="9" name="Rectangle 8"/>
          <p:cNvSpPr/>
          <p:nvPr/>
        </p:nvSpPr>
        <p:spPr>
          <a:xfrm>
            <a:off x="609904" y="2560320"/>
            <a:ext cx="5029200" cy="1371600"/>
          </a:xfrm>
          <a:prstGeom prst="rect">
            <a:avLst/>
          </a:prstGeom>
          <a:solidFill>
            <a:srgbClr val="FFFFFF"/>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9904" y="2560320"/>
            <a:ext cx="5029200" cy="36576"/>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7064" y="2670048"/>
            <a:ext cx="457200" cy="457200"/>
          </a:xfrm>
          <a:prstGeom prst="rect">
            <a:avLst/>
          </a:prstGeom>
          <a:noFill/>
        </p:spPr>
        <p:txBody>
          <a:bodyPr wrap="square">
            <a:spAutoFit/>
          </a:bodyPr>
          <a:lstStyle/>
          <a:p>
            <a:r>
              <a:rPr sz="2800" b="1" i="0">
                <a:solidFill>
                  <a:srgbClr val="245BAA"/>
                </a:solidFill>
                <a:latin typeface="Arial Black"/>
              </a:rPr>
              <a:t>1</a:t>
            </a:r>
          </a:p>
        </p:txBody>
      </p:sp>
      <p:sp>
        <p:nvSpPr>
          <p:cNvPr id="12" name="TextBox 11"/>
          <p:cNvSpPr txBox="1"/>
          <p:nvPr/>
        </p:nvSpPr>
        <p:spPr>
          <a:xfrm>
            <a:off x="1249984" y="2670048"/>
            <a:ext cx="4251960" cy="1188720"/>
          </a:xfrm>
          <a:prstGeom prst="rect">
            <a:avLst/>
          </a:prstGeom>
          <a:noFill/>
        </p:spPr>
        <p:txBody>
          <a:bodyPr wrap="square">
            <a:spAutoFit/>
          </a:bodyPr>
          <a:lstStyle/>
          <a:p>
            <a:r>
              <a:rPr sz="1100" b="0" i="0">
                <a:solidFill>
                  <a:srgbClr val="111111"/>
                </a:solidFill>
                <a:latin typeface="Arial"/>
              </a:rPr>
              <a:t>Accessibility goes beyond physical barriers — it includes attitudes, systems, communication, digital tools, and policies.</a:t>
            </a:r>
          </a:p>
        </p:txBody>
      </p:sp>
      <p:sp>
        <p:nvSpPr>
          <p:cNvPr id="13" name="Rectangle 12"/>
          <p:cNvSpPr/>
          <p:nvPr/>
        </p:nvSpPr>
        <p:spPr>
          <a:xfrm>
            <a:off x="6096304" y="2560320"/>
            <a:ext cx="5029200" cy="1371600"/>
          </a:xfrm>
          <a:prstGeom prst="rect">
            <a:avLst/>
          </a:prstGeom>
          <a:solidFill>
            <a:srgbClr val="FFFFFF"/>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96304" y="2560320"/>
            <a:ext cx="5029200" cy="36576"/>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33464" y="2670048"/>
            <a:ext cx="457200" cy="457200"/>
          </a:xfrm>
          <a:prstGeom prst="rect">
            <a:avLst/>
          </a:prstGeom>
          <a:noFill/>
        </p:spPr>
        <p:txBody>
          <a:bodyPr wrap="square">
            <a:spAutoFit/>
          </a:bodyPr>
          <a:lstStyle/>
          <a:p>
            <a:r>
              <a:rPr sz="2800" b="1" i="0">
                <a:solidFill>
                  <a:srgbClr val="245BAA"/>
                </a:solidFill>
                <a:latin typeface="Arial Black"/>
              </a:rPr>
              <a:t>2</a:t>
            </a:r>
          </a:p>
        </p:txBody>
      </p:sp>
      <p:sp>
        <p:nvSpPr>
          <p:cNvPr id="16" name="TextBox 15"/>
          <p:cNvSpPr txBox="1"/>
          <p:nvPr/>
        </p:nvSpPr>
        <p:spPr>
          <a:xfrm>
            <a:off x="6736384" y="2670048"/>
            <a:ext cx="4251960" cy="1188720"/>
          </a:xfrm>
          <a:prstGeom prst="rect">
            <a:avLst/>
          </a:prstGeom>
          <a:noFill/>
        </p:spPr>
        <p:txBody>
          <a:bodyPr wrap="square">
            <a:spAutoFit/>
          </a:bodyPr>
          <a:lstStyle/>
          <a:p>
            <a:r>
              <a:rPr sz="1100" b="0" i="0">
                <a:solidFill>
                  <a:srgbClr val="111111"/>
                </a:solidFill>
                <a:latin typeface="Arial"/>
              </a:rPr>
              <a:t>The social and rights-based models focus on removing barriers, not fixing people.</a:t>
            </a:r>
          </a:p>
        </p:txBody>
      </p:sp>
      <p:sp>
        <p:nvSpPr>
          <p:cNvPr id="17" name="Rectangle 16"/>
          <p:cNvSpPr/>
          <p:nvPr/>
        </p:nvSpPr>
        <p:spPr>
          <a:xfrm>
            <a:off x="609904" y="4251960"/>
            <a:ext cx="5029200" cy="1371600"/>
          </a:xfrm>
          <a:prstGeom prst="rect">
            <a:avLst/>
          </a:prstGeom>
          <a:solidFill>
            <a:srgbClr val="FFFFFF"/>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904" y="4251960"/>
            <a:ext cx="5029200" cy="36576"/>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7064" y="4361688"/>
            <a:ext cx="457200" cy="457200"/>
          </a:xfrm>
          <a:prstGeom prst="rect">
            <a:avLst/>
          </a:prstGeom>
          <a:noFill/>
        </p:spPr>
        <p:txBody>
          <a:bodyPr wrap="square">
            <a:spAutoFit/>
          </a:bodyPr>
          <a:lstStyle/>
          <a:p>
            <a:r>
              <a:rPr sz="2800" b="1" i="0">
                <a:solidFill>
                  <a:srgbClr val="245BAA"/>
                </a:solidFill>
                <a:latin typeface="Arial Black"/>
              </a:rPr>
              <a:t>3</a:t>
            </a:r>
          </a:p>
        </p:txBody>
      </p:sp>
      <p:sp>
        <p:nvSpPr>
          <p:cNvPr id="20" name="TextBox 19"/>
          <p:cNvSpPr txBox="1"/>
          <p:nvPr/>
        </p:nvSpPr>
        <p:spPr>
          <a:xfrm>
            <a:off x="1249984" y="4361688"/>
            <a:ext cx="4251960" cy="1188720"/>
          </a:xfrm>
          <a:prstGeom prst="rect">
            <a:avLst/>
          </a:prstGeom>
          <a:noFill/>
        </p:spPr>
        <p:txBody>
          <a:bodyPr wrap="square">
            <a:spAutoFit/>
          </a:bodyPr>
          <a:lstStyle/>
          <a:p>
            <a:r>
              <a:rPr sz="1100" b="0" i="0">
                <a:solidFill>
                  <a:srgbClr val="111111"/>
                </a:solidFill>
                <a:latin typeface="Arial"/>
              </a:rPr>
              <a:t>The Accessibility Decision Path (Pause → Listen → Apply → Adapt → Seek Support) gives you a practical tool for any situation.</a:t>
            </a:r>
          </a:p>
        </p:txBody>
      </p:sp>
      <p:sp>
        <p:nvSpPr>
          <p:cNvPr id="21" name="Rectangle 20"/>
          <p:cNvSpPr/>
          <p:nvPr/>
        </p:nvSpPr>
        <p:spPr>
          <a:xfrm>
            <a:off x="6096304" y="4251960"/>
            <a:ext cx="5029200" cy="1371600"/>
          </a:xfrm>
          <a:prstGeom prst="rect">
            <a:avLst/>
          </a:prstGeom>
          <a:solidFill>
            <a:srgbClr val="FFFFFF"/>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6304" y="4251960"/>
            <a:ext cx="5029200" cy="36576"/>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33464" y="4361688"/>
            <a:ext cx="457200" cy="457200"/>
          </a:xfrm>
          <a:prstGeom prst="rect">
            <a:avLst/>
          </a:prstGeom>
          <a:noFill/>
        </p:spPr>
        <p:txBody>
          <a:bodyPr wrap="square">
            <a:spAutoFit/>
          </a:bodyPr>
          <a:lstStyle/>
          <a:p>
            <a:r>
              <a:rPr sz="2800" b="1" i="0">
                <a:solidFill>
                  <a:srgbClr val="245BAA"/>
                </a:solidFill>
                <a:latin typeface="Arial Black"/>
              </a:rPr>
              <a:t>4</a:t>
            </a:r>
          </a:p>
        </p:txBody>
      </p:sp>
      <p:sp>
        <p:nvSpPr>
          <p:cNvPr id="24" name="TextBox 23"/>
          <p:cNvSpPr txBox="1"/>
          <p:nvPr/>
        </p:nvSpPr>
        <p:spPr>
          <a:xfrm>
            <a:off x="6736384" y="4361688"/>
            <a:ext cx="4251960" cy="1188720"/>
          </a:xfrm>
          <a:prstGeom prst="rect">
            <a:avLst/>
          </a:prstGeom>
          <a:noFill/>
        </p:spPr>
        <p:txBody>
          <a:bodyPr wrap="square">
            <a:spAutoFit/>
          </a:bodyPr>
          <a:lstStyle/>
          <a:p>
            <a:r>
              <a:rPr sz="1100" b="0" i="0">
                <a:solidFill>
                  <a:srgbClr val="111111"/>
                </a:solidFill>
                <a:latin typeface="Arial"/>
              </a:rPr>
              <a:t>Accessibility is everyone's responsibility at UHN — not just one department.</a:t>
            </a:r>
          </a:p>
        </p:txBody>
      </p:sp>
      <p:sp>
        <p:nvSpPr>
          <p:cNvPr id="25" name="Rectangle 24"/>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7" name="Rectangle 26"/>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95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524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752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81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10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38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73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Listen and Reflect (Podcast)</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A  U  D  I  O     L  E  A  R  N  I  N  G</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Listen and Reflect</a:t>
            </a:r>
          </a:p>
        </p:txBody>
      </p:sp>
      <p:sp>
        <p:nvSpPr>
          <p:cNvPr id="9" name="TextBox 8"/>
          <p:cNvSpPr txBox="1"/>
          <p:nvPr/>
        </p:nvSpPr>
        <p:spPr>
          <a:xfrm>
            <a:off x="609904" y="1645920"/>
            <a:ext cx="9144000" cy="548640"/>
          </a:xfrm>
          <a:prstGeom prst="rect">
            <a:avLst/>
          </a:prstGeom>
          <a:noFill/>
        </p:spPr>
        <p:txBody>
          <a:bodyPr wrap="square">
            <a:spAutoFit/>
          </a:bodyPr>
          <a:lstStyle/>
          <a:p>
            <a:r>
              <a:rPr sz="1500" b="0" i="0">
                <a:solidFill>
                  <a:srgbClr val="5A5A5A"/>
                </a:solidFill>
                <a:latin typeface="Arial"/>
              </a:rPr>
              <a:t>A short patient-advisor reflection on what good accessibility actually feels like. Captions and a full transcript are always available.</a:t>
            </a:r>
          </a:p>
        </p:txBody>
      </p:sp>
      <p:sp>
        <p:nvSpPr>
          <p:cNvPr id="10" name="Rounded Rectangle 9"/>
          <p:cNvSpPr/>
          <p:nvPr/>
        </p:nvSpPr>
        <p:spPr>
          <a:xfrm>
            <a:off x="609904" y="2743200"/>
            <a:ext cx="5029200" cy="2286000"/>
          </a:xfrm>
          <a:prstGeom prst="roundRect">
            <a:avLst/>
          </a:prstGeom>
          <a:solidFill>
            <a:srgbClr val="EAF1FA"/>
          </a:solidFill>
          <a:ln>
            <a:solidFill>
              <a:srgbClr val="24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4224" y="2926080"/>
            <a:ext cx="4480560" cy="274320"/>
          </a:xfrm>
          <a:prstGeom prst="rect">
            <a:avLst/>
          </a:prstGeom>
          <a:noFill/>
        </p:spPr>
        <p:txBody>
          <a:bodyPr wrap="square">
            <a:spAutoFit/>
          </a:bodyPr>
          <a:lstStyle/>
          <a:p>
            <a:r>
              <a:rPr sz="1000" b="0" i="0">
                <a:solidFill>
                  <a:srgbClr val="245BAA"/>
                </a:solidFill>
                <a:latin typeface="Arial"/>
              </a:rPr>
              <a:t>Episode 01 of 18 · Foundations</a:t>
            </a:r>
          </a:p>
        </p:txBody>
      </p:sp>
      <p:sp>
        <p:nvSpPr>
          <p:cNvPr id="12" name="TextBox 11"/>
          <p:cNvSpPr txBox="1"/>
          <p:nvPr/>
        </p:nvSpPr>
        <p:spPr>
          <a:xfrm>
            <a:off x="884224" y="3291840"/>
            <a:ext cx="4480560" cy="457200"/>
          </a:xfrm>
          <a:prstGeom prst="rect">
            <a:avLst/>
          </a:prstGeom>
          <a:noFill/>
        </p:spPr>
        <p:txBody>
          <a:bodyPr wrap="square">
            <a:spAutoFit/>
          </a:bodyPr>
          <a:lstStyle/>
          <a:p>
            <a:r>
              <a:rPr sz="1600" b="1" i="0">
                <a:solidFill>
                  <a:srgbClr val="192858"/>
                </a:solidFill>
                <a:latin typeface="Arial Black"/>
              </a:rPr>
              <a:t>Accessibility in Everyday Care</a:t>
            </a:r>
          </a:p>
        </p:txBody>
      </p:sp>
      <p:sp>
        <p:nvSpPr>
          <p:cNvPr id="13" name="Rectangle 12"/>
          <p:cNvSpPr/>
          <p:nvPr/>
        </p:nvSpPr>
        <p:spPr>
          <a:xfrm>
            <a:off x="884224" y="4023360"/>
            <a:ext cx="4480560" cy="54864"/>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84224" y="4023360"/>
            <a:ext cx="1371600" cy="54864"/>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4224" y="4160520"/>
            <a:ext cx="4480560" cy="274320"/>
          </a:xfrm>
          <a:prstGeom prst="rect">
            <a:avLst/>
          </a:prstGeom>
          <a:noFill/>
        </p:spPr>
        <p:txBody>
          <a:bodyPr wrap="square">
            <a:spAutoFit/>
          </a:bodyPr>
          <a:lstStyle/>
          <a:p>
            <a:r>
              <a:rPr sz="900" b="0" i="0">
                <a:solidFill>
                  <a:srgbClr val="5A5A5A"/>
                </a:solidFill>
                <a:latin typeface="Arial"/>
              </a:rPr>
              <a:t>▶  0:53 / 2:30    CC  Captions on    1.0×</a:t>
            </a:r>
          </a:p>
        </p:txBody>
      </p:sp>
      <p:sp>
        <p:nvSpPr>
          <p:cNvPr id="16" name="TextBox 15"/>
          <p:cNvSpPr txBox="1"/>
          <p:nvPr/>
        </p:nvSpPr>
        <p:spPr>
          <a:xfrm>
            <a:off x="6400800" y="2743200"/>
            <a:ext cx="5029200" cy="274320"/>
          </a:xfrm>
          <a:prstGeom prst="rect">
            <a:avLst/>
          </a:prstGeom>
          <a:noFill/>
        </p:spPr>
        <p:txBody>
          <a:bodyPr wrap="square">
            <a:spAutoFit/>
          </a:bodyPr>
          <a:lstStyle/>
          <a:p>
            <a:r>
              <a:rPr sz="1200" b="1" i="0">
                <a:solidFill>
                  <a:srgbClr val="192858"/>
                </a:solidFill>
                <a:latin typeface="Arial Black"/>
              </a:rPr>
              <a:t>Key listening points</a:t>
            </a:r>
          </a:p>
        </p:txBody>
      </p:sp>
      <p:sp>
        <p:nvSpPr>
          <p:cNvPr id="17" name="Rectangle 16"/>
          <p:cNvSpPr/>
          <p:nvPr/>
        </p:nvSpPr>
        <p:spPr>
          <a:xfrm>
            <a:off x="6400800" y="3200400"/>
            <a:ext cx="5029200" cy="502920"/>
          </a:xfrm>
          <a:prstGeom prst="rect">
            <a:avLst/>
          </a:prstGeom>
          <a:solidFill>
            <a:srgbClr val="F4F4F4"/>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3273552"/>
            <a:ext cx="4754880" cy="365760"/>
          </a:xfrm>
          <a:prstGeom prst="rect">
            <a:avLst/>
          </a:prstGeom>
          <a:noFill/>
        </p:spPr>
        <p:txBody>
          <a:bodyPr wrap="square">
            <a:spAutoFit/>
          </a:bodyPr>
          <a:lstStyle/>
          <a:p>
            <a:r>
              <a:rPr sz="1000" b="0" i="0">
                <a:solidFill>
                  <a:srgbClr val="111111"/>
                </a:solidFill>
                <a:latin typeface="Arial"/>
              </a:rPr>
              <a:t>00:18 — Why a tone of voice at intake matters more than the form.</a:t>
            </a:r>
          </a:p>
        </p:txBody>
      </p:sp>
      <p:sp>
        <p:nvSpPr>
          <p:cNvPr id="19" name="Rectangle 18"/>
          <p:cNvSpPr/>
          <p:nvPr/>
        </p:nvSpPr>
        <p:spPr>
          <a:xfrm>
            <a:off x="6400800" y="3794760"/>
            <a:ext cx="5029200" cy="502920"/>
          </a:xfrm>
          <a:prstGeom prst="rect">
            <a:avLst/>
          </a:prstGeom>
          <a:solidFill>
            <a:srgbClr val="F4F4F4"/>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3867912"/>
            <a:ext cx="4754880" cy="365760"/>
          </a:xfrm>
          <a:prstGeom prst="rect">
            <a:avLst/>
          </a:prstGeom>
          <a:noFill/>
        </p:spPr>
        <p:txBody>
          <a:bodyPr wrap="square">
            <a:spAutoFit/>
          </a:bodyPr>
          <a:lstStyle/>
          <a:p>
            <a:r>
              <a:rPr sz="1000" b="0" i="0">
                <a:solidFill>
                  <a:srgbClr val="111111"/>
                </a:solidFill>
                <a:latin typeface="Arial"/>
              </a:rPr>
              <a:t>01:02 — How "ask, then confirm" prevented a wrong assumption.</a:t>
            </a:r>
          </a:p>
        </p:txBody>
      </p:sp>
      <p:sp>
        <p:nvSpPr>
          <p:cNvPr id="21" name="Rectangle 20"/>
          <p:cNvSpPr/>
          <p:nvPr/>
        </p:nvSpPr>
        <p:spPr>
          <a:xfrm>
            <a:off x="6400800" y="4389120"/>
            <a:ext cx="5029200" cy="502920"/>
          </a:xfrm>
          <a:prstGeom prst="rect">
            <a:avLst/>
          </a:prstGeom>
          <a:solidFill>
            <a:srgbClr val="F4F4F4"/>
          </a:solidFill>
          <a:ln w="6350">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60" y="4462272"/>
            <a:ext cx="4754880" cy="365760"/>
          </a:xfrm>
          <a:prstGeom prst="rect">
            <a:avLst/>
          </a:prstGeom>
          <a:noFill/>
        </p:spPr>
        <p:txBody>
          <a:bodyPr wrap="square">
            <a:spAutoFit/>
          </a:bodyPr>
          <a:lstStyle/>
          <a:p>
            <a:r>
              <a:rPr sz="1000" b="0" i="0">
                <a:solidFill>
                  <a:srgbClr val="111111"/>
                </a:solidFill>
                <a:latin typeface="Arial"/>
              </a:rPr>
              <a:t>01:54 — One sentence every staff member can use on a busy shift.</a:t>
            </a:r>
          </a:p>
        </p:txBody>
      </p:sp>
      <p:sp>
        <p:nvSpPr>
          <p:cNvPr id="23" name="Rectangle 22"/>
          <p:cNvSpPr/>
          <p:nvPr/>
        </p:nvSpPr>
        <p:spPr>
          <a:xfrm>
            <a:off x="609904" y="5486400"/>
            <a:ext cx="10972800" cy="54864"/>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9904" y="5623560"/>
            <a:ext cx="10972800" cy="365760"/>
          </a:xfrm>
          <a:prstGeom prst="rect">
            <a:avLst/>
          </a:prstGeom>
          <a:noFill/>
        </p:spPr>
        <p:txBody>
          <a:bodyPr wrap="square">
            <a:spAutoFit/>
          </a:bodyPr>
          <a:lstStyle/>
          <a:p>
            <a:r>
              <a:rPr sz="1000" b="0" i="1">
                <a:solidFill>
                  <a:srgbClr val="5A5A5A"/>
                </a:solidFill>
                <a:latin typeface="Arial"/>
              </a:rPr>
              <a:t>Reflection: Think of one patient interaction this week. Which moment would have shifted if you had paused to ask, before you acted?</a:t>
            </a:r>
          </a:p>
        </p:txBody>
      </p:sp>
      <p:sp>
        <p:nvSpPr>
          <p:cNvPr id="25" name="Rectangle 24"/>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7" name="Rectangle 26"/>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95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524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752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81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10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38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7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8959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Decision Tree Activity</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C  T  I  O  N     1     ·     S  C  E  N  A  R  I  O</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Decision Tree Activity</a:t>
            </a:r>
          </a:p>
        </p:txBody>
      </p:sp>
      <p:sp>
        <p:nvSpPr>
          <p:cNvPr id="9" name="Rounded Rectangle 8"/>
          <p:cNvSpPr/>
          <p:nvPr/>
        </p:nvSpPr>
        <p:spPr>
          <a:xfrm>
            <a:off x="609904" y="2560320"/>
            <a:ext cx="4114800" cy="3200400"/>
          </a:xfrm>
          <a:prstGeom prst="roundRect">
            <a:avLst/>
          </a:prstGeom>
          <a:solidFill>
            <a:srgbClr val="F4F4F4"/>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24304" y="3931920"/>
            <a:ext cx="2286000" cy="457200"/>
          </a:xfrm>
          <a:prstGeom prst="rect">
            <a:avLst/>
          </a:prstGeom>
          <a:noFill/>
        </p:spPr>
        <p:txBody>
          <a:bodyPr wrap="square">
            <a:spAutoFit/>
          </a:bodyPr>
          <a:lstStyle/>
          <a:p>
            <a:pPr algn="ctr"/>
            <a:r>
              <a:rPr sz="1100" b="0" i="1">
                <a:solidFill>
                  <a:srgbClr val="5A5A5A"/>
                </a:solidFill>
                <a:latin typeface="Arial"/>
              </a:rPr>
              <a:t>[Character Photo]</a:t>
            </a:r>
          </a:p>
        </p:txBody>
      </p:sp>
      <p:sp>
        <p:nvSpPr>
          <p:cNvPr id="11" name="Rectangle 10"/>
          <p:cNvSpPr/>
          <p:nvPr/>
        </p:nvSpPr>
        <p:spPr>
          <a:xfrm>
            <a:off x="5303520" y="2560320"/>
            <a:ext cx="54864" cy="1371600"/>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58384" y="2560320"/>
            <a:ext cx="6163056" cy="1371600"/>
          </a:xfrm>
          <a:prstGeom prst="rect">
            <a:avLst/>
          </a:prstGeom>
          <a:solidFill>
            <a:srgbClr val="FD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32120" y="2697480"/>
            <a:ext cx="5760720" cy="1097280"/>
          </a:xfrm>
          <a:prstGeom prst="rect">
            <a:avLst/>
          </a:prstGeom>
          <a:noFill/>
        </p:spPr>
        <p:txBody>
          <a:bodyPr wrap="square">
            <a:spAutoFit/>
          </a:bodyPr>
          <a:lstStyle/>
          <a:p>
            <a:r>
              <a:rPr sz="1100" b="0" i="0">
                <a:solidFill>
                  <a:srgbClr val="111111"/>
                </a:solidFill>
                <a:latin typeface="Arial"/>
              </a:rPr>
              <a:t>Read the scenario below.</a:t>
            </a:r>
          </a:p>
        </p:txBody>
      </p:sp>
      <p:sp>
        <p:nvSpPr>
          <p:cNvPr id="14" name="TextBox 13"/>
          <p:cNvSpPr txBox="1"/>
          <p:nvPr/>
        </p:nvSpPr>
        <p:spPr>
          <a:xfrm>
            <a:off x="5303520" y="4206240"/>
            <a:ext cx="6217920" cy="320040"/>
          </a:xfrm>
          <a:prstGeom prst="rect">
            <a:avLst/>
          </a:prstGeom>
          <a:noFill/>
        </p:spPr>
        <p:txBody>
          <a:bodyPr wrap="square">
            <a:spAutoFit/>
          </a:bodyPr>
          <a:lstStyle/>
          <a:p>
            <a:r>
              <a:rPr sz="1400" b="1" i="0">
                <a:solidFill>
                  <a:srgbClr val="245BAA"/>
                </a:solidFill>
                <a:latin typeface="Arial Black"/>
              </a:rPr>
              <a:t>What do you do?</a:t>
            </a:r>
          </a:p>
        </p:txBody>
      </p:sp>
      <p:sp>
        <p:nvSpPr>
          <p:cNvPr id="15" name="Rounded Rectangle 14"/>
          <p:cNvSpPr/>
          <p:nvPr/>
        </p:nvSpPr>
        <p:spPr>
          <a:xfrm>
            <a:off x="5303520" y="4663440"/>
            <a:ext cx="6217920" cy="41148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394960" y="473202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A</a:t>
            </a:r>
          </a:p>
        </p:txBody>
      </p:sp>
      <p:sp>
        <p:nvSpPr>
          <p:cNvPr id="18" name="TextBox 17"/>
          <p:cNvSpPr txBox="1"/>
          <p:nvPr/>
        </p:nvSpPr>
        <p:spPr>
          <a:xfrm>
            <a:off x="5760720" y="4663440"/>
            <a:ext cx="5669280" cy="411480"/>
          </a:xfrm>
          <a:prstGeom prst="rect">
            <a:avLst/>
          </a:prstGeom>
          <a:noFill/>
        </p:spPr>
        <p:txBody>
          <a:bodyPr wrap="square" anchor="ctr">
            <a:spAutoFit/>
          </a:bodyPr>
          <a:lstStyle/>
          <a:p>
            <a:r>
              <a:rPr sz="1000" b="0" i="0">
                <a:solidFill>
                  <a:srgbClr val="111111"/>
                </a:solidFill>
                <a:latin typeface="Arial"/>
              </a:rPr>
              <a:t>Continue with the standard intake process. Keep working through the form so the line keeps moving.</a:t>
            </a:r>
          </a:p>
        </p:txBody>
      </p:sp>
      <p:sp>
        <p:nvSpPr>
          <p:cNvPr id="19" name="Rounded Rectangle 18"/>
          <p:cNvSpPr/>
          <p:nvPr/>
        </p:nvSpPr>
        <p:spPr>
          <a:xfrm>
            <a:off x="5303520" y="5166360"/>
            <a:ext cx="6217920" cy="41148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394960" y="523494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B</a:t>
            </a:r>
          </a:p>
        </p:txBody>
      </p:sp>
      <p:sp>
        <p:nvSpPr>
          <p:cNvPr id="22" name="TextBox 21"/>
          <p:cNvSpPr txBox="1"/>
          <p:nvPr/>
        </p:nvSpPr>
        <p:spPr>
          <a:xfrm>
            <a:off x="5760720" y="5166360"/>
            <a:ext cx="5669280" cy="411480"/>
          </a:xfrm>
          <a:prstGeom prst="rect">
            <a:avLst/>
          </a:prstGeom>
          <a:noFill/>
        </p:spPr>
        <p:txBody>
          <a:bodyPr wrap="square" anchor="ctr">
            <a:spAutoFit/>
          </a:bodyPr>
          <a:lstStyle/>
          <a:p>
            <a:r>
              <a:rPr sz="1000" b="0" i="0">
                <a:solidFill>
                  <a:srgbClr val="111111"/>
                </a:solidFill>
                <a:latin typeface="Arial"/>
              </a:rPr>
              <a:t>Pause and ask how to support the patient. "Is there anything I can do to make this form easier today?"</a:t>
            </a:r>
          </a:p>
        </p:txBody>
      </p:sp>
      <p:sp>
        <p:nvSpPr>
          <p:cNvPr id="23" name="Rounded Rectangle 22"/>
          <p:cNvSpPr/>
          <p:nvPr/>
        </p:nvSpPr>
        <p:spPr>
          <a:xfrm>
            <a:off x="5303520" y="5669280"/>
            <a:ext cx="6217920" cy="41148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394960" y="5737860"/>
            <a:ext cx="274320" cy="274320"/>
          </a:xfrm>
          <a:prstGeom prst="ellipse">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al Black"/>
              </a:rPr>
              <a:t>C</a:t>
            </a:r>
          </a:p>
        </p:txBody>
      </p:sp>
      <p:sp>
        <p:nvSpPr>
          <p:cNvPr id="26" name="TextBox 25"/>
          <p:cNvSpPr txBox="1"/>
          <p:nvPr/>
        </p:nvSpPr>
        <p:spPr>
          <a:xfrm>
            <a:off x="5760720" y="5669280"/>
            <a:ext cx="5669280" cy="411480"/>
          </a:xfrm>
          <a:prstGeom prst="rect">
            <a:avLst/>
          </a:prstGeom>
          <a:noFill/>
        </p:spPr>
        <p:txBody>
          <a:bodyPr wrap="square" anchor="ctr">
            <a:spAutoFit/>
          </a:bodyPr>
          <a:lstStyle/>
          <a:p>
            <a:r>
              <a:rPr sz="1000" b="0" i="0">
                <a:solidFill>
                  <a:srgbClr val="111111"/>
                </a:solidFill>
                <a:latin typeface="Arial"/>
              </a:rPr>
              <a:t>Ask another staff member to take over. Hand off to a colleague while you keep the queue moving.</a:t>
            </a:r>
          </a:p>
        </p:txBody>
      </p:sp>
      <p:sp>
        <p:nvSpPr>
          <p:cNvPr id="27" name="Rectangle 26"/>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29" name="Rectangle 28"/>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295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24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752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81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210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438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667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959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Decision Tree Activity</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C  H  O  I  C  E     A     ·     P  O  O  R</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Consequence: A</a:t>
            </a:r>
          </a:p>
        </p:txBody>
      </p:sp>
      <p:sp>
        <p:nvSpPr>
          <p:cNvPr id="9" name="Rectangle 8"/>
          <p:cNvSpPr/>
          <p:nvPr/>
        </p:nvSpPr>
        <p:spPr>
          <a:xfrm>
            <a:off x="609904" y="2286000"/>
            <a:ext cx="54864" cy="731520"/>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4768" y="2286000"/>
            <a:ext cx="10515600" cy="731520"/>
          </a:xfrm>
          <a:prstGeom prst="rect">
            <a:avLst/>
          </a:prstGeom>
          <a:solidFill>
            <a:srgbClr val="FD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504" y="2377440"/>
            <a:ext cx="10058400" cy="548640"/>
          </a:xfrm>
          <a:prstGeom prst="rect">
            <a:avLst/>
          </a:prstGeom>
          <a:noFill/>
        </p:spPr>
        <p:txBody>
          <a:bodyPr wrap="square">
            <a:spAutoFit/>
          </a:bodyPr>
          <a:lstStyle/>
          <a:p>
            <a:r>
              <a:rPr sz="1000" b="1" i="0">
                <a:solidFill>
                  <a:srgbClr val="C0233B"/>
                </a:solidFill>
                <a:latin typeface="Arial Black"/>
              </a:rPr>
              <a:t>Your choice: </a:t>
            </a:r>
            <a:r>
              <a:rPr sz="1000" b="0" i="0">
                <a:solidFill>
                  <a:srgbClr val="111111"/>
                </a:solidFill>
                <a:latin typeface="Arial"/>
              </a:rPr>
              <a:t>Continue with the standard intake process. Keep working through the form so the line keeps moving.</a:t>
            </a:r>
          </a:p>
        </p:txBody>
      </p:sp>
      <p:sp>
        <p:nvSpPr>
          <p:cNvPr id="12" name="TextBox 11"/>
          <p:cNvSpPr txBox="1"/>
          <p:nvPr/>
        </p:nvSpPr>
        <p:spPr>
          <a:xfrm>
            <a:off x="609904" y="3291840"/>
            <a:ext cx="10515600" cy="1371600"/>
          </a:xfrm>
          <a:prstGeom prst="rect">
            <a:avLst/>
          </a:prstGeom>
          <a:noFill/>
        </p:spPr>
        <p:txBody>
          <a:bodyPr wrap="square">
            <a:spAutoFit/>
          </a:bodyPr>
          <a:lstStyle/>
          <a:p>
            <a:r>
              <a:rPr sz="1200" b="1" i="0">
                <a:solidFill>
                  <a:srgbClr val="C0233B"/>
                </a:solidFill>
                <a:latin typeface="Arial Black"/>
              </a:rPr>
              <a:t>Result: </a:t>
            </a:r>
            <a:r>
              <a:rPr sz="1200" b="0" i="0">
                <a:solidFill>
                  <a:srgbClr val="111111"/>
                </a:solidFill>
                <a:latin typeface="Arial"/>
              </a:rPr>
              <a:t>The patient becomes more frustrated. The barrier is never identified. The visit starts with a feeling of being rushed and unseen.</a:t>
            </a:r>
          </a:p>
        </p:txBody>
      </p:sp>
      <p:sp>
        <p:nvSpPr>
          <p:cNvPr id="13" name="Rectangle 12"/>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15" name="Rectangle 14"/>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95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24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52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981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210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438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667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95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1245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Decision Tree Activity</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C  H  O  I  C  E     B     ·     B  E  S  T</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Consequence: B</a:t>
            </a:r>
          </a:p>
        </p:txBody>
      </p:sp>
      <p:sp>
        <p:nvSpPr>
          <p:cNvPr id="9" name="Rectangle 8"/>
          <p:cNvSpPr/>
          <p:nvPr/>
        </p:nvSpPr>
        <p:spPr>
          <a:xfrm>
            <a:off x="609904" y="2286000"/>
            <a:ext cx="54864" cy="731520"/>
          </a:xfrm>
          <a:prstGeom prst="rect">
            <a:avLst/>
          </a:prstGeom>
          <a:solidFill>
            <a:srgbClr val="74A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4768" y="2286000"/>
            <a:ext cx="10515600" cy="731520"/>
          </a:xfrm>
          <a:prstGeom prst="rect">
            <a:avLst/>
          </a:prstGeom>
          <a:solidFill>
            <a:srgbClr val="EEF6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504" y="2377440"/>
            <a:ext cx="10058400" cy="548640"/>
          </a:xfrm>
          <a:prstGeom prst="rect">
            <a:avLst/>
          </a:prstGeom>
          <a:noFill/>
        </p:spPr>
        <p:txBody>
          <a:bodyPr wrap="square">
            <a:spAutoFit/>
          </a:bodyPr>
          <a:lstStyle/>
          <a:p>
            <a:r>
              <a:rPr sz="1000" b="1" i="0">
                <a:solidFill>
                  <a:srgbClr val="74AE54"/>
                </a:solidFill>
                <a:latin typeface="Arial Black"/>
              </a:rPr>
              <a:t>Your choice: </a:t>
            </a:r>
            <a:r>
              <a:rPr sz="1000" b="0" i="0">
                <a:solidFill>
                  <a:srgbClr val="111111"/>
                </a:solidFill>
                <a:latin typeface="Arial"/>
              </a:rPr>
              <a:t>Pause and ask how to support the patient. "Is there anything I can do to make this form easier today?"</a:t>
            </a:r>
          </a:p>
        </p:txBody>
      </p:sp>
      <p:sp>
        <p:nvSpPr>
          <p:cNvPr id="12" name="TextBox 11"/>
          <p:cNvSpPr txBox="1"/>
          <p:nvPr/>
        </p:nvSpPr>
        <p:spPr>
          <a:xfrm>
            <a:off x="609904" y="3291840"/>
            <a:ext cx="10515600" cy="1371600"/>
          </a:xfrm>
          <a:prstGeom prst="rect">
            <a:avLst/>
          </a:prstGeom>
          <a:noFill/>
        </p:spPr>
        <p:txBody>
          <a:bodyPr wrap="square">
            <a:spAutoFit/>
          </a:bodyPr>
          <a:lstStyle/>
          <a:p>
            <a:r>
              <a:rPr sz="1200" b="1" i="0">
                <a:solidFill>
                  <a:srgbClr val="74AE54"/>
                </a:solidFill>
                <a:latin typeface="Arial Black"/>
              </a:rPr>
              <a:t>Result: </a:t>
            </a:r>
            <a:r>
              <a:rPr sz="1200" b="0" i="0">
                <a:solidFill>
                  <a:srgbClr val="111111"/>
                </a:solidFill>
                <a:latin typeface="Arial"/>
              </a:rPr>
              <a:t>The patient names the barrier. You act on what they actually need. This is Step 1 of the Decision Path — Pause and Assess.</a:t>
            </a:r>
          </a:p>
        </p:txBody>
      </p:sp>
      <p:sp>
        <p:nvSpPr>
          <p:cNvPr id="13" name="Rectangle 12"/>
          <p:cNvSpPr/>
          <p:nvPr/>
        </p:nvSpPr>
        <p:spPr>
          <a:xfrm>
            <a:off x="609904" y="4572000"/>
            <a:ext cx="54864" cy="731520"/>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4768" y="4572000"/>
            <a:ext cx="10515600" cy="731520"/>
          </a:xfrm>
          <a:prstGeom prst="rect">
            <a:avLst/>
          </a:prstGeom>
          <a:solidFill>
            <a:srgbClr val="EA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504" y="4663440"/>
            <a:ext cx="10058400" cy="548640"/>
          </a:xfrm>
          <a:prstGeom prst="rect">
            <a:avLst/>
          </a:prstGeom>
          <a:noFill/>
        </p:spPr>
        <p:txBody>
          <a:bodyPr wrap="square">
            <a:spAutoFit/>
          </a:bodyPr>
          <a:lstStyle/>
          <a:p>
            <a:r>
              <a:rPr sz="1000" b="1" i="0">
                <a:solidFill>
                  <a:srgbClr val="245BAA"/>
                </a:solidFill>
                <a:latin typeface="Arial Black"/>
              </a:rPr>
              <a:t>Key Takeaway: </a:t>
            </a:r>
            <a:r>
              <a:rPr sz="1000" b="0" i="0">
                <a:solidFill>
                  <a:srgbClr val="111111"/>
                </a:solidFill>
                <a:latin typeface="Arial"/>
              </a:rPr>
              <a:t>Pausing and asking, before assuming, is the single behaviour that distinguishes accessible care from "trying our best." The patient names the barrier and you act on what they actually need.</a:t>
            </a:r>
          </a:p>
        </p:txBody>
      </p:sp>
      <p:sp>
        <p:nvSpPr>
          <p:cNvPr id="16" name="TextBox 15"/>
          <p:cNvSpPr txBox="1"/>
          <p:nvPr/>
        </p:nvSpPr>
        <p:spPr>
          <a:xfrm>
            <a:off x="609904" y="5577840"/>
            <a:ext cx="10515600" cy="274320"/>
          </a:xfrm>
          <a:prstGeom prst="rect">
            <a:avLst/>
          </a:prstGeom>
          <a:noFill/>
        </p:spPr>
        <p:txBody>
          <a:bodyPr wrap="square">
            <a:spAutoFit/>
          </a:bodyPr>
          <a:lstStyle/>
          <a:p>
            <a:r>
              <a:rPr sz="900" b="0" i="1">
                <a:solidFill>
                  <a:srgbClr val="245BAA"/>
                </a:solidFill>
                <a:latin typeface="Arial"/>
              </a:rPr>
              <a:t>Principle: People First &amp; Dignity · Proactive Barrier Prevention</a:t>
            </a:r>
          </a:p>
        </p:txBody>
      </p:sp>
      <p:sp>
        <p:nvSpPr>
          <p:cNvPr id="17" name="Rectangle 16"/>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19" name="Rectangle 18"/>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295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24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52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81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210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438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667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895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1245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Decision Tree Activity</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C  H  O  I  C  E     C     ·     A  C  C  E  P  T  A  B  L  E</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Consequence: C</a:t>
            </a:r>
          </a:p>
        </p:txBody>
      </p:sp>
      <p:sp>
        <p:nvSpPr>
          <p:cNvPr id="9" name="Rectangle 8"/>
          <p:cNvSpPr/>
          <p:nvPr/>
        </p:nvSpPr>
        <p:spPr>
          <a:xfrm>
            <a:off x="609904" y="2286000"/>
            <a:ext cx="54864" cy="731520"/>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4768" y="2286000"/>
            <a:ext cx="10515600" cy="731520"/>
          </a:xfrm>
          <a:prstGeom prst="rect">
            <a:avLst/>
          </a:prstGeom>
          <a:solidFill>
            <a:srgbClr val="EA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504" y="2377440"/>
            <a:ext cx="10058400" cy="548640"/>
          </a:xfrm>
          <a:prstGeom prst="rect">
            <a:avLst/>
          </a:prstGeom>
          <a:noFill/>
        </p:spPr>
        <p:txBody>
          <a:bodyPr wrap="square">
            <a:spAutoFit/>
          </a:bodyPr>
          <a:lstStyle/>
          <a:p>
            <a:r>
              <a:rPr sz="1000" b="1" i="0">
                <a:solidFill>
                  <a:srgbClr val="245BAA"/>
                </a:solidFill>
                <a:latin typeface="Arial Black"/>
              </a:rPr>
              <a:t>Your choice: </a:t>
            </a:r>
            <a:r>
              <a:rPr sz="1000" b="0" i="0">
                <a:solidFill>
                  <a:srgbClr val="111111"/>
                </a:solidFill>
                <a:latin typeface="Arial"/>
              </a:rPr>
              <a:t>Ask another staff member to take over. Hand off to a colleague while you keep the queue moving.</a:t>
            </a:r>
          </a:p>
        </p:txBody>
      </p:sp>
      <p:sp>
        <p:nvSpPr>
          <p:cNvPr id="12" name="TextBox 11"/>
          <p:cNvSpPr txBox="1"/>
          <p:nvPr/>
        </p:nvSpPr>
        <p:spPr>
          <a:xfrm>
            <a:off x="609904" y="3291840"/>
            <a:ext cx="10515600" cy="1371600"/>
          </a:xfrm>
          <a:prstGeom prst="rect">
            <a:avLst/>
          </a:prstGeom>
          <a:noFill/>
        </p:spPr>
        <p:txBody>
          <a:bodyPr wrap="square">
            <a:spAutoFit/>
          </a:bodyPr>
          <a:lstStyle/>
          <a:p>
            <a:r>
              <a:rPr sz="1200" b="1" i="0">
                <a:solidFill>
                  <a:srgbClr val="245BAA"/>
                </a:solidFill>
                <a:latin typeface="Arial Black"/>
              </a:rPr>
              <a:t>Result: </a:t>
            </a:r>
            <a:r>
              <a:rPr sz="1200" b="0" i="0">
                <a:solidFill>
                  <a:srgbClr val="111111"/>
                </a:solidFill>
                <a:latin typeface="Arial"/>
              </a:rPr>
              <a:t>The patient gets help, but you miss the learning opportunity. The barrier is addressed but not reported upstream.</a:t>
            </a:r>
          </a:p>
        </p:txBody>
      </p:sp>
      <p:sp>
        <p:nvSpPr>
          <p:cNvPr id="13" name="Rectangle 12"/>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15" name="Rectangle 14"/>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95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24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52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981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210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438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667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95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124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353191" y="6419088"/>
            <a:ext cx="164592" cy="50292"/>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3095"/>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304495" y="114299"/>
            <a:ext cx="1155040" cy="304495"/>
          </a:xfrm>
          <a:prstGeom prst="rect">
            <a:avLst/>
          </a:prstGeom>
        </p:spPr>
      </p:pic>
      <p:sp>
        <p:nvSpPr>
          <p:cNvPr id="4" name="Rectangle 3"/>
          <p:cNvSpPr/>
          <p:nvPr/>
        </p:nvSpPr>
        <p:spPr>
          <a:xfrm>
            <a:off x="1371600" y="114300"/>
            <a:ext cx="12801" cy="304495"/>
          </a:xfrm>
          <a:prstGeom prst="rect">
            <a:avLst/>
          </a:prstGeom>
          <a:solidFill>
            <a:srgbClr val="4A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720"/>
            <a:ext cx="2286000" cy="533095"/>
          </a:xfrm>
          <a:prstGeom prst="rect">
            <a:avLst/>
          </a:prstGeom>
          <a:noFill/>
        </p:spPr>
        <p:txBody>
          <a:bodyPr wrap="square" anchor="ctr">
            <a:spAutoFit/>
          </a:bodyPr>
          <a:lstStyle/>
          <a:p>
            <a:r>
              <a:rPr sz="1100" b="1" i="0">
                <a:solidFill>
                  <a:srgbClr val="FFFFFF"/>
                </a:solidFill>
                <a:latin typeface="Arial Black"/>
              </a:rPr>
              <a:t>Accessibility First</a:t>
            </a:r>
          </a:p>
        </p:txBody>
      </p:sp>
      <p:sp>
        <p:nvSpPr>
          <p:cNvPr id="6" name="TextBox 5"/>
          <p:cNvSpPr txBox="1"/>
          <p:nvPr/>
        </p:nvSpPr>
        <p:spPr>
          <a:xfrm>
            <a:off x="7772400" y="45720"/>
            <a:ext cx="4114800" cy="533095"/>
          </a:xfrm>
          <a:prstGeom prst="rect">
            <a:avLst/>
          </a:prstGeom>
          <a:noFill/>
        </p:spPr>
        <p:txBody>
          <a:bodyPr wrap="square" anchor="ctr">
            <a:spAutoFit/>
          </a:bodyPr>
          <a:lstStyle/>
          <a:p>
            <a:pPr algn="r"/>
            <a:r>
              <a:rPr sz="900" b="0" i="0">
                <a:solidFill>
                  <a:srgbClr val="AABBDD"/>
                </a:solidFill>
                <a:latin typeface="Arial"/>
              </a:rPr>
              <a:t>Guide 01 · Foundations  &gt;  Series Progress Map</a:t>
            </a:r>
          </a:p>
        </p:txBody>
      </p:sp>
      <p:sp>
        <p:nvSpPr>
          <p:cNvPr id="7" name="TextBox 6"/>
          <p:cNvSpPr txBox="1"/>
          <p:nvPr/>
        </p:nvSpPr>
        <p:spPr>
          <a:xfrm>
            <a:off x="609904" y="685800"/>
            <a:ext cx="9144000" cy="320040"/>
          </a:xfrm>
          <a:prstGeom prst="rect">
            <a:avLst/>
          </a:prstGeom>
          <a:noFill/>
        </p:spPr>
        <p:txBody>
          <a:bodyPr wrap="square">
            <a:spAutoFit/>
          </a:bodyPr>
          <a:lstStyle/>
          <a:p>
            <a:r>
              <a:rPr sz="900" b="1" i="0">
                <a:solidFill>
                  <a:srgbClr val="C0233B"/>
                </a:solidFill>
                <a:latin typeface="Arial Black"/>
              </a:rPr>
              <a:t>S  E  R  I  E  S     P  R  O  G  R  E  S  S     ·     S  T  A  G  E  S     U  N  L  O  C  K     A  S     Y  O  U     C  O  M  P  L  E  T  E</a:t>
            </a:r>
          </a:p>
        </p:txBody>
      </p:sp>
      <p:sp>
        <p:nvSpPr>
          <p:cNvPr id="8" name="TextBox 7"/>
          <p:cNvSpPr txBox="1"/>
          <p:nvPr/>
        </p:nvSpPr>
        <p:spPr>
          <a:xfrm>
            <a:off x="609904" y="1005840"/>
            <a:ext cx="10058400" cy="640080"/>
          </a:xfrm>
          <a:prstGeom prst="rect">
            <a:avLst/>
          </a:prstGeom>
          <a:noFill/>
        </p:spPr>
        <p:txBody>
          <a:bodyPr wrap="square">
            <a:spAutoFit/>
          </a:bodyPr>
          <a:lstStyle/>
          <a:p>
            <a:r>
              <a:rPr sz="3600" b="1" i="0">
                <a:solidFill>
                  <a:srgbClr val="192858"/>
                </a:solidFill>
                <a:latin typeface="Arial Black"/>
              </a:rPr>
              <a:t>Accessibility First · A three-stage journey</a:t>
            </a:r>
          </a:p>
        </p:txBody>
      </p:sp>
      <p:sp>
        <p:nvSpPr>
          <p:cNvPr id="9" name="TextBox 8"/>
          <p:cNvSpPr txBox="1"/>
          <p:nvPr/>
        </p:nvSpPr>
        <p:spPr>
          <a:xfrm>
            <a:off x="609904" y="1645920"/>
            <a:ext cx="9144000" cy="548640"/>
          </a:xfrm>
          <a:prstGeom prst="rect">
            <a:avLst/>
          </a:prstGeom>
          <a:noFill/>
        </p:spPr>
        <p:txBody>
          <a:bodyPr wrap="square">
            <a:spAutoFit/>
          </a:bodyPr>
          <a:lstStyle/>
          <a:p>
            <a:r>
              <a:rPr sz="1500" b="0" i="0">
                <a:solidFill>
                  <a:srgbClr val="5A5A5A"/>
                </a:solidFill>
                <a:latin typeface="Arial"/>
              </a:rPr>
              <a:t>Guides unlock by stage. Foundations open everything else.</a:t>
            </a:r>
          </a:p>
        </p:txBody>
      </p:sp>
      <p:sp>
        <p:nvSpPr>
          <p:cNvPr id="10" name="Rectangle 9"/>
          <p:cNvSpPr/>
          <p:nvPr/>
        </p:nvSpPr>
        <p:spPr>
          <a:xfrm>
            <a:off x="609904" y="2743200"/>
            <a:ext cx="10972800" cy="365760"/>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7064" y="2788920"/>
            <a:ext cx="3657600" cy="274320"/>
          </a:xfrm>
          <a:prstGeom prst="rect">
            <a:avLst/>
          </a:prstGeom>
          <a:noFill/>
        </p:spPr>
        <p:txBody>
          <a:bodyPr wrap="square">
            <a:spAutoFit/>
          </a:bodyPr>
          <a:lstStyle/>
          <a:p>
            <a:r>
              <a:rPr sz="1100" b="1" i="0">
                <a:solidFill>
                  <a:srgbClr val="FFFFFF"/>
                </a:solidFill>
                <a:latin typeface="Arial Black"/>
              </a:rPr>
              <a:t>Stage 1: Foundations</a:t>
            </a:r>
          </a:p>
        </p:txBody>
      </p:sp>
      <p:sp>
        <p:nvSpPr>
          <p:cNvPr id="12" name="TextBox 11"/>
          <p:cNvSpPr txBox="1"/>
          <p:nvPr/>
        </p:nvSpPr>
        <p:spPr>
          <a:xfrm>
            <a:off x="4572000" y="2788920"/>
            <a:ext cx="6400800" cy="274320"/>
          </a:xfrm>
          <a:prstGeom prst="rect">
            <a:avLst/>
          </a:prstGeom>
          <a:noFill/>
        </p:spPr>
        <p:txBody>
          <a:bodyPr wrap="square">
            <a:spAutoFit/>
          </a:bodyPr>
          <a:lstStyle/>
          <a:p>
            <a:r>
              <a:rPr sz="900" b="0" i="0">
                <a:solidFill>
                  <a:srgbClr val="FFFFFF"/>
                </a:solidFill>
                <a:latin typeface="Arial"/>
              </a:rPr>
              <a:t>Guides 01–04 · Required first</a:t>
            </a:r>
          </a:p>
        </p:txBody>
      </p:sp>
      <p:sp>
        <p:nvSpPr>
          <p:cNvPr id="13" name="TextBox 12"/>
          <p:cNvSpPr txBox="1"/>
          <p:nvPr/>
        </p:nvSpPr>
        <p:spPr>
          <a:xfrm>
            <a:off x="884224" y="3154680"/>
            <a:ext cx="10515600" cy="228600"/>
          </a:xfrm>
          <a:prstGeom prst="rect">
            <a:avLst/>
          </a:prstGeom>
          <a:noFill/>
        </p:spPr>
        <p:txBody>
          <a:bodyPr wrap="square">
            <a:spAutoFit/>
          </a:bodyPr>
          <a:lstStyle/>
          <a:p>
            <a:r>
              <a:rPr sz="900" b="1" i="0">
                <a:solidFill>
                  <a:srgbClr val="C0233B"/>
                </a:solidFill>
                <a:latin typeface="Arial Black"/>
              </a:rPr>
              <a:t>01  </a:t>
            </a:r>
            <a:r>
              <a:rPr sz="900" b="0" i="0">
                <a:solidFill>
                  <a:srgbClr val="111111"/>
                </a:solidFill>
                <a:latin typeface="Arial"/>
              </a:rPr>
              <a:t>Foundations</a:t>
            </a:r>
            <a:r>
              <a:rPr sz="800" b="0" i="0">
                <a:solidFill>
                  <a:srgbClr val="74AE54"/>
                </a:solidFill>
                <a:latin typeface="Arial"/>
              </a:rPr>
              <a:t>  • Complete</a:t>
            </a:r>
          </a:p>
        </p:txBody>
      </p:sp>
      <p:sp>
        <p:nvSpPr>
          <p:cNvPr id="14" name="TextBox 13"/>
          <p:cNvSpPr txBox="1"/>
          <p:nvPr/>
        </p:nvSpPr>
        <p:spPr>
          <a:xfrm>
            <a:off x="884224" y="3383280"/>
            <a:ext cx="10515600" cy="228600"/>
          </a:xfrm>
          <a:prstGeom prst="rect">
            <a:avLst/>
          </a:prstGeom>
          <a:noFill/>
        </p:spPr>
        <p:txBody>
          <a:bodyPr wrap="square">
            <a:spAutoFit/>
          </a:bodyPr>
          <a:lstStyle/>
          <a:p>
            <a:r>
              <a:rPr sz="900" b="1" i="0">
                <a:solidFill>
                  <a:srgbClr val="C0233B"/>
                </a:solidFill>
                <a:latin typeface="Arial Black"/>
              </a:rPr>
              <a:t>02  </a:t>
            </a:r>
            <a:r>
              <a:rPr sz="900" b="0" i="0">
                <a:solidFill>
                  <a:srgbClr val="111111"/>
                </a:solidFill>
                <a:latin typeface="Arial"/>
              </a:rPr>
              <a:t>Perceptions &amp; Attitudes</a:t>
            </a:r>
          </a:p>
        </p:txBody>
      </p:sp>
      <p:sp>
        <p:nvSpPr>
          <p:cNvPr id="15" name="TextBox 14"/>
          <p:cNvSpPr txBox="1"/>
          <p:nvPr/>
        </p:nvSpPr>
        <p:spPr>
          <a:xfrm>
            <a:off x="884224" y="3611880"/>
            <a:ext cx="10515600" cy="228600"/>
          </a:xfrm>
          <a:prstGeom prst="rect">
            <a:avLst/>
          </a:prstGeom>
          <a:noFill/>
        </p:spPr>
        <p:txBody>
          <a:bodyPr wrap="square">
            <a:spAutoFit/>
          </a:bodyPr>
          <a:lstStyle/>
          <a:p>
            <a:r>
              <a:rPr sz="900" b="1" i="0">
                <a:solidFill>
                  <a:srgbClr val="C0233B"/>
                </a:solidFill>
                <a:latin typeface="Arial Black"/>
              </a:rPr>
              <a:t>03  </a:t>
            </a:r>
            <a:r>
              <a:rPr sz="900" b="0" i="0">
                <a:solidFill>
                  <a:srgbClr val="111111"/>
                </a:solidFill>
                <a:latin typeface="Arial"/>
              </a:rPr>
              <a:t>Vision Disabilities</a:t>
            </a:r>
          </a:p>
        </p:txBody>
      </p:sp>
      <p:sp>
        <p:nvSpPr>
          <p:cNvPr id="16" name="TextBox 15"/>
          <p:cNvSpPr txBox="1"/>
          <p:nvPr/>
        </p:nvSpPr>
        <p:spPr>
          <a:xfrm>
            <a:off x="884224" y="3840480"/>
            <a:ext cx="10515600" cy="228600"/>
          </a:xfrm>
          <a:prstGeom prst="rect">
            <a:avLst/>
          </a:prstGeom>
          <a:noFill/>
        </p:spPr>
        <p:txBody>
          <a:bodyPr wrap="square">
            <a:spAutoFit/>
          </a:bodyPr>
          <a:lstStyle/>
          <a:p>
            <a:r>
              <a:rPr sz="900" b="1" i="0">
                <a:solidFill>
                  <a:srgbClr val="C0233B"/>
                </a:solidFill>
                <a:latin typeface="Arial Black"/>
              </a:rPr>
              <a:t>04  </a:t>
            </a:r>
            <a:r>
              <a:rPr sz="900" b="0" i="0">
                <a:solidFill>
                  <a:srgbClr val="111111"/>
                </a:solidFill>
                <a:latin typeface="Arial"/>
              </a:rPr>
              <a:t>Hearing &amp; Communication</a:t>
            </a:r>
          </a:p>
        </p:txBody>
      </p:sp>
      <p:sp>
        <p:nvSpPr>
          <p:cNvPr id="17" name="Rectangle 16"/>
          <p:cNvSpPr/>
          <p:nvPr/>
        </p:nvSpPr>
        <p:spPr>
          <a:xfrm>
            <a:off x="609904" y="4206240"/>
            <a:ext cx="10972800" cy="365760"/>
          </a:xfrm>
          <a:prstGeom prst="rect">
            <a:avLst/>
          </a:prstGeom>
          <a:solidFill>
            <a:srgbClr val="24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7064" y="4251960"/>
            <a:ext cx="3657600" cy="274320"/>
          </a:xfrm>
          <a:prstGeom prst="rect">
            <a:avLst/>
          </a:prstGeom>
          <a:noFill/>
        </p:spPr>
        <p:txBody>
          <a:bodyPr wrap="square">
            <a:spAutoFit/>
          </a:bodyPr>
          <a:lstStyle/>
          <a:p>
            <a:r>
              <a:rPr sz="1100" b="1" i="0">
                <a:solidFill>
                  <a:srgbClr val="FFFFFF"/>
                </a:solidFill>
                <a:latin typeface="Arial Black"/>
              </a:rPr>
              <a:t>Stage 2: Understanding</a:t>
            </a:r>
          </a:p>
        </p:txBody>
      </p:sp>
      <p:sp>
        <p:nvSpPr>
          <p:cNvPr id="19" name="TextBox 18"/>
          <p:cNvSpPr txBox="1"/>
          <p:nvPr/>
        </p:nvSpPr>
        <p:spPr>
          <a:xfrm>
            <a:off x="4572000" y="4251960"/>
            <a:ext cx="6400800" cy="274320"/>
          </a:xfrm>
          <a:prstGeom prst="rect">
            <a:avLst/>
          </a:prstGeom>
          <a:noFill/>
        </p:spPr>
        <p:txBody>
          <a:bodyPr wrap="square">
            <a:spAutoFit/>
          </a:bodyPr>
          <a:lstStyle/>
          <a:p>
            <a:r>
              <a:rPr sz="900" b="0" i="0">
                <a:solidFill>
                  <a:srgbClr val="FFFFFF"/>
                </a:solidFill>
                <a:latin typeface="Arial"/>
              </a:rPr>
              <a:t>Guides 05–09 · Builds on Foundations</a:t>
            </a:r>
          </a:p>
        </p:txBody>
      </p:sp>
      <p:sp>
        <p:nvSpPr>
          <p:cNvPr id="20" name="TextBox 19"/>
          <p:cNvSpPr txBox="1"/>
          <p:nvPr/>
        </p:nvSpPr>
        <p:spPr>
          <a:xfrm>
            <a:off x="884224" y="4617720"/>
            <a:ext cx="10515600" cy="228600"/>
          </a:xfrm>
          <a:prstGeom prst="rect">
            <a:avLst/>
          </a:prstGeom>
          <a:noFill/>
        </p:spPr>
        <p:txBody>
          <a:bodyPr wrap="square">
            <a:spAutoFit/>
          </a:bodyPr>
          <a:lstStyle/>
          <a:p>
            <a:r>
              <a:rPr sz="900" b="1" i="0">
                <a:solidFill>
                  <a:srgbClr val="245BAA"/>
                </a:solidFill>
                <a:latin typeface="Arial Black"/>
              </a:rPr>
              <a:t>05  </a:t>
            </a:r>
            <a:r>
              <a:rPr sz="900" b="0" i="0">
                <a:solidFill>
                  <a:srgbClr val="111111"/>
                </a:solidFill>
                <a:latin typeface="Arial"/>
              </a:rPr>
              <a:t>Physical &amp; Mobility</a:t>
            </a:r>
          </a:p>
        </p:txBody>
      </p:sp>
      <p:sp>
        <p:nvSpPr>
          <p:cNvPr id="21" name="TextBox 20"/>
          <p:cNvSpPr txBox="1"/>
          <p:nvPr/>
        </p:nvSpPr>
        <p:spPr>
          <a:xfrm>
            <a:off x="884224" y="4846320"/>
            <a:ext cx="10515600" cy="228600"/>
          </a:xfrm>
          <a:prstGeom prst="rect">
            <a:avLst/>
          </a:prstGeom>
          <a:noFill/>
        </p:spPr>
        <p:txBody>
          <a:bodyPr wrap="square">
            <a:spAutoFit/>
          </a:bodyPr>
          <a:lstStyle/>
          <a:p>
            <a:r>
              <a:rPr sz="900" b="1" i="0">
                <a:solidFill>
                  <a:srgbClr val="245BAA"/>
                </a:solidFill>
                <a:latin typeface="Arial Black"/>
              </a:rPr>
              <a:t>06  </a:t>
            </a:r>
            <a:r>
              <a:rPr sz="900" b="0" i="0">
                <a:solidFill>
                  <a:srgbClr val="111111"/>
                </a:solidFill>
                <a:latin typeface="Arial"/>
              </a:rPr>
              <a:t>Mental Health</a:t>
            </a:r>
          </a:p>
        </p:txBody>
      </p:sp>
      <p:sp>
        <p:nvSpPr>
          <p:cNvPr id="22" name="TextBox 21"/>
          <p:cNvSpPr txBox="1"/>
          <p:nvPr/>
        </p:nvSpPr>
        <p:spPr>
          <a:xfrm>
            <a:off x="884224" y="5074920"/>
            <a:ext cx="10515600" cy="228600"/>
          </a:xfrm>
          <a:prstGeom prst="rect">
            <a:avLst/>
          </a:prstGeom>
          <a:noFill/>
        </p:spPr>
        <p:txBody>
          <a:bodyPr wrap="square">
            <a:spAutoFit/>
          </a:bodyPr>
          <a:lstStyle/>
          <a:p>
            <a:r>
              <a:rPr sz="900" b="1" i="0">
                <a:solidFill>
                  <a:srgbClr val="245BAA"/>
                </a:solidFill>
                <a:latin typeface="Arial Black"/>
              </a:rPr>
              <a:t>07  </a:t>
            </a:r>
            <a:r>
              <a:rPr sz="900" b="0" i="0">
                <a:solidFill>
                  <a:srgbClr val="111111"/>
                </a:solidFill>
                <a:latin typeface="Arial"/>
              </a:rPr>
              <a:t>Intellectual &amp; Dev.</a:t>
            </a:r>
          </a:p>
        </p:txBody>
      </p:sp>
      <p:sp>
        <p:nvSpPr>
          <p:cNvPr id="23" name="TextBox 22"/>
          <p:cNvSpPr txBox="1"/>
          <p:nvPr/>
        </p:nvSpPr>
        <p:spPr>
          <a:xfrm>
            <a:off x="884224" y="5303520"/>
            <a:ext cx="10515600" cy="228600"/>
          </a:xfrm>
          <a:prstGeom prst="rect">
            <a:avLst/>
          </a:prstGeom>
          <a:noFill/>
        </p:spPr>
        <p:txBody>
          <a:bodyPr wrap="square">
            <a:spAutoFit/>
          </a:bodyPr>
          <a:lstStyle/>
          <a:p>
            <a:r>
              <a:rPr sz="900" b="1" i="0">
                <a:solidFill>
                  <a:srgbClr val="245BAA"/>
                </a:solidFill>
                <a:latin typeface="Arial Black"/>
              </a:rPr>
              <a:t>08  </a:t>
            </a:r>
            <a:r>
              <a:rPr sz="900" b="0" i="0">
                <a:solidFill>
                  <a:srgbClr val="111111"/>
                </a:solidFill>
                <a:latin typeface="Arial"/>
              </a:rPr>
              <a:t>Non-Visible</a:t>
            </a:r>
          </a:p>
        </p:txBody>
      </p:sp>
      <p:sp>
        <p:nvSpPr>
          <p:cNvPr id="24" name="Rectangle 23"/>
          <p:cNvSpPr/>
          <p:nvPr/>
        </p:nvSpPr>
        <p:spPr>
          <a:xfrm>
            <a:off x="609904" y="5669280"/>
            <a:ext cx="10972800" cy="365760"/>
          </a:xfrm>
          <a:prstGeom prst="rect">
            <a:avLst/>
          </a:prstGeom>
          <a:solidFill>
            <a:srgbClr val="74A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7064" y="5715000"/>
            <a:ext cx="3657600" cy="274320"/>
          </a:xfrm>
          <a:prstGeom prst="rect">
            <a:avLst/>
          </a:prstGeom>
          <a:noFill/>
        </p:spPr>
        <p:txBody>
          <a:bodyPr wrap="square">
            <a:spAutoFit/>
          </a:bodyPr>
          <a:lstStyle/>
          <a:p>
            <a:r>
              <a:rPr sz="1100" b="1" i="0">
                <a:solidFill>
                  <a:srgbClr val="FFFFFF"/>
                </a:solidFill>
                <a:latin typeface="Arial Black"/>
              </a:rPr>
              <a:t>Stage 3: Applied Practice</a:t>
            </a:r>
          </a:p>
        </p:txBody>
      </p:sp>
      <p:sp>
        <p:nvSpPr>
          <p:cNvPr id="26" name="TextBox 25"/>
          <p:cNvSpPr txBox="1"/>
          <p:nvPr/>
        </p:nvSpPr>
        <p:spPr>
          <a:xfrm>
            <a:off x="4572000" y="5715000"/>
            <a:ext cx="6400800" cy="274320"/>
          </a:xfrm>
          <a:prstGeom prst="rect">
            <a:avLst/>
          </a:prstGeom>
          <a:noFill/>
        </p:spPr>
        <p:txBody>
          <a:bodyPr wrap="square">
            <a:spAutoFit/>
          </a:bodyPr>
          <a:lstStyle/>
          <a:p>
            <a:r>
              <a:rPr sz="900" b="0" i="0">
                <a:solidFill>
                  <a:srgbClr val="FFFFFF"/>
                </a:solidFill>
                <a:latin typeface="Arial"/>
              </a:rPr>
              <a:t>Guides 10–18 · Unlock after Stages 1+2</a:t>
            </a:r>
          </a:p>
        </p:txBody>
      </p:sp>
      <p:sp>
        <p:nvSpPr>
          <p:cNvPr id="27" name="TextBox 26"/>
          <p:cNvSpPr txBox="1"/>
          <p:nvPr/>
        </p:nvSpPr>
        <p:spPr>
          <a:xfrm>
            <a:off x="884224" y="6080760"/>
            <a:ext cx="10515600" cy="228600"/>
          </a:xfrm>
          <a:prstGeom prst="rect">
            <a:avLst/>
          </a:prstGeom>
          <a:noFill/>
        </p:spPr>
        <p:txBody>
          <a:bodyPr wrap="square">
            <a:spAutoFit/>
          </a:bodyPr>
          <a:lstStyle/>
          <a:p>
            <a:r>
              <a:rPr sz="900" b="1" i="0">
                <a:solidFill>
                  <a:srgbClr val="74AE54"/>
                </a:solidFill>
                <a:latin typeface="Arial Black"/>
              </a:rPr>
              <a:t>10  </a:t>
            </a:r>
            <a:r>
              <a:rPr sz="900" b="0" i="0">
                <a:solidFill>
                  <a:srgbClr val="111111"/>
                </a:solidFill>
                <a:latin typeface="Arial"/>
              </a:rPr>
              <a:t>Confidence &amp; Respect</a:t>
            </a:r>
          </a:p>
        </p:txBody>
      </p:sp>
      <p:sp>
        <p:nvSpPr>
          <p:cNvPr id="28" name="TextBox 27"/>
          <p:cNvSpPr txBox="1"/>
          <p:nvPr/>
        </p:nvSpPr>
        <p:spPr>
          <a:xfrm>
            <a:off x="884224" y="6309360"/>
            <a:ext cx="10515600" cy="228600"/>
          </a:xfrm>
          <a:prstGeom prst="rect">
            <a:avLst/>
          </a:prstGeom>
          <a:noFill/>
        </p:spPr>
        <p:txBody>
          <a:bodyPr wrap="square">
            <a:spAutoFit/>
          </a:bodyPr>
          <a:lstStyle/>
          <a:p>
            <a:r>
              <a:rPr sz="900" b="1" i="0">
                <a:solidFill>
                  <a:srgbClr val="74AE54"/>
                </a:solidFill>
                <a:latin typeface="Arial Black"/>
              </a:rPr>
              <a:t>11  </a:t>
            </a:r>
            <a:r>
              <a:rPr sz="900" b="0" i="0">
                <a:solidFill>
                  <a:srgbClr val="111111"/>
                </a:solidFill>
                <a:latin typeface="Arial"/>
              </a:rPr>
              <a:t>Service Animals</a:t>
            </a:r>
          </a:p>
        </p:txBody>
      </p:sp>
      <p:sp>
        <p:nvSpPr>
          <p:cNvPr id="29" name="TextBox 28"/>
          <p:cNvSpPr txBox="1"/>
          <p:nvPr/>
        </p:nvSpPr>
        <p:spPr>
          <a:xfrm>
            <a:off x="884224" y="6537960"/>
            <a:ext cx="10515600" cy="228600"/>
          </a:xfrm>
          <a:prstGeom prst="rect">
            <a:avLst/>
          </a:prstGeom>
          <a:noFill/>
        </p:spPr>
        <p:txBody>
          <a:bodyPr wrap="square">
            <a:spAutoFit/>
          </a:bodyPr>
          <a:lstStyle/>
          <a:p>
            <a:r>
              <a:rPr sz="900" b="1" i="0">
                <a:solidFill>
                  <a:srgbClr val="74AE54"/>
                </a:solidFill>
                <a:latin typeface="Arial Black"/>
              </a:rPr>
              <a:t>12  </a:t>
            </a:r>
            <a:r>
              <a:rPr sz="900" b="0" i="0">
                <a:solidFill>
                  <a:srgbClr val="111111"/>
                </a:solidFill>
                <a:latin typeface="Arial"/>
              </a:rPr>
              <a:t>Support Persons</a:t>
            </a:r>
          </a:p>
        </p:txBody>
      </p:sp>
      <p:sp>
        <p:nvSpPr>
          <p:cNvPr id="30" name="Rectangle 29"/>
          <p:cNvSpPr/>
          <p:nvPr/>
        </p:nvSpPr>
        <p:spPr>
          <a:xfrm>
            <a:off x="609904" y="6428232"/>
            <a:ext cx="75895" cy="75895"/>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8952" y="6355080"/>
            <a:ext cx="2286000" cy="320040"/>
          </a:xfrm>
          <a:prstGeom prst="rect">
            <a:avLst/>
          </a:prstGeom>
          <a:noFill/>
        </p:spPr>
        <p:txBody>
          <a:bodyPr wrap="square" anchor="ctr">
            <a:spAutoFit/>
          </a:bodyPr>
          <a:lstStyle/>
          <a:p>
            <a:r>
              <a:rPr sz="700" b="1" i="0">
                <a:solidFill>
                  <a:srgbClr val="192858"/>
                </a:solidFill>
                <a:latin typeface="Arial Black"/>
              </a:rPr>
              <a:t>ACCESSIBILITY FIRST</a:t>
            </a:r>
          </a:p>
        </p:txBody>
      </p:sp>
      <p:sp>
        <p:nvSpPr>
          <p:cNvPr id="32" name="Rectangle 31"/>
          <p:cNvSpPr/>
          <p:nvPr/>
        </p:nvSpPr>
        <p:spPr>
          <a:xfrm>
            <a:off x="6781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09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238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466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95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924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152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81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609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838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067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295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524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752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981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2101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4387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6673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8959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1124591" y="6419088"/>
            <a:ext cx="164592" cy="50292"/>
          </a:xfrm>
          <a:prstGeom prst="rect">
            <a:avLst/>
          </a:prstGeom>
          <a:solidFill>
            <a:srgbClr val="192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1353191" y="6419088"/>
            <a:ext cx="164592" cy="50292"/>
          </a:xfrm>
          <a:prstGeom prst="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92858"/>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48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hn_logo.png"/>
          <p:cNvPicPr>
            <a:picLocks noChangeAspect="1"/>
          </p:cNvPicPr>
          <p:nvPr/>
        </p:nvPicPr>
        <p:blipFill>
          <a:blip r:embed="rId2"/>
          <a:stretch>
            <a:fillRect/>
          </a:stretch>
        </p:blipFill>
        <p:spPr>
          <a:xfrm>
            <a:off x="609904" y="457200"/>
            <a:ext cx="1734295" cy="457200"/>
          </a:xfrm>
          <a:prstGeom prst="rect">
            <a:avLst/>
          </a:prstGeom>
        </p:spPr>
      </p:pic>
      <p:sp>
        <p:nvSpPr>
          <p:cNvPr id="4" name="TextBox 3"/>
          <p:cNvSpPr txBox="1"/>
          <p:nvPr/>
        </p:nvSpPr>
        <p:spPr>
          <a:xfrm>
            <a:off x="609904" y="1371600"/>
            <a:ext cx="10972800" cy="914400"/>
          </a:xfrm>
          <a:prstGeom prst="rect">
            <a:avLst/>
          </a:prstGeom>
          <a:noFill/>
        </p:spPr>
        <p:txBody>
          <a:bodyPr wrap="square">
            <a:spAutoFit/>
          </a:bodyPr>
          <a:lstStyle/>
          <a:p>
            <a:pPr algn="ctr"/>
            <a:r>
              <a:rPr sz="4000" b="1" i="0">
                <a:solidFill>
                  <a:srgbClr val="FFFFFF"/>
                </a:solidFill>
                <a:latin typeface="Arial Black"/>
              </a:rPr>
              <a:t>Guide 01 Complete</a:t>
            </a:r>
          </a:p>
        </p:txBody>
      </p:sp>
      <p:sp>
        <p:nvSpPr>
          <p:cNvPr id="5" name="TextBox 4"/>
          <p:cNvSpPr txBox="1"/>
          <p:nvPr/>
        </p:nvSpPr>
        <p:spPr>
          <a:xfrm>
            <a:off x="609904" y="2377440"/>
            <a:ext cx="10972800" cy="457200"/>
          </a:xfrm>
          <a:prstGeom prst="rect">
            <a:avLst/>
          </a:prstGeom>
          <a:noFill/>
        </p:spPr>
        <p:txBody>
          <a:bodyPr wrap="square">
            <a:spAutoFit/>
          </a:bodyPr>
          <a:lstStyle/>
          <a:p>
            <a:pPr algn="ctr"/>
            <a:r>
              <a:rPr sz="1800" b="0" i="0">
                <a:solidFill>
                  <a:srgbClr val="C48ABD"/>
                </a:solidFill>
                <a:latin typeface="Arial"/>
              </a:rPr>
              <a:t>Foundations</a:t>
            </a:r>
          </a:p>
        </p:txBody>
      </p:sp>
      <p:sp>
        <p:nvSpPr>
          <p:cNvPr id="6" name="TextBox 5"/>
          <p:cNvSpPr txBox="1"/>
          <p:nvPr/>
        </p:nvSpPr>
        <p:spPr>
          <a:xfrm>
            <a:off x="2743200" y="3200400"/>
            <a:ext cx="6705295" cy="365760"/>
          </a:xfrm>
          <a:prstGeom prst="rect">
            <a:avLst/>
          </a:prstGeom>
          <a:noFill/>
        </p:spPr>
        <p:txBody>
          <a:bodyPr wrap="square">
            <a:spAutoFit/>
          </a:bodyPr>
          <a:lstStyle/>
          <a:p>
            <a:pPr algn="ctr"/>
            <a:r>
              <a:rPr sz="1000" b="1" i="0">
                <a:solidFill>
                  <a:srgbClr val="C48ABD"/>
                </a:solidFill>
                <a:latin typeface="Arial Black"/>
              </a:rPr>
              <a:t>RESOURCES</a:t>
            </a:r>
          </a:p>
        </p:txBody>
      </p:sp>
      <p:sp>
        <p:nvSpPr>
          <p:cNvPr id="7" name="TextBox 6"/>
          <p:cNvSpPr txBox="1"/>
          <p:nvPr/>
        </p:nvSpPr>
        <p:spPr>
          <a:xfrm>
            <a:off x="1828800" y="3657600"/>
            <a:ext cx="8534095" cy="320040"/>
          </a:xfrm>
          <a:prstGeom prst="rect">
            <a:avLst/>
          </a:prstGeom>
          <a:noFill/>
        </p:spPr>
        <p:txBody>
          <a:bodyPr wrap="square">
            <a:spAutoFit/>
          </a:bodyPr>
          <a:lstStyle/>
          <a:p>
            <a:pPr algn="ctr"/>
            <a:r>
              <a:rPr sz="1100" b="0" i="0">
                <a:solidFill>
                  <a:srgbClr val="CCCCDD"/>
                </a:solidFill>
                <a:latin typeface="Arial"/>
              </a:rPr>
              <a:t>AODA: ontario.ca/laws/statute/05a11</a:t>
            </a:r>
          </a:p>
        </p:txBody>
      </p:sp>
      <p:sp>
        <p:nvSpPr>
          <p:cNvPr id="8" name="TextBox 7"/>
          <p:cNvSpPr txBox="1"/>
          <p:nvPr/>
        </p:nvSpPr>
        <p:spPr>
          <a:xfrm>
            <a:off x="1828800" y="3977640"/>
            <a:ext cx="8534095" cy="320040"/>
          </a:xfrm>
          <a:prstGeom prst="rect">
            <a:avLst/>
          </a:prstGeom>
          <a:noFill/>
        </p:spPr>
        <p:txBody>
          <a:bodyPr wrap="square">
            <a:spAutoFit/>
          </a:bodyPr>
          <a:lstStyle/>
          <a:p>
            <a:pPr algn="ctr"/>
            <a:r>
              <a:rPr sz="1100" b="0" i="0">
                <a:solidFill>
                  <a:srgbClr val="CCCCDD"/>
                </a:solidFill>
                <a:latin typeface="Arial"/>
              </a:rPr>
              <a:t>OHRC: ohrc.on.ca</a:t>
            </a:r>
          </a:p>
        </p:txBody>
      </p:sp>
      <p:sp>
        <p:nvSpPr>
          <p:cNvPr id="9" name="TextBox 8"/>
          <p:cNvSpPr txBox="1"/>
          <p:nvPr/>
        </p:nvSpPr>
        <p:spPr>
          <a:xfrm>
            <a:off x="1828800" y="4297680"/>
            <a:ext cx="8534095" cy="320040"/>
          </a:xfrm>
          <a:prstGeom prst="rect">
            <a:avLst/>
          </a:prstGeom>
          <a:noFill/>
        </p:spPr>
        <p:txBody>
          <a:bodyPr wrap="square">
            <a:spAutoFit/>
          </a:bodyPr>
          <a:lstStyle/>
          <a:p>
            <a:pPr algn="ctr"/>
            <a:r>
              <a:rPr sz="1100" b="0" i="0">
                <a:solidFill>
                  <a:srgbClr val="CCCCDD"/>
                </a:solidFill>
                <a:latin typeface="Arial"/>
              </a:rPr>
              <a:t>UHN Accessibility Policy: [internal link]</a:t>
            </a:r>
          </a:p>
        </p:txBody>
      </p:sp>
      <p:sp>
        <p:nvSpPr>
          <p:cNvPr id="10" name="TextBox 9"/>
          <p:cNvSpPr txBox="1"/>
          <p:nvPr/>
        </p:nvSpPr>
        <p:spPr>
          <a:xfrm>
            <a:off x="1828800" y="4617720"/>
            <a:ext cx="8534095" cy="320040"/>
          </a:xfrm>
          <a:prstGeom prst="rect">
            <a:avLst/>
          </a:prstGeom>
          <a:noFill/>
        </p:spPr>
        <p:txBody>
          <a:bodyPr wrap="square">
            <a:spAutoFit/>
          </a:bodyPr>
          <a:lstStyle/>
          <a:p>
            <a:pPr algn="ctr"/>
            <a:r>
              <a:rPr sz="1100" b="0" i="0">
                <a:solidFill>
                  <a:srgbClr val="CCCCDD"/>
                </a:solidFill>
                <a:latin typeface="Arial"/>
              </a:rPr>
              <a:t>UHN IDEAA Office: [internal contact]</a:t>
            </a:r>
          </a:p>
        </p:txBody>
      </p:sp>
      <p:sp>
        <p:nvSpPr>
          <p:cNvPr id="11" name="Rounded Rectangle 10"/>
          <p:cNvSpPr/>
          <p:nvPr/>
        </p:nvSpPr>
        <p:spPr>
          <a:xfrm>
            <a:off x="4876495" y="5486400"/>
            <a:ext cx="2438704" cy="502920"/>
          </a:xfrm>
          <a:prstGeom prst="roundRect">
            <a:avLst/>
          </a:prstGeom>
          <a:solidFill>
            <a:srgbClr val="C0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76495" y="5486400"/>
            <a:ext cx="2438704" cy="502920"/>
          </a:xfrm>
          <a:prstGeom prst="rect">
            <a:avLst/>
          </a:prstGeom>
          <a:noFill/>
        </p:spPr>
        <p:txBody>
          <a:bodyPr wrap="square" anchor="ctr">
            <a:spAutoFit/>
          </a:bodyPr>
          <a:lstStyle/>
          <a:p>
            <a:pPr algn="ctr"/>
            <a:r>
              <a:rPr sz="1200" b="1" i="0">
                <a:solidFill>
                  <a:srgbClr val="FFFFFF"/>
                </a:solidFill>
                <a:latin typeface="Arial Black"/>
              </a:rPr>
              <a:t>NEXT GUIDE</a:t>
            </a:r>
          </a:p>
        </p:txBody>
      </p:sp>
      <p:sp>
        <p:nvSpPr>
          <p:cNvPr id="13" name="Rectangle 12"/>
          <p:cNvSpPr/>
          <p:nvPr/>
        </p:nvSpPr>
        <p:spPr>
          <a:xfrm>
            <a:off x="0" y="6629400"/>
            <a:ext cx="12191695" cy="45720"/>
          </a:xfrm>
          <a:prstGeom prst="rect">
            <a:avLst/>
          </a:prstGeom>
          <a:solidFill>
            <a:srgbClr val="C48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